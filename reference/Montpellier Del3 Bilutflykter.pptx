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640080" y="1005840"/>
            <a:ext cx="10972800" cy="548640"/>
          </a:xfrm>
          <a:prstGeom prst="rect">
            <a:avLst/>
          </a:prstGeom>
          <a:noFill/>
          <a:ln/>
        </p:spPr>
        <p:txBody>
          <a:bodyPr wrap="square" lIns="0" tIns="0" rIns="0" bIns="0" rtlCol="0" anchor="ctr"/>
          <a:lstStyle/>
          <a:p>
            <a:pPr indent="0" marL="0">
              <a:buNone/>
            </a:pPr>
            <a:r>
              <a:rPr lang="en-US" sz="2200" i="1" spc="600" kern="0" dirty="0">
                <a:solidFill>
                  <a:srgbClr val="FBF7F0"/>
                </a:solidFill>
                <a:latin typeface="Georgia" pitchFamily="34" charset="0"/>
                <a:ea typeface="Georgia" pitchFamily="34" charset="-122"/>
                <a:cs typeface="Georgia" pitchFamily="34" charset="-120"/>
              </a:rPr>
              <a:t>Del 3</a:t>
            </a:r>
            <a:endParaRPr lang="en-US" sz="2200" dirty="0"/>
          </a:p>
        </p:txBody>
      </p:sp>
      <p:sp>
        <p:nvSpPr>
          <p:cNvPr id="3" name="Text 1"/>
          <p:cNvSpPr/>
          <p:nvPr/>
        </p:nvSpPr>
        <p:spPr>
          <a:xfrm>
            <a:off x="640080" y="1554480"/>
            <a:ext cx="10972800" cy="1371600"/>
          </a:xfrm>
          <a:prstGeom prst="rect">
            <a:avLst/>
          </a:prstGeom>
          <a:noFill/>
          <a:ln/>
        </p:spPr>
        <p:txBody>
          <a:bodyPr wrap="square" lIns="0" tIns="0" rIns="0" bIns="0"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Bilutflykter</a:t>
            </a:r>
            <a:endParaRPr lang="en-US" sz="8800" dirty="0"/>
          </a:p>
        </p:txBody>
      </p:sp>
      <p:sp>
        <p:nvSpPr>
          <p:cNvPr id="4" name="Text 2"/>
          <p:cNvSpPr/>
          <p:nvPr/>
        </p:nvSpPr>
        <p:spPr>
          <a:xfrm>
            <a:off x="685800" y="3108960"/>
            <a:ext cx="10972800" cy="640080"/>
          </a:xfrm>
          <a:prstGeom prst="rect">
            <a:avLst/>
          </a:prstGeom>
          <a:noFill/>
          <a:ln/>
        </p:spPr>
        <p:txBody>
          <a:bodyPr wrap="square" lIns="0" tIns="0" rIns="0" bIns="0" rtlCol="0" anchor="ctr"/>
          <a:lstStyle/>
          <a:p>
            <a:pPr indent="0" marL="0">
              <a:buNone/>
            </a:pPr>
            <a:r>
              <a:rPr lang="en-US" sz="2800" i="1" dirty="0">
                <a:solidFill>
                  <a:srgbClr val="E8DFD0"/>
                </a:solidFill>
                <a:latin typeface="Georgia" pitchFamily="34" charset="0"/>
                <a:ea typeface="Georgia" pitchFamily="34" charset="-122"/>
                <a:cs typeface="Georgia" pitchFamily="34" charset="-120"/>
              </a:rPr>
              <a:t>Andreas, Elin, Elton plus 2 i bilen</a:t>
            </a:r>
            <a:endParaRPr lang="en-US" sz="2800" dirty="0"/>
          </a:p>
        </p:txBody>
      </p:sp>
      <p:sp>
        <p:nvSpPr>
          <p:cNvPr id="5" name="Shape 3"/>
          <p:cNvSpPr/>
          <p:nvPr/>
        </p:nvSpPr>
        <p:spPr>
          <a:xfrm>
            <a:off x="640080" y="4206240"/>
            <a:ext cx="5029200" cy="45720"/>
          </a:xfrm>
          <a:prstGeom prst="rect">
            <a:avLst/>
          </a:prstGeom>
          <a:solidFill>
            <a:srgbClr val="FFFFFF"/>
          </a:solidFill>
          <a:ln w="12700">
            <a:solidFill>
              <a:srgbClr val="FFFFFF"/>
            </a:solidFill>
            <a:prstDash val="solid"/>
          </a:ln>
        </p:spPr>
      </p:sp>
      <p:sp>
        <p:nvSpPr>
          <p:cNvPr id="6" name="Text 4"/>
          <p:cNvSpPr/>
          <p:nvPr/>
        </p:nvSpPr>
        <p:spPr>
          <a:xfrm>
            <a:off x="640080" y="4389120"/>
            <a:ext cx="8229600" cy="1828800"/>
          </a:xfrm>
          <a:prstGeom prst="rect">
            <a:avLst/>
          </a:prstGeom>
          <a:noFill/>
          <a:ln/>
        </p:spPr>
        <p:txBody>
          <a:bodyPr wrap="square" lIns="0" tIns="0" rIns="0" bIns="0" rtlCol="0" anchor="ctr"/>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10 förslag, blandning för alla åldrar</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De flesta inom 1 timme enkel resa</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Några längre, max 1.5 timme</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Och en på 1.5 timme som verkligen är värt resan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548640"/>
            <a:ext cx="10972800" cy="822960"/>
          </a:xfrm>
          <a:prstGeom prst="rect">
            <a:avLst/>
          </a:prstGeom>
          <a:noFill/>
          <a:ln/>
        </p:spPr>
        <p:txBody>
          <a:bodyPr wrap="square" lIns="0" tIns="0" rIns="0" bIns="0" rtlCol="0" anchor="ctr"/>
          <a:lstStyle/>
          <a:p>
            <a:pPr indent="0" marL="0">
              <a:buNone/>
            </a:pPr>
            <a:r>
              <a:rPr lang="en-US" sz="3800" b="1" dirty="0">
                <a:solidFill>
                  <a:srgbClr val="1A2E3B"/>
                </a:solidFill>
                <a:latin typeface="Georgia" pitchFamily="34" charset="0"/>
                <a:ea typeface="Georgia" pitchFamily="34" charset="-122"/>
                <a:cs typeface="Georgia" pitchFamily="34" charset="-120"/>
              </a:rPr>
              <a:t>Översikt efter restid</a:t>
            </a:r>
            <a:endParaRPr lang="en-US" sz="3800" dirty="0"/>
          </a:p>
        </p:txBody>
      </p:sp>
      <p:sp>
        <p:nvSpPr>
          <p:cNvPr id="3" name="Text 1"/>
          <p:cNvSpPr/>
          <p:nvPr/>
        </p:nvSpPr>
        <p:spPr>
          <a:xfrm>
            <a:off x="640080" y="1371600"/>
            <a:ext cx="10972800" cy="457200"/>
          </a:xfrm>
          <a:prstGeom prst="rect">
            <a:avLst/>
          </a:prstGeom>
          <a:noFill/>
          <a:ln/>
        </p:spPr>
        <p:txBody>
          <a:bodyPr wrap="square" lIns="0" tIns="0" rIns="0" bIns="0" rtlCol="0" anchor="ctr"/>
          <a:lstStyle/>
          <a:p>
            <a:pPr indent="0" marL="0">
              <a:buNone/>
            </a:pPr>
            <a:r>
              <a:rPr lang="en-US" sz="1400" i="1" dirty="0">
                <a:solidFill>
                  <a:srgbClr val="5C6B73"/>
                </a:solidFill>
                <a:latin typeface="Calibri" pitchFamily="34" charset="0"/>
                <a:ea typeface="Calibri" pitchFamily="34" charset="-122"/>
                <a:cs typeface="Calibri" pitchFamily="34" charset="-120"/>
              </a:rPr>
              <a:t>Sortera efter hur lång bilresa ni är beredda på den dagen.</a:t>
            </a:r>
            <a:endParaRPr lang="en-US" sz="1400" dirty="0"/>
          </a:p>
        </p:txBody>
      </p:sp>
      <p:sp>
        <p:nvSpPr>
          <p:cNvPr id="4" name="Shape 2"/>
          <p:cNvSpPr/>
          <p:nvPr/>
        </p:nvSpPr>
        <p:spPr>
          <a:xfrm>
            <a:off x="640080" y="2011680"/>
            <a:ext cx="137160" cy="365760"/>
          </a:xfrm>
          <a:prstGeom prst="rect">
            <a:avLst/>
          </a:prstGeom>
          <a:solidFill>
            <a:srgbClr val="7A9471"/>
          </a:solidFill>
          <a:ln w="12700">
            <a:solidFill>
              <a:srgbClr val="7A9471"/>
            </a:solidFill>
            <a:prstDash val="solid"/>
          </a:ln>
        </p:spPr>
      </p:sp>
      <p:sp>
        <p:nvSpPr>
          <p:cNvPr id="5" name="Text 3"/>
          <p:cNvSpPr/>
          <p:nvPr/>
        </p:nvSpPr>
        <p:spPr>
          <a:xfrm>
            <a:off x="868680" y="2011680"/>
            <a:ext cx="4572000" cy="365760"/>
          </a:xfrm>
          <a:prstGeom prst="rect">
            <a:avLst/>
          </a:prstGeom>
          <a:noFill/>
          <a:ln/>
        </p:spPr>
        <p:txBody>
          <a:bodyPr wrap="square" lIns="0" tIns="0" rIns="0" bIns="0" rtlCol="0" anchor="ctr"/>
          <a:lstStyle/>
          <a:p>
            <a:pPr indent="0" marL="0">
              <a:buNone/>
            </a:pPr>
            <a:r>
              <a:rPr lang="en-US" sz="1600" b="1" dirty="0">
                <a:solidFill>
                  <a:srgbClr val="7A9471"/>
                </a:solidFill>
                <a:latin typeface="Georgia" pitchFamily="34" charset="0"/>
                <a:ea typeface="Georgia" pitchFamily="34" charset="-122"/>
                <a:cs typeface="Georgia" pitchFamily="34" charset="-120"/>
              </a:rPr>
              <a:t>Under 1 timme</a:t>
            </a:r>
            <a:endParaRPr lang="en-US" sz="1600" dirty="0"/>
          </a:p>
        </p:txBody>
      </p:sp>
      <p:sp>
        <p:nvSpPr>
          <p:cNvPr id="6" name="Text 4"/>
          <p:cNvSpPr/>
          <p:nvPr/>
        </p:nvSpPr>
        <p:spPr>
          <a:xfrm>
            <a:off x="868680" y="2468880"/>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Saint-Guilhem-le-Désert</a:t>
            </a:r>
            <a:endParaRPr lang="en-US" sz="1200" dirty="0"/>
          </a:p>
        </p:txBody>
      </p:sp>
      <p:sp>
        <p:nvSpPr>
          <p:cNvPr id="7" name="Text 5"/>
          <p:cNvSpPr/>
          <p:nvPr/>
        </p:nvSpPr>
        <p:spPr>
          <a:xfrm>
            <a:off x="5029200" y="2468880"/>
            <a:ext cx="1371600" cy="274320"/>
          </a:xfrm>
          <a:prstGeom prst="rect">
            <a:avLst/>
          </a:prstGeom>
          <a:noFill/>
          <a:ln/>
        </p:spPr>
        <p:txBody>
          <a:bodyPr wrap="square" lIns="0" tIns="0" rIns="0" bIns="0" rtlCol="0" anchor="ctr"/>
          <a:lstStyle/>
          <a:p>
            <a:pPr indent="0" marL="0">
              <a:buNone/>
            </a:pPr>
            <a:r>
              <a:rPr lang="en-US" sz="1100" dirty="0">
                <a:solidFill>
                  <a:srgbClr val="7A9471"/>
                </a:solidFill>
                <a:latin typeface="Calibri" pitchFamily="34" charset="0"/>
                <a:ea typeface="Calibri" pitchFamily="34" charset="-122"/>
                <a:cs typeface="Calibri" pitchFamily="34" charset="-120"/>
              </a:rPr>
              <a:t>40 min</a:t>
            </a:r>
            <a:endParaRPr lang="en-US" sz="1100" dirty="0"/>
          </a:p>
        </p:txBody>
      </p:sp>
      <p:sp>
        <p:nvSpPr>
          <p:cNvPr id="8" name="Text 6"/>
          <p:cNvSpPr/>
          <p:nvPr/>
        </p:nvSpPr>
        <p:spPr>
          <a:xfrm>
            <a:off x="6400800" y="2468880"/>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UNESCO-by, bad i Hérault</a:t>
            </a:r>
            <a:endParaRPr lang="en-US" sz="1100" dirty="0"/>
          </a:p>
        </p:txBody>
      </p:sp>
      <p:sp>
        <p:nvSpPr>
          <p:cNvPr id="9" name="Text 7"/>
          <p:cNvSpPr/>
          <p:nvPr/>
        </p:nvSpPr>
        <p:spPr>
          <a:xfrm>
            <a:off x="868680" y="2761488"/>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Cap d'Agde</a:t>
            </a:r>
            <a:endParaRPr lang="en-US" sz="1200" dirty="0"/>
          </a:p>
        </p:txBody>
      </p:sp>
      <p:sp>
        <p:nvSpPr>
          <p:cNvPr id="10" name="Text 8"/>
          <p:cNvSpPr/>
          <p:nvPr/>
        </p:nvSpPr>
        <p:spPr>
          <a:xfrm>
            <a:off x="5029200" y="2761488"/>
            <a:ext cx="1371600" cy="274320"/>
          </a:xfrm>
          <a:prstGeom prst="rect">
            <a:avLst/>
          </a:prstGeom>
          <a:noFill/>
          <a:ln/>
        </p:spPr>
        <p:txBody>
          <a:bodyPr wrap="square" lIns="0" tIns="0" rIns="0" bIns="0" rtlCol="0" anchor="ctr"/>
          <a:lstStyle/>
          <a:p>
            <a:pPr indent="0" marL="0">
              <a:buNone/>
            </a:pPr>
            <a:r>
              <a:rPr lang="en-US" sz="1100" dirty="0">
                <a:solidFill>
                  <a:srgbClr val="7A9471"/>
                </a:solidFill>
                <a:latin typeface="Calibri" pitchFamily="34" charset="0"/>
                <a:ea typeface="Calibri" pitchFamily="34" charset="-122"/>
                <a:cs typeface="Calibri" pitchFamily="34" charset="-120"/>
              </a:rPr>
              <a:t>45 min</a:t>
            </a:r>
            <a:endParaRPr lang="en-US" sz="1100" dirty="0"/>
          </a:p>
        </p:txBody>
      </p:sp>
      <p:sp>
        <p:nvSpPr>
          <p:cNvPr id="11" name="Text 9"/>
          <p:cNvSpPr/>
          <p:nvPr/>
        </p:nvSpPr>
        <p:spPr>
          <a:xfrm>
            <a:off x="6400800" y="2761488"/>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Strand och Aqualand</a:t>
            </a:r>
            <a:endParaRPr lang="en-US" sz="1100" dirty="0"/>
          </a:p>
        </p:txBody>
      </p:sp>
      <p:sp>
        <p:nvSpPr>
          <p:cNvPr id="12" name="Text 10"/>
          <p:cNvSpPr/>
          <p:nvPr/>
        </p:nvSpPr>
        <p:spPr>
          <a:xfrm>
            <a:off x="868680" y="3054096"/>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Lac du Salagou</a:t>
            </a:r>
            <a:endParaRPr lang="en-US" sz="1200" dirty="0"/>
          </a:p>
        </p:txBody>
      </p:sp>
      <p:sp>
        <p:nvSpPr>
          <p:cNvPr id="13" name="Text 11"/>
          <p:cNvSpPr/>
          <p:nvPr/>
        </p:nvSpPr>
        <p:spPr>
          <a:xfrm>
            <a:off x="5029200" y="3054096"/>
            <a:ext cx="1371600" cy="274320"/>
          </a:xfrm>
          <a:prstGeom prst="rect">
            <a:avLst/>
          </a:prstGeom>
          <a:noFill/>
          <a:ln/>
        </p:spPr>
        <p:txBody>
          <a:bodyPr wrap="square" lIns="0" tIns="0" rIns="0" bIns="0" rtlCol="0" anchor="ctr"/>
          <a:lstStyle/>
          <a:p>
            <a:pPr indent="0" marL="0">
              <a:buNone/>
            </a:pPr>
            <a:r>
              <a:rPr lang="en-US" sz="1100" dirty="0">
                <a:solidFill>
                  <a:srgbClr val="7A9471"/>
                </a:solidFill>
                <a:latin typeface="Calibri" pitchFamily="34" charset="0"/>
                <a:ea typeface="Calibri" pitchFamily="34" charset="-122"/>
                <a:cs typeface="Calibri" pitchFamily="34" charset="-120"/>
              </a:rPr>
              <a:t>55 min</a:t>
            </a:r>
            <a:endParaRPr lang="en-US" sz="1100" dirty="0"/>
          </a:p>
        </p:txBody>
      </p:sp>
      <p:sp>
        <p:nvSpPr>
          <p:cNvPr id="14" name="Text 12"/>
          <p:cNvSpPr/>
          <p:nvPr/>
        </p:nvSpPr>
        <p:spPr>
          <a:xfrm>
            <a:off x="6400800" y="3054096"/>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Röd insjö, badpicknick</a:t>
            </a:r>
            <a:endParaRPr lang="en-US" sz="1100" dirty="0"/>
          </a:p>
        </p:txBody>
      </p:sp>
      <p:sp>
        <p:nvSpPr>
          <p:cNvPr id="15" name="Text 13"/>
          <p:cNvSpPr/>
          <p:nvPr/>
        </p:nvSpPr>
        <p:spPr>
          <a:xfrm>
            <a:off x="868680" y="3346704"/>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Cirque de Mourèze</a:t>
            </a:r>
            <a:endParaRPr lang="en-US" sz="1200" dirty="0"/>
          </a:p>
        </p:txBody>
      </p:sp>
      <p:sp>
        <p:nvSpPr>
          <p:cNvPr id="16" name="Text 14"/>
          <p:cNvSpPr/>
          <p:nvPr/>
        </p:nvSpPr>
        <p:spPr>
          <a:xfrm>
            <a:off x="5029200" y="3346704"/>
            <a:ext cx="1371600" cy="274320"/>
          </a:xfrm>
          <a:prstGeom prst="rect">
            <a:avLst/>
          </a:prstGeom>
          <a:noFill/>
          <a:ln/>
        </p:spPr>
        <p:txBody>
          <a:bodyPr wrap="square" lIns="0" tIns="0" rIns="0" bIns="0" rtlCol="0" anchor="ctr"/>
          <a:lstStyle/>
          <a:p>
            <a:pPr indent="0" marL="0">
              <a:buNone/>
            </a:pPr>
            <a:r>
              <a:rPr lang="en-US" sz="1100" dirty="0">
                <a:solidFill>
                  <a:srgbClr val="7A9471"/>
                </a:solidFill>
                <a:latin typeface="Calibri" pitchFamily="34" charset="0"/>
                <a:ea typeface="Calibri" pitchFamily="34" charset="-122"/>
                <a:cs typeface="Calibri" pitchFamily="34" charset="-120"/>
              </a:rPr>
              <a:t>55 min</a:t>
            </a:r>
            <a:endParaRPr lang="en-US" sz="1100" dirty="0"/>
          </a:p>
        </p:txBody>
      </p:sp>
      <p:sp>
        <p:nvSpPr>
          <p:cNvPr id="17" name="Text 15"/>
          <p:cNvSpPr/>
          <p:nvPr/>
        </p:nvSpPr>
        <p:spPr>
          <a:xfrm>
            <a:off x="6400800" y="3346704"/>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Månlandskap för klättring</a:t>
            </a:r>
            <a:endParaRPr lang="en-US" sz="1100" dirty="0"/>
          </a:p>
        </p:txBody>
      </p:sp>
      <p:sp>
        <p:nvSpPr>
          <p:cNvPr id="18" name="Text 16"/>
          <p:cNvSpPr/>
          <p:nvPr/>
        </p:nvSpPr>
        <p:spPr>
          <a:xfrm>
            <a:off x="868680" y="3639312"/>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Uzès</a:t>
            </a:r>
            <a:endParaRPr lang="en-US" sz="1200" dirty="0"/>
          </a:p>
        </p:txBody>
      </p:sp>
      <p:sp>
        <p:nvSpPr>
          <p:cNvPr id="19" name="Text 17"/>
          <p:cNvSpPr/>
          <p:nvPr/>
        </p:nvSpPr>
        <p:spPr>
          <a:xfrm>
            <a:off x="5029200" y="3639312"/>
            <a:ext cx="1371600" cy="274320"/>
          </a:xfrm>
          <a:prstGeom prst="rect">
            <a:avLst/>
          </a:prstGeom>
          <a:noFill/>
          <a:ln/>
        </p:spPr>
        <p:txBody>
          <a:bodyPr wrap="square" lIns="0" tIns="0" rIns="0" bIns="0" rtlCol="0" anchor="ctr"/>
          <a:lstStyle/>
          <a:p>
            <a:pPr indent="0" marL="0">
              <a:buNone/>
            </a:pPr>
            <a:r>
              <a:rPr lang="en-US" sz="1100" dirty="0">
                <a:solidFill>
                  <a:srgbClr val="7A9471"/>
                </a:solidFill>
                <a:latin typeface="Calibri" pitchFamily="34" charset="0"/>
                <a:ea typeface="Calibri" pitchFamily="34" charset="-122"/>
                <a:cs typeface="Calibri" pitchFamily="34" charset="-120"/>
              </a:rPr>
              <a:t>55 min</a:t>
            </a:r>
            <a:endParaRPr lang="en-US" sz="1100" dirty="0"/>
          </a:p>
        </p:txBody>
      </p:sp>
      <p:sp>
        <p:nvSpPr>
          <p:cNvPr id="20" name="Text 18"/>
          <p:cNvSpPr/>
          <p:nvPr/>
        </p:nvSpPr>
        <p:spPr>
          <a:xfrm>
            <a:off x="6400800" y="3639312"/>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Hertigdöme och marknad</a:t>
            </a:r>
            <a:endParaRPr lang="en-US" sz="1100" dirty="0"/>
          </a:p>
        </p:txBody>
      </p:sp>
      <p:sp>
        <p:nvSpPr>
          <p:cNvPr id="21" name="Shape 19"/>
          <p:cNvSpPr/>
          <p:nvPr/>
        </p:nvSpPr>
        <p:spPr>
          <a:xfrm>
            <a:off x="640080" y="4069080"/>
            <a:ext cx="137160" cy="365760"/>
          </a:xfrm>
          <a:prstGeom prst="rect">
            <a:avLst/>
          </a:prstGeom>
          <a:solidFill>
            <a:srgbClr val="D4A23A"/>
          </a:solidFill>
          <a:ln w="12700">
            <a:solidFill>
              <a:srgbClr val="D4A23A"/>
            </a:solidFill>
            <a:prstDash val="solid"/>
          </a:ln>
        </p:spPr>
      </p:sp>
      <p:sp>
        <p:nvSpPr>
          <p:cNvPr id="22" name="Text 20"/>
          <p:cNvSpPr/>
          <p:nvPr/>
        </p:nvSpPr>
        <p:spPr>
          <a:xfrm>
            <a:off x="868680" y="4069080"/>
            <a:ext cx="4572000" cy="365760"/>
          </a:xfrm>
          <a:prstGeom prst="rect">
            <a:avLst/>
          </a:prstGeom>
          <a:noFill/>
          <a:ln/>
        </p:spPr>
        <p:txBody>
          <a:bodyPr wrap="square" lIns="0" tIns="0" rIns="0" bIns="0" rtlCol="0" anchor="ctr"/>
          <a:lstStyle/>
          <a:p>
            <a:pPr indent="0" marL="0">
              <a:buNone/>
            </a:pPr>
            <a:r>
              <a:rPr lang="en-US" sz="1600" b="1" dirty="0">
                <a:solidFill>
                  <a:srgbClr val="D4A23A"/>
                </a:solidFill>
                <a:latin typeface="Georgia" pitchFamily="34" charset="0"/>
                <a:ea typeface="Georgia" pitchFamily="34" charset="-122"/>
                <a:cs typeface="Georgia" pitchFamily="34" charset="-120"/>
              </a:rPr>
              <a:t>1 till 1.5 timme</a:t>
            </a:r>
            <a:endParaRPr lang="en-US" sz="1600" dirty="0"/>
          </a:p>
        </p:txBody>
      </p:sp>
      <p:sp>
        <p:nvSpPr>
          <p:cNvPr id="23" name="Text 21"/>
          <p:cNvSpPr/>
          <p:nvPr/>
        </p:nvSpPr>
        <p:spPr>
          <a:xfrm>
            <a:off x="868680" y="4526280"/>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Plage de l'Espiguette</a:t>
            </a:r>
            <a:endParaRPr lang="en-US" sz="1200" dirty="0"/>
          </a:p>
        </p:txBody>
      </p:sp>
      <p:sp>
        <p:nvSpPr>
          <p:cNvPr id="24" name="Text 22"/>
          <p:cNvSpPr/>
          <p:nvPr/>
        </p:nvSpPr>
        <p:spPr>
          <a:xfrm>
            <a:off x="5029200" y="4526280"/>
            <a:ext cx="1371600" cy="274320"/>
          </a:xfrm>
          <a:prstGeom prst="rect">
            <a:avLst/>
          </a:prstGeom>
          <a:noFill/>
          <a:ln/>
        </p:spPr>
        <p:txBody>
          <a:bodyPr wrap="square" lIns="0" tIns="0" rIns="0" bIns="0" rtlCol="0" anchor="ctr"/>
          <a:lstStyle/>
          <a:p>
            <a:pPr indent="0" marL="0">
              <a:buNone/>
            </a:pPr>
            <a:r>
              <a:rPr lang="en-US" sz="1100" dirty="0">
                <a:solidFill>
                  <a:srgbClr val="D4A23A"/>
                </a:solidFill>
                <a:latin typeface="Calibri" pitchFamily="34" charset="0"/>
                <a:ea typeface="Calibri" pitchFamily="34" charset="-122"/>
                <a:cs typeface="Calibri" pitchFamily="34" charset="-120"/>
              </a:rPr>
              <a:t>1h</a:t>
            </a:r>
            <a:endParaRPr lang="en-US" sz="1100" dirty="0"/>
          </a:p>
        </p:txBody>
      </p:sp>
      <p:sp>
        <p:nvSpPr>
          <p:cNvPr id="25" name="Text 23"/>
          <p:cNvSpPr/>
          <p:nvPr/>
        </p:nvSpPr>
        <p:spPr>
          <a:xfrm>
            <a:off x="6400800" y="4526280"/>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Vild ödestrand</a:t>
            </a:r>
            <a:endParaRPr lang="en-US" sz="1100" dirty="0"/>
          </a:p>
        </p:txBody>
      </p:sp>
      <p:sp>
        <p:nvSpPr>
          <p:cNvPr id="26" name="Text 24"/>
          <p:cNvSpPr/>
          <p:nvPr/>
        </p:nvSpPr>
        <p:spPr>
          <a:xfrm>
            <a:off x="868680" y="4818888"/>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Bambouseraie d'Anduze</a:t>
            </a:r>
            <a:endParaRPr lang="en-US" sz="1200" dirty="0"/>
          </a:p>
        </p:txBody>
      </p:sp>
      <p:sp>
        <p:nvSpPr>
          <p:cNvPr id="27" name="Text 25"/>
          <p:cNvSpPr/>
          <p:nvPr/>
        </p:nvSpPr>
        <p:spPr>
          <a:xfrm>
            <a:off x="5029200" y="4818888"/>
            <a:ext cx="1371600" cy="274320"/>
          </a:xfrm>
          <a:prstGeom prst="rect">
            <a:avLst/>
          </a:prstGeom>
          <a:noFill/>
          <a:ln/>
        </p:spPr>
        <p:txBody>
          <a:bodyPr wrap="square" lIns="0" tIns="0" rIns="0" bIns="0" rtlCol="0" anchor="ctr"/>
          <a:lstStyle/>
          <a:p>
            <a:pPr indent="0" marL="0">
              <a:buNone/>
            </a:pPr>
            <a:r>
              <a:rPr lang="en-US" sz="1100" dirty="0">
                <a:solidFill>
                  <a:srgbClr val="D4A23A"/>
                </a:solidFill>
                <a:latin typeface="Calibri" pitchFamily="34" charset="0"/>
                <a:ea typeface="Calibri" pitchFamily="34" charset="-122"/>
                <a:cs typeface="Calibri" pitchFamily="34" charset="-120"/>
              </a:rPr>
              <a:t>1h 5 min</a:t>
            </a:r>
            <a:endParaRPr lang="en-US" sz="1100" dirty="0"/>
          </a:p>
        </p:txBody>
      </p:sp>
      <p:sp>
        <p:nvSpPr>
          <p:cNvPr id="28" name="Text 26"/>
          <p:cNvSpPr/>
          <p:nvPr/>
        </p:nvSpPr>
        <p:spPr>
          <a:xfrm>
            <a:off x="6400800" y="4818888"/>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Bambuskog och labyrint</a:t>
            </a:r>
            <a:endParaRPr lang="en-US" sz="1100" dirty="0"/>
          </a:p>
        </p:txBody>
      </p:sp>
      <p:sp>
        <p:nvSpPr>
          <p:cNvPr id="29" name="Text 27"/>
          <p:cNvSpPr/>
          <p:nvPr/>
        </p:nvSpPr>
        <p:spPr>
          <a:xfrm>
            <a:off x="868680" y="5111496"/>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Camargue</a:t>
            </a:r>
            <a:endParaRPr lang="en-US" sz="1200" dirty="0"/>
          </a:p>
        </p:txBody>
      </p:sp>
      <p:sp>
        <p:nvSpPr>
          <p:cNvPr id="30" name="Text 28"/>
          <p:cNvSpPr/>
          <p:nvPr/>
        </p:nvSpPr>
        <p:spPr>
          <a:xfrm>
            <a:off x="5029200" y="5111496"/>
            <a:ext cx="1371600" cy="274320"/>
          </a:xfrm>
          <a:prstGeom prst="rect">
            <a:avLst/>
          </a:prstGeom>
          <a:noFill/>
          <a:ln/>
        </p:spPr>
        <p:txBody>
          <a:bodyPr wrap="square" lIns="0" tIns="0" rIns="0" bIns="0" rtlCol="0" anchor="ctr"/>
          <a:lstStyle/>
          <a:p>
            <a:pPr indent="0" marL="0">
              <a:buNone/>
            </a:pPr>
            <a:r>
              <a:rPr lang="en-US" sz="1100" dirty="0">
                <a:solidFill>
                  <a:srgbClr val="D4A23A"/>
                </a:solidFill>
                <a:latin typeface="Calibri" pitchFamily="34" charset="0"/>
                <a:ea typeface="Calibri" pitchFamily="34" charset="-122"/>
                <a:cs typeface="Calibri" pitchFamily="34" charset="-120"/>
              </a:rPr>
              <a:t>1h 15 min</a:t>
            </a:r>
            <a:endParaRPr lang="en-US" sz="1100" dirty="0"/>
          </a:p>
        </p:txBody>
      </p:sp>
      <p:sp>
        <p:nvSpPr>
          <p:cNvPr id="31" name="Text 29"/>
          <p:cNvSpPr/>
          <p:nvPr/>
        </p:nvSpPr>
        <p:spPr>
          <a:xfrm>
            <a:off x="6400800" y="5111496"/>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Flamingos och hästar</a:t>
            </a:r>
            <a:endParaRPr lang="en-US" sz="1100" dirty="0"/>
          </a:p>
        </p:txBody>
      </p:sp>
      <p:sp>
        <p:nvSpPr>
          <p:cNvPr id="32" name="Text 30"/>
          <p:cNvSpPr/>
          <p:nvPr/>
        </p:nvSpPr>
        <p:spPr>
          <a:xfrm>
            <a:off x="868680" y="5404104"/>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Cirque de Navacelles</a:t>
            </a:r>
            <a:endParaRPr lang="en-US" sz="1200" dirty="0"/>
          </a:p>
        </p:txBody>
      </p:sp>
      <p:sp>
        <p:nvSpPr>
          <p:cNvPr id="33" name="Text 31"/>
          <p:cNvSpPr/>
          <p:nvPr/>
        </p:nvSpPr>
        <p:spPr>
          <a:xfrm>
            <a:off x="5029200" y="5404104"/>
            <a:ext cx="1371600" cy="274320"/>
          </a:xfrm>
          <a:prstGeom prst="rect">
            <a:avLst/>
          </a:prstGeom>
          <a:noFill/>
          <a:ln/>
        </p:spPr>
        <p:txBody>
          <a:bodyPr wrap="square" lIns="0" tIns="0" rIns="0" bIns="0" rtlCol="0" anchor="ctr"/>
          <a:lstStyle/>
          <a:p>
            <a:pPr indent="0" marL="0">
              <a:buNone/>
            </a:pPr>
            <a:r>
              <a:rPr lang="en-US" sz="1100" dirty="0">
                <a:solidFill>
                  <a:srgbClr val="D4A23A"/>
                </a:solidFill>
                <a:latin typeface="Calibri" pitchFamily="34" charset="0"/>
                <a:ea typeface="Calibri" pitchFamily="34" charset="-122"/>
                <a:cs typeface="Calibri" pitchFamily="34" charset="-120"/>
              </a:rPr>
              <a:t>1h 30 min</a:t>
            </a:r>
            <a:endParaRPr lang="en-US" sz="1100" dirty="0"/>
          </a:p>
        </p:txBody>
      </p:sp>
      <p:sp>
        <p:nvSpPr>
          <p:cNvPr id="34" name="Text 32"/>
          <p:cNvSpPr/>
          <p:nvPr/>
        </p:nvSpPr>
        <p:spPr>
          <a:xfrm>
            <a:off x="6400800" y="5404104"/>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UNESCO canyon</a:t>
            </a:r>
            <a:endParaRPr lang="en-US" sz="1100" dirty="0"/>
          </a:p>
        </p:txBody>
      </p:sp>
      <p:sp>
        <p:nvSpPr>
          <p:cNvPr id="35" name="Shape 33"/>
          <p:cNvSpPr/>
          <p:nvPr/>
        </p:nvSpPr>
        <p:spPr>
          <a:xfrm>
            <a:off x="640080" y="5833872"/>
            <a:ext cx="137160" cy="365760"/>
          </a:xfrm>
          <a:prstGeom prst="rect">
            <a:avLst/>
          </a:prstGeom>
          <a:solidFill>
            <a:srgbClr val="6D2E46"/>
          </a:solidFill>
          <a:ln w="12700">
            <a:solidFill>
              <a:srgbClr val="6D2E46"/>
            </a:solidFill>
            <a:prstDash val="solid"/>
          </a:ln>
        </p:spPr>
      </p:sp>
      <p:sp>
        <p:nvSpPr>
          <p:cNvPr id="36" name="Text 34"/>
          <p:cNvSpPr/>
          <p:nvPr/>
        </p:nvSpPr>
        <p:spPr>
          <a:xfrm>
            <a:off x="868680" y="5833872"/>
            <a:ext cx="4572000" cy="365760"/>
          </a:xfrm>
          <a:prstGeom prst="rect">
            <a:avLst/>
          </a:prstGeom>
          <a:noFill/>
          <a:ln/>
        </p:spPr>
        <p:txBody>
          <a:bodyPr wrap="square" lIns="0" tIns="0" rIns="0" bIns="0" rtlCol="0" anchor="ctr"/>
          <a:lstStyle/>
          <a:p>
            <a:pPr indent="0" marL="0">
              <a:buNone/>
            </a:pPr>
            <a:r>
              <a:rPr lang="en-US" sz="1600" b="1" dirty="0">
                <a:solidFill>
                  <a:srgbClr val="6D2E46"/>
                </a:solidFill>
                <a:latin typeface="Georgia" pitchFamily="34" charset="0"/>
                <a:ea typeface="Georgia" pitchFamily="34" charset="-122"/>
                <a:cs typeface="Georgia" pitchFamily="34" charset="-120"/>
              </a:rPr>
              <a:t>Längre, men värt det</a:t>
            </a:r>
            <a:endParaRPr lang="en-US" sz="1600" dirty="0"/>
          </a:p>
        </p:txBody>
      </p:sp>
      <p:sp>
        <p:nvSpPr>
          <p:cNvPr id="37" name="Text 35"/>
          <p:cNvSpPr/>
          <p:nvPr/>
        </p:nvSpPr>
        <p:spPr>
          <a:xfrm>
            <a:off x="868680" y="6291072"/>
            <a:ext cx="4114800" cy="274320"/>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Carcassonne</a:t>
            </a:r>
            <a:endParaRPr lang="en-US" sz="1200" dirty="0"/>
          </a:p>
        </p:txBody>
      </p:sp>
      <p:sp>
        <p:nvSpPr>
          <p:cNvPr id="38" name="Text 36"/>
          <p:cNvSpPr/>
          <p:nvPr/>
        </p:nvSpPr>
        <p:spPr>
          <a:xfrm>
            <a:off x="5029200" y="6291072"/>
            <a:ext cx="1371600" cy="274320"/>
          </a:xfrm>
          <a:prstGeom prst="rect">
            <a:avLst/>
          </a:prstGeom>
          <a:noFill/>
          <a:ln/>
        </p:spPr>
        <p:txBody>
          <a:bodyPr wrap="square" lIns="0" tIns="0" rIns="0" bIns="0" rtlCol="0" anchor="ctr"/>
          <a:lstStyle/>
          <a:p>
            <a:pPr indent="0" marL="0">
              <a:buNone/>
            </a:pPr>
            <a:r>
              <a:rPr lang="en-US" sz="1100" dirty="0">
                <a:solidFill>
                  <a:srgbClr val="6D2E46"/>
                </a:solidFill>
                <a:latin typeface="Calibri" pitchFamily="34" charset="0"/>
                <a:ea typeface="Calibri" pitchFamily="34" charset="-122"/>
                <a:cs typeface="Calibri" pitchFamily="34" charset="-120"/>
              </a:rPr>
              <a:t>1h 20 min</a:t>
            </a:r>
            <a:endParaRPr lang="en-US" sz="1100" dirty="0"/>
          </a:p>
        </p:txBody>
      </p:sp>
      <p:sp>
        <p:nvSpPr>
          <p:cNvPr id="39" name="Text 37"/>
          <p:cNvSpPr/>
          <p:nvPr/>
        </p:nvSpPr>
        <p:spPr>
          <a:xfrm>
            <a:off x="6400800" y="6291072"/>
            <a:ext cx="5486400" cy="27432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Medeltida sagostad UNESCO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D4A23A"/>
          </a:solidFill>
          <a:ln w="12700">
            <a:solidFill>
              <a:srgbClr val="D4A23A"/>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#01</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PERFEKT FÖR HELA FAMILJEN</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D4A23A"/>
                </a:solidFill>
                <a:latin typeface="Calibri" pitchFamily="34" charset="0"/>
                <a:ea typeface="Calibri" pitchFamily="34" charset="-122"/>
                <a:cs typeface="Calibri" pitchFamily="34" charset="-120"/>
              </a:rPr>
              <a:t>UNESCO-BY OCH BAD I HÉRAULT</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Saint-Guilhem-le-Désert</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En av Frankrikes vackraste byar (officiellt klassad), grundad runt Gellone-abbeyn på 800-talet, gömd i Hérault-floden ravinnen. Promenera kullerstensgator, simma vid Pont du Diable nedanför, eller ta en kanot ner för Hérault-floden. Klassiker som funkar för alla åldrar.</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40 min via A750 + D4</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Gratis (parkering 6 €, kanot 25–35 €)</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D4A23A"/>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Pont du Diable nedanför byn är en perfekt baddag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Kanot från Saint-Guilhem ner till Pont du Diable</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Parkera vid Maison du Grand Site, gratis shuttle till byn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C26B4D"/>
          </a:solidFill>
          <a:ln w="12700">
            <a:solidFill>
              <a:srgbClr val="C26B4D"/>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#02</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FAMILJEFAVORIT, PERFEKT FÖR ELTON</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C26B4D"/>
                </a:solidFill>
                <a:latin typeface="Calibri" pitchFamily="34" charset="0"/>
                <a:ea typeface="Calibri" pitchFamily="34" charset="-122"/>
                <a:cs typeface="Calibri" pitchFamily="34" charset="-120"/>
              </a:rPr>
              <a:t>RÖDA STRÄNDER, INSJÖBAD</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Lac du Salagou</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En spektakulär insjö omgiven av röd lerjord (ruffe) som ger marslandskap-känsla. Bada från sandstränderna, paddla kajak, picknick på röda klippor, eller cykla runt sjön. Helt annorlunda än havet, och ofta tomt jämfört med Medelhavet.</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55 min via A750</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Gratis (parkering ofta gratis)</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C26B4D"/>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Stränder vid Les Vailhès eller Clermont l'Hérault är bäst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Hyr kajak eller paddleboard på plats</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Ta med picknick, det finns få restauranger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#03</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ELTON KOMMER ÄLSKA DET</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6D2E46"/>
                </a:solidFill>
                <a:latin typeface="Calibri" pitchFamily="34" charset="0"/>
                <a:ea typeface="Calibri" pitchFamily="34" charset="-122"/>
                <a:cs typeface="Calibri" pitchFamily="34" charset="-120"/>
              </a:rPr>
              <a:t>MÅNLANDSKAP, KLÄTTERPARADIS</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Cirque de Mourèze</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Ett av södra Frankrikes mest udda landskap: en cirkus av dolomitiska kalkstensformationer som ser ut som något från Mars. Stigarna går mellan jättepelare och skulpterade klippor. Bra för Elton att klättra och utforska, vacker att titta på för vuxna.</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55 min via A750</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2–4 timmar</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Gratis (parkering nära byn)</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Kombineras lätt med Lac du Salagou samma dag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Stigen 'Sentier des Courtinals' tar 1.5 timme</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Robusta skor, klipporna är vassa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C5F2D"/>
          </a:solidFill>
          <a:ln w="12700">
            <a:solidFill>
              <a:srgbClr val="2C5F2D"/>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#04</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ELTON OCH BARNEN BLIR HÄNFÖRDA</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2C5F2D"/>
                </a:solidFill>
                <a:latin typeface="Calibri" pitchFamily="34" charset="0"/>
                <a:ea typeface="Calibri" pitchFamily="34" charset="-122"/>
                <a:cs typeface="Calibri" pitchFamily="34" charset="-120"/>
              </a:rPr>
              <a:t>BAMBUDJUNGEL, LABYRINT, LUFTGÅNG</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Bambouseraie d'Anduze</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Europas enda bambuskogsträdgård, grundad 1856. 1300 bambuvarianter, en luftig stig 8 meter upp i bambuskogen, ett laotiskt by, japansk drakdal och en bamboo-labyrint. 35 hektar. Helt unik upplevelse för ett 9-årigt barn, och stor nog att roa vuxna i flera timmar.</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1h 5 min via A750 + D907</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Halv- till 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~15 € vuxen, ~10 € barn (gratis u 4)</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2C5F2D"/>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Mycket skugga, perfekt för värmen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Kombineras med Anduze gamla stan på vägen tillbaka</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Stänger mitten av november, ta dagen i juli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7A9471"/>
          </a:solidFill>
          <a:ln w="12700">
            <a:solidFill>
              <a:srgbClr val="7A9471"/>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#05</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FÖR DEN ÄVENTYRSLYSTNA, INTE FÖR LATA DAGAR</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7A9471"/>
                </a:solidFill>
                <a:latin typeface="Calibri" pitchFamily="34" charset="0"/>
                <a:ea typeface="Calibri" pitchFamily="34" charset="-122"/>
                <a:cs typeface="Calibri" pitchFamily="34" charset="-120"/>
              </a:rPr>
              <a:t>SVINDLANDE CANYON, UNESCO</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Cirque de Navacelles</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300 meter djup canyon urgrävd av floden Vis, ett av Europas mest spektakulära naturlandskap. Klassad UNESCO Världsarv (Causses &amp; Cévennes). Belvédèrer ger panoramautsikt, vandring ner till hamlet Navacelles tar några timmar. Vild natur i sin renaste form.</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1h 30 min via A75</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Gratis (parkering ~5 €)</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7A9471"/>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Belvédère Baume Auriol är den klassiska utsiktsplatsen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Vandringen ner är brant, spara krafter för uppstigningen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Free shuttle på sommaren ner till hamlet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#06</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ELTON ÄLSKAR DJUR, VUXNA ÄLSKAR LANDSKAPET</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6D2E46"/>
                </a:solidFill>
                <a:latin typeface="Calibri" pitchFamily="34" charset="0"/>
                <a:ea typeface="Calibri" pitchFamily="34" charset="-122"/>
                <a:cs typeface="Calibri" pitchFamily="34" charset="-120"/>
              </a:rPr>
              <a:t>FLAMINGOS, VITA HÄSTAR, SVARTA TJURAR</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Camargue &amp; Saintes-Maries-de-la-Mer</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Frankrikes vildaste naturreservat: salta sjöar, sanddyner, rosa flamingos i tusental, vita Camargue-hästar och svarta tjurar i halvvilda flockar. Saintes-Maries-de-la-Mer är romantiskt fiskebysamhälle vid havet med fortifierad kyrka och bohemstämning.</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1h 15 min via D62</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Naturreservat gratis, ridning ~25 €/h</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Parc Ornithologique du Pont de Gau för flamingos garanterat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Rid en Camargue-häst, många manades erbjuder turer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Kombineras med Aigues-Mortes på vägen tillbaka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E7793"/>
          </a:solidFill>
          <a:ln w="12700">
            <a:solidFill>
              <a:srgbClr val="2E7793"/>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#07</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FAMILJEDAG VID HAVET</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2E7793"/>
                </a:solidFill>
                <a:latin typeface="Calibri" pitchFamily="34" charset="0"/>
                <a:ea typeface="Calibri" pitchFamily="34" charset="-122"/>
                <a:cs typeface="Calibri" pitchFamily="34" charset="-120"/>
              </a:rPr>
              <a:t>VULKANSTRAND, FAMILJERESORT</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Cap d'Agde</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Modern badort byggd kring en marina, känd för svarta vulkaniska sandstränder och vattenparker. Mer turistig än Palavas men med fler attraktioner: Aqualand vattenpark, Aquarium Marin, dykning, hyrbara små motorbåtar. Bra för en bredare familjedag.</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45 min via A9</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Strand gratis, Aqualand ~30 €</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2E7793"/>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Aqualand är populärt, kommer dit före kl 11</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Lilla touristtåget från marinan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Mèze i närheten har dinosaurpark om Elton vill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D4A23A"/>
          </a:solidFill>
          <a:ln w="12700">
            <a:solidFill>
              <a:srgbClr val="D4A23A"/>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#08</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FÖR DE SOM VILL FLY TURISTERNA</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D4A23A"/>
                </a:solidFill>
                <a:latin typeface="Calibri" pitchFamily="34" charset="0"/>
                <a:ea typeface="Calibri" pitchFamily="34" charset="-122"/>
                <a:cs typeface="Calibri" pitchFamily="34" charset="-120"/>
              </a:rPr>
              <a:t>VILD STRAND, OÄNDLIGA SANDDYNER</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Plage de l'Espiguette</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En av Frankrikes vildaste och längsta stränder, 18 km av sanddyner utan en enda byggnad. Helt skyddat naturreservat, känns som öknen möter Medelhavet. Inga restauranger, inga parasoll, bara du och oändlig sand. För vuxna och barn som vill ha riktig kustkänsla.</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1h via D62</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Parkering ~7 €, strand gratis</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D4A23A"/>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Ta med ALLT: vatten, mat, parasoll, mycket solskydd</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Ingen skugga, inga butiker, detta är the real deal</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Vinden kan vara stark, sandig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9C4F35"/>
          </a:solidFill>
          <a:ln w="12700">
            <a:solidFill>
              <a:srgbClr val="9C4F35"/>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#09</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VUXNAS DRÖMDAG MED KULTUR</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9C4F35"/>
                </a:solidFill>
                <a:latin typeface="Calibri" pitchFamily="34" charset="0"/>
                <a:ea typeface="Calibri" pitchFamily="34" charset="-122"/>
                <a:cs typeface="Calibri" pitchFamily="34" charset="-120"/>
              </a:rPr>
              <a:t>FRANKRIKES FÖRSTA HERTIGDÖME + AKVEDUKTEN</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Uzès &amp; Pont du Gard</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Uzès är Frankrikes första hertigdöme, en perfekt bevarad medeltidsstad med arkadtorg, slott och provençalsk marknad lördagar. Kombinera med Pont du Gard, den 2000-åriga romerska akvedukten på vägen. Två stora upplevelser samma dag, om man planerar väl.</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55 min till Uzès via A9</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Uzès gratis, Pont du Gard parkering ~9 €</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9C4F35"/>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Uzès lördagsmarknad är en av Frankrikes finaste</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Bada i Gardon-floden under Pont du Gard på sommaren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Båda kan göras på en dag om ni startar tidigt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r>
          <p:cNvPicPr>
            <a:picLocks noChangeAspect="1"/>
          </p:cNvPicPr>
          <p:nvPr/>
        </p:nvPicPr>
        <p:blipFill>
          <a:blip r:embed="rId1"/>
          <a:stretch>
            <a:fillRect/>
          </a:stretch>
        </p:blipFill>
        <p:spPr>
          <a:xfrm>
            <a:off x="2194560" y="201168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#10</a:t>
            </a:r>
            <a:endParaRPr lang="en-US" sz="1600" dirty="0"/>
          </a:p>
        </p:txBody>
      </p:sp>
      <p:sp>
        <p:nvSpPr>
          <p:cNvPr id="5" name="Shape 2"/>
          <p:cNvSpPr/>
          <p:nvPr/>
        </p:nvSpPr>
        <p:spPr>
          <a:xfrm>
            <a:off x="731520" y="5120640"/>
            <a:ext cx="4754880" cy="502920"/>
          </a:xfrm>
          <a:prstGeom prst="rect">
            <a:avLst/>
          </a:prstGeom>
          <a:solidFill>
            <a:srgbClr val="FFFFFF">
              <a:alpha val="20000"/>
            </a:srgbClr>
          </a:solidFill>
          <a:ln w="12700">
            <a:solidFill>
              <a:srgbClr val="FFFFFF">
                <a:alpha val="40000"/>
              </a:srgbClr>
            </a:solidFill>
            <a:prstDash val="solid"/>
          </a:ln>
        </p:spPr>
      </p:sp>
      <p:sp>
        <p:nvSpPr>
          <p:cNvPr id="6" name="Text 3"/>
          <p:cNvSpPr/>
          <p:nvPr/>
        </p:nvSpPr>
        <p:spPr>
          <a:xfrm>
            <a:off x="731520" y="5120640"/>
            <a:ext cx="475488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VÄRT VARJE MINUT AV BILRESAN</a:t>
            </a:r>
            <a:endParaRPr lang="en-US" sz="1200" dirty="0"/>
          </a:p>
        </p:txBody>
      </p:sp>
      <p:sp>
        <p:nvSpPr>
          <p:cNvPr id="7" name="Text 4"/>
          <p:cNvSpPr/>
          <p:nvPr/>
        </p:nvSpPr>
        <p:spPr>
          <a:xfrm>
            <a:off x="457200" y="6126480"/>
            <a:ext cx="5303520" cy="274320"/>
          </a:xfrm>
          <a:prstGeom prst="rect">
            <a:avLst/>
          </a:prstGeom>
          <a:noFill/>
          <a:ln/>
        </p:spPr>
        <p:txBody>
          <a:bodyPr wrap="square" lIns="0" tIns="0" rIns="0" bIns="0" rtlCol="0" anchor="ctr"/>
          <a:lstStyle/>
          <a:p>
            <a:pPr algn="ctr" indent="0" marL="0">
              <a:buNone/>
            </a:pPr>
            <a:r>
              <a:rPr lang="en-US" sz="900" spc="400" kern="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8" name="Text 5"/>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6D2E46"/>
                </a:solidFill>
                <a:latin typeface="Calibri" pitchFamily="34" charset="0"/>
                <a:ea typeface="Calibri" pitchFamily="34" charset="-122"/>
                <a:cs typeface="Calibri" pitchFamily="34" charset="-120"/>
              </a:rPr>
              <a:t>MEDELTIDA SAGOSTAD, UNESCO</a:t>
            </a:r>
            <a:endParaRPr lang="en-US" sz="1200" dirty="0"/>
          </a:p>
        </p:txBody>
      </p:sp>
      <p:sp>
        <p:nvSpPr>
          <p:cNvPr id="9" name="Text 6"/>
          <p:cNvSpPr/>
          <p:nvPr/>
        </p:nvSpPr>
        <p:spPr>
          <a:xfrm>
            <a:off x="6126480" y="914400"/>
            <a:ext cx="5669280" cy="1280160"/>
          </a:xfrm>
          <a:prstGeom prst="rect">
            <a:avLst/>
          </a:prstGeom>
          <a:noFill/>
          <a:ln/>
        </p:spPr>
        <p:txBody>
          <a:bodyPr wrap="square" lIns="0" tIns="0" rIns="0" bIns="0" rtlCol="0" anchor="ctr"/>
          <a:lstStyle/>
          <a:p>
            <a:pPr indent="0" marL="0">
              <a:buNone/>
            </a:pPr>
            <a:r>
              <a:rPr lang="en-US" sz="3400" b="1" dirty="0">
                <a:solidFill>
                  <a:srgbClr val="1A2E3B"/>
                </a:solidFill>
                <a:latin typeface="Georgia" pitchFamily="34" charset="0"/>
                <a:ea typeface="Georgia" pitchFamily="34" charset="-122"/>
                <a:cs typeface="Georgia" pitchFamily="34" charset="-120"/>
              </a:rPr>
              <a:t>Carcassonne</a:t>
            </a:r>
            <a:endParaRPr lang="en-US" sz="3400" dirty="0"/>
          </a:p>
        </p:txBody>
      </p:sp>
      <p:sp>
        <p:nvSpPr>
          <p:cNvPr id="10" name="Text 7"/>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Europas största bevarade medeltida befästa stad, 3 km dubbla murar med 52 torn, hela citadellet UNESCO-listat. Som ett verkligt sagoslott. Lite längre att köra till men en otrolig upplevelse, framför allt för Elton som lever sig in i riddartider. Restaurangerna i den gamla staden är förvånansvärt bra.</a:t>
            </a:r>
            <a:endParaRPr lang="en-US" sz="1400" dirty="0"/>
          </a:p>
        </p:txBody>
      </p:sp>
      <p:sp>
        <p:nvSpPr>
          <p:cNvPr id="11" name="Shape 8"/>
          <p:cNvSpPr/>
          <p:nvPr/>
        </p:nvSpPr>
        <p:spPr>
          <a:xfrm>
            <a:off x="6126480" y="3794760"/>
            <a:ext cx="1783080" cy="777240"/>
          </a:xfrm>
          <a:prstGeom prst="rect">
            <a:avLst/>
          </a:prstGeom>
          <a:solidFill>
            <a:srgbClr val="FFFFFF"/>
          </a:solidFill>
          <a:ln w="12700">
            <a:solidFill>
              <a:srgbClr val="E8DFD0"/>
            </a:solidFill>
            <a:prstDash val="solid"/>
          </a:ln>
        </p:spPr>
      </p:sp>
      <p:pic>
        <p:nvPicPr>
          <p:cNvPr id="12"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3" name="Text 9"/>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BIL ENVÄG</a:t>
            </a:r>
            <a:endParaRPr lang="en-US" sz="800" dirty="0"/>
          </a:p>
        </p:txBody>
      </p:sp>
      <p:sp>
        <p:nvSpPr>
          <p:cNvPr id="14" name="Text 10"/>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1h 20 min via A9 + A61</a:t>
            </a:r>
            <a:endParaRPr lang="en-US" sz="1100" dirty="0"/>
          </a:p>
        </p:txBody>
      </p:sp>
      <p:sp>
        <p:nvSpPr>
          <p:cNvPr id="15" name="Shape 11"/>
          <p:cNvSpPr/>
          <p:nvPr/>
        </p:nvSpPr>
        <p:spPr>
          <a:xfrm>
            <a:off x="8074152" y="3794760"/>
            <a:ext cx="1783080" cy="777240"/>
          </a:xfrm>
          <a:prstGeom prst="rect">
            <a:avLst/>
          </a:prstGeom>
          <a:solidFill>
            <a:srgbClr val="FFFFFF"/>
          </a:solidFill>
          <a:ln w="12700">
            <a:solidFill>
              <a:srgbClr val="E8DFD0"/>
            </a:solidFill>
            <a:prstDash val="solid"/>
          </a:ln>
        </p:spPr>
      </p:sp>
      <p:pic>
        <p:nvPicPr>
          <p:cNvPr id="16"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7" name="Text 12"/>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8" name="Text 13"/>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 (avgång före kl 9)</a:t>
            </a:r>
            <a:endParaRPr lang="en-US" sz="1100" dirty="0"/>
          </a:p>
        </p:txBody>
      </p:sp>
      <p:sp>
        <p:nvSpPr>
          <p:cNvPr id="19" name="Shape 14"/>
          <p:cNvSpPr/>
          <p:nvPr/>
        </p:nvSpPr>
        <p:spPr>
          <a:xfrm>
            <a:off x="10021824" y="3794760"/>
            <a:ext cx="1783080" cy="777240"/>
          </a:xfrm>
          <a:prstGeom prst="rect">
            <a:avLst/>
          </a:prstGeom>
          <a:solidFill>
            <a:srgbClr val="FFFFFF"/>
          </a:solidFill>
          <a:ln w="12700">
            <a:solidFill>
              <a:srgbClr val="E8DFD0"/>
            </a:solidFill>
            <a:prstDash val="solid"/>
          </a:ln>
        </p:spPr>
      </p:sp>
      <p:pic>
        <p:nvPicPr>
          <p:cNvPr id="20"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21" name="Text 15"/>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KOSTNAD</a:t>
            </a:r>
            <a:endParaRPr lang="en-US" sz="800" dirty="0"/>
          </a:p>
        </p:txBody>
      </p:sp>
      <p:sp>
        <p:nvSpPr>
          <p:cNvPr id="22" name="Text 16"/>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Citadell gratis, Château Comtal ~13 €</a:t>
            </a:r>
            <a:endParaRPr lang="en-US" sz="1100" dirty="0"/>
          </a:p>
        </p:txBody>
      </p:sp>
      <p:sp>
        <p:nvSpPr>
          <p:cNvPr id="23" name="Text 17"/>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4" name="Text 18"/>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Parkera utanför murarna och gå in, magisk första bild</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Mycket varmt på sommaren, ta tidig start eller sen eftermiddag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Ät cassoulet, regional specialitet i den gamla staden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E3B"/>
        </a:solidFill>
      </p:bgPr>
    </p:bg>
    <p:spTree>
      <p:nvGrpSpPr>
        <p:cNvPr id="1" name=""/>
        <p:cNvGrpSpPr/>
        <p:nvPr/>
      </p:nvGrpSpPr>
      <p:grpSpPr>
        <a:xfrm>
          <a:off x="0" y="0"/>
          <a:ext cx="0" cy="0"/>
          <a:chOff x="0" y="0"/>
          <a:chExt cx="0" cy="0"/>
        </a:xfrm>
      </p:grpSpPr>
      <p:sp>
        <p:nvSpPr>
          <p:cNvPr id="2" name="Text 0"/>
          <p:cNvSpPr/>
          <p:nvPr/>
        </p:nvSpPr>
        <p:spPr>
          <a:xfrm>
            <a:off x="640080" y="640080"/>
            <a:ext cx="109728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Praktiska tips för bilkörning</a:t>
            </a:r>
            <a:endParaRPr lang="en-US" sz="3800" dirty="0"/>
          </a:p>
        </p:txBody>
      </p:sp>
      <p:sp>
        <p:nvSpPr>
          <p:cNvPr id="3" name="Text 1"/>
          <p:cNvSpPr/>
          <p:nvPr/>
        </p:nvSpPr>
        <p:spPr>
          <a:xfrm>
            <a:off x="640080" y="1554480"/>
            <a:ext cx="10972800" cy="548640"/>
          </a:xfrm>
          <a:prstGeom prst="rect">
            <a:avLst/>
          </a:prstGeom>
          <a:noFill/>
          <a:ln/>
        </p:spPr>
        <p:txBody>
          <a:bodyPr wrap="square" lIns="0" tIns="0" rIns="0" bIns="0" rtlCol="0" anchor="ctr"/>
          <a:lstStyle/>
          <a:p>
            <a:pPr indent="0" marL="0">
              <a:buNone/>
            </a:pPr>
            <a:r>
              <a:rPr lang="en-US" sz="1600" i="1" dirty="0">
                <a:solidFill>
                  <a:srgbClr val="E8DFD0"/>
                </a:solidFill>
                <a:latin typeface="Calibri" pitchFamily="34" charset="0"/>
                <a:ea typeface="Calibri" pitchFamily="34" charset="-122"/>
                <a:cs typeface="Calibri" pitchFamily="34" charset="-120"/>
              </a:rPr>
              <a:t>Saker att veta innan ni sätter er i bilen i Frankrike.</a:t>
            </a:r>
            <a:endParaRPr lang="en-US" sz="1600" dirty="0"/>
          </a:p>
        </p:txBody>
      </p:sp>
      <p:sp>
        <p:nvSpPr>
          <p:cNvPr id="4" name="Shape 2"/>
          <p:cNvSpPr/>
          <p:nvPr/>
        </p:nvSpPr>
        <p:spPr>
          <a:xfrm>
            <a:off x="640080" y="2377440"/>
            <a:ext cx="3657600" cy="3840480"/>
          </a:xfrm>
          <a:prstGeom prst="rect">
            <a:avLst/>
          </a:prstGeom>
          <a:solidFill>
            <a:srgbClr val="2A4150"/>
          </a:solidFill>
          <a:ln w="12700">
            <a:solidFill>
              <a:srgbClr val="2A4150"/>
            </a:solidFill>
            <a:prstDash val="solid"/>
          </a:ln>
        </p:spPr>
      </p:sp>
      <p:sp>
        <p:nvSpPr>
          <p:cNvPr id="5" name="Shape 3"/>
          <p:cNvSpPr/>
          <p:nvPr/>
        </p:nvSpPr>
        <p:spPr>
          <a:xfrm>
            <a:off x="640080" y="2377440"/>
            <a:ext cx="91440" cy="3840480"/>
          </a:xfrm>
          <a:prstGeom prst="rect">
            <a:avLst/>
          </a:prstGeom>
          <a:solidFill>
            <a:srgbClr val="D4A23A"/>
          </a:solidFill>
          <a:ln w="12700">
            <a:solidFill>
              <a:srgbClr val="D4A23A"/>
            </a:solidFill>
            <a:prstDash val="solid"/>
          </a:ln>
        </p:spPr>
      </p:sp>
      <p:sp>
        <p:nvSpPr>
          <p:cNvPr id="6" name="Text 4"/>
          <p:cNvSpPr/>
          <p:nvPr/>
        </p:nvSpPr>
        <p:spPr>
          <a:xfrm>
            <a:off x="914400" y="2651760"/>
            <a:ext cx="3108960" cy="457200"/>
          </a:xfrm>
          <a:prstGeom prst="rect">
            <a:avLst/>
          </a:prstGeom>
          <a:noFill/>
          <a:ln/>
        </p:spPr>
        <p:txBody>
          <a:bodyPr wrap="square" lIns="0" tIns="0" rIns="0" bIns="0" rtlCol="0" anchor="ctr"/>
          <a:lstStyle/>
          <a:p>
            <a:pPr indent="0" marL="0">
              <a:buNone/>
            </a:pPr>
            <a:r>
              <a:rPr lang="en-US" sz="2000" b="1" dirty="0">
                <a:solidFill>
                  <a:srgbClr val="D4A23A"/>
                </a:solidFill>
                <a:latin typeface="Georgia" pitchFamily="34" charset="0"/>
                <a:ea typeface="Georgia" pitchFamily="34" charset="-122"/>
                <a:cs typeface="Georgia" pitchFamily="34" charset="-120"/>
              </a:rPr>
              <a:t>Vägar och bensin</a:t>
            </a:r>
            <a:endParaRPr lang="en-US" sz="2000" dirty="0"/>
          </a:p>
        </p:txBody>
      </p:sp>
      <p:sp>
        <p:nvSpPr>
          <p:cNvPr id="7" name="Text 5"/>
          <p:cNvSpPr/>
          <p:nvPr/>
        </p:nvSpPr>
        <p:spPr>
          <a:xfrm>
            <a:off x="91440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A9 och A75 är motorvägar, A75 är gratis (en av få i Frankrike).</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A9 söderut har vägtull, runt 8 till 12 € enkel resa till Cap d'Agde-trakten.</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Bensin är dyrast på motorvägsstationer, billigare på Carrefour eller Leclerc.</a:t>
            </a:r>
            <a:endParaRPr lang="en-US" sz="1100" dirty="0"/>
          </a:p>
        </p:txBody>
      </p:sp>
      <p:sp>
        <p:nvSpPr>
          <p:cNvPr id="8" name="Shape 6"/>
          <p:cNvSpPr/>
          <p:nvPr/>
        </p:nvSpPr>
        <p:spPr>
          <a:xfrm>
            <a:off x="4480560" y="2377440"/>
            <a:ext cx="3657600" cy="3840480"/>
          </a:xfrm>
          <a:prstGeom prst="rect">
            <a:avLst/>
          </a:prstGeom>
          <a:solidFill>
            <a:srgbClr val="2A4150"/>
          </a:solidFill>
          <a:ln w="12700">
            <a:solidFill>
              <a:srgbClr val="2A4150"/>
            </a:solidFill>
            <a:prstDash val="solid"/>
          </a:ln>
        </p:spPr>
      </p:sp>
      <p:sp>
        <p:nvSpPr>
          <p:cNvPr id="9" name="Shape 7"/>
          <p:cNvSpPr/>
          <p:nvPr/>
        </p:nvSpPr>
        <p:spPr>
          <a:xfrm>
            <a:off x="4480560" y="2377440"/>
            <a:ext cx="91440" cy="3840480"/>
          </a:xfrm>
          <a:prstGeom prst="rect">
            <a:avLst/>
          </a:prstGeom>
          <a:solidFill>
            <a:srgbClr val="C26B4D"/>
          </a:solidFill>
          <a:ln w="12700">
            <a:solidFill>
              <a:srgbClr val="C26B4D"/>
            </a:solidFill>
            <a:prstDash val="solid"/>
          </a:ln>
        </p:spPr>
      </p:sp>
      <p:sp>
        <p:nvSpPr>
          <p:cNvPr id="10" name="Text 8"/>
          <p:cNvSpPr/>
          <p:nvPr/>
        </p:nvSpPr>
        <p:spPr>
          <a:xfrm>
            <a:off x="4754880" y="2651760"/>
            <a:ext cx="3108960" cy="457200"/>
          </a:xfrm>
          <a:prstGeom prst="rect">
            <a:avLst/>
          </a:prstGeom>
          <a:noFill/>
          <a:ln/>
        </p:spPr>
        <p:txBody>
          <a:bodyPr wrap="square" lIns="0" tIns="0" rIns="0" bIns="0" rtlCol="0" anchor="ctr"/>
          <a:lstStyle/>
          <a:p>
            <a:pPr indent="0" marL="0">
              <a:buNone/>
            </a:pPr>
            <a:r>
              <a:rPr lang="en-US" sz="2000" b="1" dirty="0">
                <a:solidFill>
                  <a:srgbClr val="C26B4D"/>
                </a:solidFill>
                <a:latin typeface="Georgia" pitchFamily="34" charset="0"/>
                <a:ea typeface="Georgia" pitchFamily="34" charset="-122"/>
                <a:cs typeface="Georgia" pitchFamily="34" charset="-120"/>
              </a:rPr>
              <a:t>Värme och timing</a:t>
            </a:r>
            <a:endParaRPr lang="en-US" sz="2000" dirty="0"/>
          </a:p>
        </p:txBody>
      </p:sp>
      <p:sp>
        <p:nvSpPr>
          <p:cNvPr id="11" name="Text 9"/>
          <p:cNvSpPr/>
          <p:nvPr/>
        </p:nvSpPr>
        <p:spPr>
          <a:xfrm>
            <a:off x="475488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Juli i Hérault, räkna med 32 till 38° vissa dagar. Tidig start är nyckeln.</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Kör tidigt, var på plats vid kl 10, paus mitt på dagen, hem mot kvällen.</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Vatten, solskydd och keps åt alla i bilen. Kontrollera kylvätska och AC.</a:t>
            </a:r>
            <a:endParaRPr lang="en-US" sz="1100" dirty="0"/>
          </a:p>
        </p:txBody>
      </p:sp>
      <p:sp>
        <p:nvSpPr>
          <p:cNvPr id="12" name="Shape 10"/>
          <p:cNvSpPr/>
          <p:nvPr/>
        </p:nvSpPr>
        <p:spPr>
          <a:xfrm>
            <a:off x="8321040" y="2377440"/>
            <a:ext cx="3657600" cy="3840480"/>
          </a:xfrm>
          <a:prstGeom prst="rect">
            <a:avLst/>
          </a:prstGeom>
          <a:solidFill>
            <a:srgbClr val="2A4150"/>
          </a:solidFill>
          <a:ln w="12700">
            <a:solidFill>
              <a:srgbClr val="2A4150"/>
            </a:solidFill>
            <a:prstDash val="solid"/>
          </a:ln>
        </p:spPr>
      </p:sp>
      <p:sp>
        <p:nvSpPr>
          <p:cNvPr id="13" name="Shape 11"/>
          <p:cNvSpPr/>
          <p:nvPr/>
        </p:nvSpPr>
        <p:spPr>
          <a:xfrm>
            <a:off x="8321040" y="2377440"/>
            <a:ext cx="91440" cy="3840480"/>
          </a:xfrm>
          <a:prstGeom prst="rect">
            <a:avLst/>
          </a:prstGeom>
          <a:solidFill>
            <a:srgbClr val="2E7793"/>
          </a:solidFill>
          <a:ln w="12700">
            <a:solidFill>
              <a:srgbClr val="2E7793"/>
            </a:solidFill>
            <a:prstDash val="solid"/>
          </a:ln>
        </p:spPr>
      </p:sp>
      <p:sp>
        <p:nvSpPr>
          <p:cNvPr id="14" name="Text 12"/>
          <p:cNvSpPr/>
          <p:nvPr/>
        </p:nvSpPr>
        <p:spPr>
          <a:xfrm>
            <a:off x="8595360" y="2651760"/>
            <a:ext cx="3108960" cy="457200"/>
          </a:xfrm>
          <a:prstGeom prst="rect">
            <a:avLst/>
          </a:prstGeom>
          <a:noFill/>
          <a:ln/>
        </p:spPr>
        <p:txBody>
          <a:bodyPr wrap="square" lIns="0" tIns="0" rIns="0" bIns="0" rtlCol="0" anchor="ctr"/>
          <a:lstStyle/>
          <a:p>
            <a:pPr indent="0" marL="0">
              <a:buNone/>
            </a:pPr>
            <a:r>
              <a:rPr lang="en-US" sz="2000" b="1" dirty="0">
                <a:solidFill>
                  <a:srgbClr val="2E7793"/>
                </a:solidFill>
                <a:latin typeface="Georgia" pitchFamily="34" charset="0"/>
                <a:ea typeface="Georgia" pitchFamily="34" charset="-122"/>
                <a:cs typeface="Georgia" pitchFamily="34" charset="-120"/>
              </a:rPr>
              <a:t>Parkering</a:t>
            </a:r>
            <a:endParaRPr lang="en-US" sz="2000" dirty="0"/>
          </a:p>
        </p:txBody>
      </p:sp>
      <p:sp>
        <p:nvSpPr>
          <p:cNvPr id="15" name="Text 13"/>
          <p:cNvSpPr/>
          <p:nvPr/>
        </p:nvSpPr>
        <p:spPr>
          <a:xfrm>
            <a:off x="859536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Populära mål, Pont du Gard, Saint-Guilhem, har skyltad betalparkering.</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I småbyar finns ofta gratis parkering 5 till 10 min utanför, kolla skyltar.</a:t>
            </a:r>
            <a:endParaRPr lang="en-US" sz="1100" dirty="0"/>
          </a:p>
          <a:p>
            <a:pPr marL="342900" indent="-342900">
              <a:spcAft>
                <a:spcPts val="800"/>
              </a:spcAft>
              <a:buSzPct val="100000"/>
              <a:buChar char="•"/>
            </a:pPr>
            <a:r>
              <a:rPr lang="en-US" sz="1100" dirty="0">
                <a:solidFill>
                  <a:srgbClr val="E8DFD0"/>
                </a:solidFill>
                <a:latin typeface="Calibri" pitchFamily="34" charset="0"/>
                <a:ea typeface="Calibri" pitchFamily="34" charset="-122"/>
                <a:cs typeface="Calibri" pitchFamily="34" charset="-120"/>
              </a:rPr>
              <a:t>Carcassonne, parkera utanför murarna och gå in till fots, magisk första bild.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Montpellier Del 3 - Bilutflykter</dc:title>
  <dc:subject>PptxGenJS Presentation</dc:subject>
  <dc:creator>Andreas</dc:creator>
  <cp:lastModifiedBy>Andreas</cp:lastModifiedBy>
  <cp:revision>1</cp:revision>
  <dcterms:created xsi:type="dcterms:W3CDTF">2026-05-06T14:24:27Z</dcterms:created>
  <dcterms:modified xsi:type="dcterms:W3CDTF">2026-05-06T14:24:27Z</dcterms:modified>
</cp:coreProperties>
</file>