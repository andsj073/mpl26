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640080"/>
            <a:ext cx="10972800" cy="457200"/>
          </a:xfrm>
          <a:prstGeom prst="rect">
            <a:avLst/>
          </a:prstGeom>
          <a:noFill/>
          <a:ln/>
        </p:spPr>
        <p:txBody>
          <a:bodyPr wrap="square" lIns="0" tIns="0" rIns="0" bIns="0" rtlCol="0" anchor="ctr"/>
          <a:lstStyle/>
          <a:p>
            <a:pPr indent="0" marL="0">
              <a:buNone/>
            </a:pPr>
            <a:r>
              <a:rPr lang="en-US" sz="1600" b="1" spc="1200" kern="0" dirty="0">
                <a:solidFill>
                  <a:srgbClr val="FF3366"/>
                </a:solidFill>
                <a:latin typeface="Arial" pitchFamily="34" charset="0"/>
                <a:ea typeface="Arial" pitchFamily="34" charset="-122"/>
                <a:cs typeface="Arial" pitchFamily="34" charset="-120"/>
              </a:rPr>
              <a:t>FÖR ER UNGA VUXNA</a:t>
            </a:r>
            <a:endParaRPr lang="en-US" sz="1600" dirty="0"/>
          </a:p>
        </p:txBody>
      </p:sp>
      <p:sp>
        <p:nvSpPr>
          <p:cNvPr id="3" name="Text 1"/>
          <p:cNvSpPr/>
          <p:nvPr/>
        </p:nvSpPr>
        <p:spPr>
          <a:xfrm>
            <a:off x="640080" y="1280160"/>
            <a:ext cx="10972800" cy="1828800"/>
          </a:xfrm>
          <a:prstGeom prst="rect">
            <a:avLst/>
          </a:prstGeom>
          <a:noFill/>
          <a:ln/>
        </p:spPr>
        <p:txBody>
          <a:bodyPr wrap="square" lIns="0" tIns="0" rIns="0" bIns="0" rtlCol="0" anchor="ctr"/>
          <a:lstStyle/>
          <a:p>
            <a:pPr indent="0" marL="0">
              <a:buNone/>
            </a:pPr>
            <a:r>
              <a:rPr lang="en-US" sz="11000" b="1" dirty="0">
                <a:solidFill>
                  <a:srgbClr val="FFFFFF"/>
                </a:solidFill>
                <a:latin typeface="Arial Black" pitchFamily="34" charset="0"/>
                <a:ea typeface="Arial Black" pitchFamily="34" charset="-122"/>
                <a:cs typeface="Arial Black" pitchFamily="34" charset="-120"/>
              </a:rPr>
              <a:t>Montpellier</a:t>
            </a:r>
            <a:endParaRPr lang="en-US" sz="11000" dirty="0"/>
          </a:p>
        </p:txBody>
      </p:sp>
      <p:sp>
        <p:nvSpPr>
          <p:cNvPr id="4" name="Text 2"/>
          <p:cNvSpPr/>
          <p:nvPr/>
        </p:nvSpPr>
        <p:spPr>
          <a:xfrm>
            <a:off x="685800" y="3200400"/>
            <a:ext cx="10972800" cy="640080"/>
          </a:xfrm>
          <a:prstGeom prst="rect">
            <a:avLst/>
          </a:prstGeom>
          <a:noFill/>
          <a:ln/>
        </p:spPr>
        <p:txBody>
          <a:bodyPr wrap="square" lIns="0" tIns="0" rIns="0" bIns="0" rtlCol="0" anchor="ctr"/>
          <a:lstStyle/>
          <a:p>
            <a:pPr indent="0" marL="0">
              <a:buNone/>
            </a:pPr>
            <a:r>
              <a:rPr lang="en-US" sz="3200" i="1" dirty="0">
                <a:solidFill>
                  <a:srgbClr val="9CA3AF"/>
                </a:solidFill>
                <a:latin typeface="Arial" pitchFamily="34" charset="0"/>
                <a:ea typeface="Arial" pitchFamily="34" charset="-122"/>
                <a:cs typeface="Arial" pitchFamily="34" charset="-120"/>
              </a:rPr>
              <a:t>två veckor du faktiskt</a:t>
            </a:r>
            <a:endParaRPr lang="en-US" sz="3200" dirty="0"/>
          </a:p>
        </p:txBody>
      </p:sp>
      <p:sp>
        <p:nvSpPr>
          <p:cNvPr id="5" name="Text 3"/>
          <p:cNvSpPr/>
          <p:nvPr/>
        </p:nvSpPr>
        <p:spPr>
          <a:xfrm>
            <a:off x="685800" y="3749040"/>
            <a:ext cx="10972800" cy="914400"/>
          </a:xfrm>
          <a:prstGeom prst="rect">
            <a:avLst/>
          </a:prstGeom>
          <a:noFill/>
          <a:ln/>
        </p:spPr>
        <p:txBody>
          <a:bodyPr wrap="square" lIns="0" tIns="0" rIns="0" bIns="0" rtlCol="0" anchor="ctr"/>
          <a:lstStyle/>
          <a:p>
            <a:pPr indent="0" marL="0">
              <a:buNone/>
            </a:pPr>
            <a:r>
              <a:rPr lang="en-US" sz="5600" b="1" dirty="0">
                <a:solidFill>
                  <a:srgbClr val="B8FF00"/>
                </a:solidFill>
                <a:latin typeface="Arial Black" pitchFamily="34" charset="0"/>
                <a:ea typeface="Arial Black" pitchFamily="34" charset="-122"/>
                <a:cs typeface="Arial Black" pitchFamily="34" charset="-120"/>
              </a:rPr>
              <a:t>kommer minnas</a:t>
            </a:r>
            <a:endParaRPr lang="en-US" sz="5600" dirty="0"/>
          </a:p>
        </p:txBody>
      </p:sp>
      <p:sp>
        <p:nvSpPr>
          <p:cNvPr id="6" name="Shape 4"/>
          <p:cNvSpPr/>
          <p:nvPr/>
        </p:nvSpPr>
        <p:spPr>
          <a:xfrm>
            <a:off x="640080" y="5486400"/>
            <a:ext cx="10972800" cy="45720"/>
          </a:xfrm>
          <a:prstGeom prst="rect">
            <a:avLst/>
          </a:prstGeom>
          <a:solidFill>
            <a:srgbClr val="FF3366"/>
          </a:solidFill>
          <a:ln w="12700">
            <a:solidFill>
              <a:srgbClr val="FF3366"/>
            </a:solidFill>
            <a:prstDash val="solid"/>
          </a:ln>
        </p:spPr>
      </p:sp>
      <p:sp>
        <p:nvSpPr>
          <p:cNvPr id="7" name="Text 5"/>
          <p:cNvSpPr/>
          <p:nvPr/>
        </p:nvSpPr>
        <p:spPr>
          <a:xfrm>
            <a:off x="640080" y="5669280"/>
            <a:ext cx="10972800" cy="731520"/>
          </a:xfrm>
          <a:prstGeom prst="rect">
            <a:avLst/>
          </a:prstGeom>
          <a:noFill/>
          <a:ln/>
        </p:spPr>
        <p:txBody>
          <a:bodyPr wrap="square" lIns="0" tIns="0" rIns="0" bIns="0" rtlCol="0" anchor="ctr"/>
          <a:lstStyle/>
          <a:p>
            <a:pPr indent="0" marL="0">
              <a:buNone/>
            </a:pPr>
            <a:r>
              <a:rPr lang="en-US" sz="1200" b="1" spc="400" kern="0" dirty="0">
                <a:solidFill>
                  <a:srgbClr val="00D9FF"/>
                </a:solidFill>
                <a:latin typeface="Arial" pitchFamily="34" charset="0"/>
                <a:ea typeface="Arial" pitchFamily="34" charset="-122"/>
                <a:cs typeface="Arial" pitchFamily="34" charset="-120"/>
              </a:rPr>
              <a:t>BARER · KAJAK · MARKNADER · ROOFTOPS · LIVE · STRÄND</a:t>
            </a:r>
            <a:endParaRPr lang="en-US" sz="1200" dirty="0"/>
          </a:p>
          <a:p>
            <a:pPr indent="0" marL="0">
              <a:buNone/>
            </a:pPr>
            <a:r>
              <a:rPr lang="en-US" sz="1400" i="1" dirty="0">
                <a:solidFill>
                  <a:srgbClr val="9CA3AF"/>
                </a:solidFill>
                <a:latin typeface="Arial" pitchFamily="34" charset="0"/>
                <a:ea typeface="Arial" pitchFamily="34" charset="-122"/>
                <a:cs typeface="Arial" pitchFamily="34" charset="-120"/>
              </a:rPr>
              <a:t>för William, Anna, Leja &amp; Leo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640080"/>
            <a:ext cx="10972800" cy="457200"/>
          </a:xfrm>
          <a:prstGeom prst="rect">
            <a:avLst/>
          </a:prstGeom>
          <a:noFill/>
          <a:ln/>
        </p:spPr>
        <p:txBody>
          <a:bodyPr wrap="square" lIns="0" tIns="0" rIns="0" bIns="0" rtlCol="0" anchor="ctr"/>
          <a:lstStyle/>
          <a:p>
            <a:pPr indent="0" marL="0">
              <a:buNone/>
            </a:pPr>
            <a:r>
              <a:rPr lang="en-US" sz="1400" b="1" spc="800" kern="0" dirty="0">
                <a:solidFill>
                  <a:srgbClr val="FF6B1A"/>
                </a:solidFill>
                <a:latin typeface="Arial" pitchFamily="34" charset="0"/>
                <a:ea typeface="Arial" pitchFamily="34" charset="-122"/>
                <a:cs typeface="Arial" pitchFamily="34" charset="-120"/>
              </a:rPr>
              <a:t>DAGS ATT REDA UT EN SAK</a:t>
            </a:r>
            <a:endParaRPr lang="en-US" sz="1400" dirty="0"/>
          </a:p>
        </p:txBody>
      </p:sp>
      <p:sp>
        <p:nvSpPr>
          <p:cNvPr id="3" name="Text 1"/>
          <p:cNvSpPr/>
          <p:nvPr/>
        </p:nvSpPr>
        <p:spPr>
          <a:xfrm>
            <a:off x="640080" y="1188720"/>
            <a:ext cx="10972800" cy="22860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Det här </a:t>
            </a:r>
            <a:pPr indent="0" marL="0">
              <a:buNone/>
            </a:pPr>
            <a:r>
              <a:rPr lang="en-US" sz="4800" b="1" dirty="0">
                <a:solidFill>
                  <a:srgbClr val="FF3366"/>
                </a:solidFill>
                <a:latin typeface="Arial" pitchFamily="34" charset="0"/>
                <a:ea typeface="Arial" pitchFamily="34" charset="-122"/>
                <a:cs typeface="Arial" pitchFamily="34" charset="-120"/>
              </a:rPr>
              <a:t>är inte</a:t>
            </a:r>
            <a:pPr indent="0" marL="0">
              <a:buNone/>
            </a:pPr>
            <a:endParaRPr lang="en-US" sz="4800" dirty="0"/>
          </a:p>
          <a:p>
            <a:pPr indent="0" marL="0">
              <a:buNone/>
            </a:pPr>
            <a:r>
              <a:rPr lang="en-US" sz="4800" b="1" i="1" dirty="0">
                <a:solidFill>
                  <a:srgbClr val="FFFFFF"/>
                </a:solidFill>
                <a:latin typeface="Arial" pitchFamily="34" charset="0"/>
                <a:ea typeface="Arial" pitchFamily="34" charset="-122"/>
                <a:cs typeface="Arial" pitchFamily="34" charset="-120"/>
              </a:rPr>
              <a:t>en weekend med farsan.</a:t>
            </a:r>
            <a:endParaRPr lang="en-US" sz="4800" dirty="0"/>
          </a:p>
        </p:txBody>
      </p:sp>
      <p:sp>
        <p:nvSpPr>
          <p:cNvPr id="4" name="Text 2"/>
          <p:cNvSpPr/>
          <p:nvPr/>
        </p:nvSpPr>
        <p:spPr>
          <a:xfrm>
            <a:off x="640080" y="3931920"/>
            <a:ext cx="10972800" cy="2743200"/>
          </a:xfrm>
          <a:prstGeom prst="rect">
            <a:avLst/>
          </a:prstGeom>
          <a:noFill/>
          <a:ln/>
        </p:spPr>
        <p:txBody>
          <a:bodyPr wrap="square" lIns="0" tIns="0" rIns="0" bIns="0" rtlCol="0" anchor="ctr"/>
          <a:lstStyle/>
          <a:p>
            <a:pPr indent="0" marL="0">
              <a:spcAft>
                <a:spcPts val="400"/>
              </a:spcAft>
              <a:buNone/>
            </a:pPr>
            <a:r>
              <a:rPr lang="en-US" sz="1800" dirty="0">
                <a:solidFill>
                  <a:srgbClr val="9CA3AF"/>
                </a:solidFill>
                <a:latin typeface="Arial" pitchFamily="34" charset="0"/>
                <a:ea typeface="Arial" pitchFamily="34" charset="-122"/>
                <a:cs typeface="Arial" pitchFamily="34" charset="-120"/>
              </a:rPr>
              <a:t>Glöm Place de la Comédie. Glöm guidad rundvandring i medeltidsgränder.</a:t>
            </a:r>
            <a:endParaRPr lang="en-US" sz="1800" dirty="0"/>
          </a:p>
          <a:p>
            <a:pPr indent="0" marL="0">
              <a:spcAft>
                <a:spcPts val="400"/>
              </a:spcAft>
              <a:buNone/>
            </a:pPr>
            <a:r>
              <a:rPr lang="en-US" sz="1800" dirty="0">
                <a:solidFill>
                  <a:srgbClr val="9CA3AF"/>
                </a:solidFill>
                <a:latin typeface="Arial" pitchFamily="34" charset="0"/>
                <a:ea typeface="Arial" pitchFamily="34" charset="-122"/>
                <a:cs typeface="Arial" pitchFamily="34" charset="-120"/>
              </a:rPr>
              <a:t>Glöm "den charmiga akvedukten".</a:t>
            </a:r>
            <a:endParaRPr lang="en-US" sz="1800" dirty="0"/>
          </a:p>
          <a:p>
            <a:pPr indent="0" marL="0">
              <a:spcAft>
                <a:spcPts val="400"/>
              </a:spcAft>
              <a:buNone/>
            </a:pPr>
            <a:endParaRPr lang="en-US" sz="1800" dirty="0"/>
          </a:p>
          <a:p>
            <a:pPr indent="0" marL="0">
              <a:spcAft>
                <a:spcPts val="400"/>
              </a:spcAft>
              <a:buNone/>
            </a:pPr>
            <a:r>
              <a:rPr lang="en-US" sz="2000" b="1" dirty="0">
                <a:solidFill>
                  <a:srgbClr val="FFFFFF"/>
                </a:solidFill>
                <a:latin typeface="Arial" pitchFamily="34" charset="0"/>
                <a:ea typeface="Arial" pitchFamily="34" charset="-122"/>
                <a:cs typeface="Arial" pitchFamily="34" charset="-120"/>
              </a:rPr>
              <a:t>Det här är 14 dagar i en sjudande studentstad i Sydfrankrike,</a:t>
            </a:r>
            <a:endParaRPr lang="en-US" sz="1800" dirty="0"/>
          </a:p>
          <a:p>
            <a:pPr indent="0" marL="0">
              <a:spcAft>
                <a:spcPts val="400"/>
              </a:spcAft>
              <a:buNone/>
            </a:pPr>
            <a:r>
              <a:rPr lang="en-US" sz="2000" b="1" dirty="0">
                <a:solidFill>
                  <a:srgbClr val="FFFFFF"/>
                </a:solidFill>
                <a:latin typeface="Arial" pitchFamily="34" charset="0"/>
                <a:ea typeface="Arial" pitchFamily="34" charset="-122"/>
                <a:cs typeface="Arial" pitchFamily="34" charset="-120"/>
              </a:rPr>
              <a:t>30 minuter från Medelhavet och 25 från en av Frankrikes vildaste flodkanjoner.</a:t>
            </a:r>
            <a:endParaRPr lang="en-US" sz="1800" dirty="0"/>
          </a:p>
          <a:p>
            <a:pPr indent="0" marL="0">
              <a:spcAft>
                <a:spcPts val="400"/>
              </a:spcAft>
              <a:buNone/>
            </a:pPr>
            <a:endParaRPr lang="en-US" sz="1800" dirty="0"/>
          </a:p>
          <a:p>
            <a:pPr indent="0" marL="0">
              <a:spcAft>
                <a:spcPts val="400"/>
              </a:spcAft>
              <a:buNone/>
            </a:pPr>
            <a:r>
              <a:rPr lang="en-US" sz="2200" b="1" i="1" dirty="0">
                <a:solidFill>
                  <a:srgbClr val="B8FF00"/>
                </a:solidFill>
                <a:latin typeface="Arial" pitchFamily="34" charset="0"/>
                <a:ea typeface="Arial" pitchFamily="34" charset="-122"/>
                <a:cs typeface="Arial" pitchFamily="34" charset="-120"/>
              </a:rPr>
              <a:t>Här är vad ni faktiskt borde göra.</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00D9FF"/>
                </a:solidFill>
                <a:latin typeface="Arial Black" pitchFamily="34" charset="0"/>
                <a:ea typeface="Arial Black" pitchFamily="34" charset="-122"/>
                <a:cs typeface="Arial Black" pitchFamily="34" charset="-120"/>
              </a:rPr>
              <a:t>#01</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00D9FF"/>
                </a:solidFill>
                <a:latin typeface="Arial" pitchFamily="34" charset="0"/>
                <a:ea typeface="Arial" pitchFamily="34" charset="-122"/>
                <a:cs typeface="Arial" pitchFamily="34" charset="-120"/>
              </a:rPr>
              <a:t>FLOD · KANJON · 30 MIN BORT</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Kajaka i Hérault-kanjonen</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Hyr kajak vid Saint-Guilhem och paddla genom en av södra Frankrikes vildaste flodkanjoner. Klippväggar reser sig 200 meter rakt upp, vattnet är iskallt även i juli, och halvvägs ner finns en flytande bar. Det här är 100 procent inte ett museum.</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Canoe Borg eller Kayak Tribu, boka morgon, var där 09.30</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4-15 km, ni väljer nivå (15 km = riktig dag, 5 timmar)</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Hopp från klipporna längs vägen, alla gör det</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Lunch på flytande baren mitt i kanjonen är obligatoriskt</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00D9FF"/>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00D9FF"/>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20-30 € per person, hela paketet</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00D9FF"/>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00D9FF"/>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Adrenalin + ölburkar i kylväskan</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FF3366"/>
                </a:solidFill>
                <a:latin typeface="Arial Black" pitchFamily="34" charset="0"/>
                <a:ea typeface="Arial Black" pitchFamily="34" charset="-122"/>
                <a:cs typeface="Arial Black" pitchFamily="34" charset="-120"/>
              </a:rPr>
              <a:t>#02</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FF3366"/>
                </a:solidFill>
                <a:latin typeface="Arial" pitchFamily="34" charset="0"/>
                <a:ea typeface="Arial" pitchFamily="34" charset="-122"/>
                <a:cs typeface="Arial" pitchFamily="34" charset="-120"/>
              </a:rPr>
              <a:t>ROOFTOP · POOL · DJ</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Nonna Gioia rooftop</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Italiensk rooftop ovanpå hotell JOST i centrala Montpellier. 360-graders utsikt över hela stan, glittrande pool, spritz i handen, DJ som pumpar Mediterranean house när solen går ner. Detta är platsen ni postar Instagram från, inte den 800-åriga akvedukten.</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Tram 1 till Comédie + 5 min, öppet bara på sommaren</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Spritz cirka 12 €, snacks 8-15 €</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Sätt nivå tidigt: 18.30 för solnedgången, 21 för DJ-set</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Klädsel smart casual men chill, inga pro-tips behövs</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FF3366"/>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3366"/>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30-50 € per person för en kväll med drinkar</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FF3366"/>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3366"/>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Italienska rivieran möter techno</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B8FF00"/>
                </a:solidFill>
                <a:latin typeface="Arial Black" pitchFamily="34" charset="0"/>
                <a:ea typeface="Arial Black" pitchFamily="34" charset="-122"/>
                <a:cs typeface="Arial Black" pitchFamily="34" charset="-120"/>
              </a:rPr>
              <a:t>#03</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B8FF00"/>
                </a:solidFill>
                <a:latin typeface="Arial" pitchFamily="34" charset="0"/>
                <a:ea typeface="Arial" pitchFamily="34" charset="-122"/>
                <a:cs typeface="Arial" pitchFamily="34" charset="-120"/>
              </a:rPr>
              <a:t>MARKNAD · GATUMAT · DJ</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Marché du Lez</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Industrial-chic marknadshall vid floden Lez. På dagen flea market, vintage, hipster-shopping. På kvällen blir det streetfood-paradis med fyra olika rooftops på samma tak. Toi Toit Mon Toit kör asiatisk fusion, Coyot Bar har Tex-Mex och DJs nästan varje kväll, Muchacha kör latinamerikanskt.</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Tram 3 till Rives du Lez + 5 min till fots</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Streetfood 8-15 € per rätt, drinkar 8-12 €</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Söndagsbrunch på Marché du Lez är legendarisk</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Vid sidan: kreativa butiker, gallerier, second hand</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B8FF00"/>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B8FF00"/>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20-40 € per person för en hel kväll</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B8FF00"/>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B8FF00"/>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Berlin men i Sydfrankrike</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FFD60A"/>
                </a:solidFill>
                <a:latin typeface="Arial Black" pitchFamily="34" charset="0"/>
                <a:ea typeface="Arial Black" pitchFamily="34" charset="-122"/>
                <a:cs typeface="Arial Black" pitchFamily="34" charset="-120"/>
              </a:rPr>
              <a:t>#04</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FFD60A"/>
                </a:solidFill>
                <a:latin typeface="Arial" pitchFamily="34" charset="0"/>
                <a:ea typeface="Arial" pitchFamily="34" charset="-122"/>
                <a:cs typeface="Arial" pitchFamily="34" charset="-120"/>
              </a:rPr>
              <a:t>STRAND · BUSS · GRATIS</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Plage du Grand Travers</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Glöm Palavas. Grand Travers är en 8 km lång oexploaterad sandstrand mellan La Grande-Motte och Carnon, omgiven av sanddyner istället för betongbyggnader. Ren strand, stora vågor när det blåser, beach bars med bra musik och solsängar man kan hyra för en eftermiddag.</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Tram 3 till Étang de l'Or + buss 633 direkt till stranden</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Helt gratis strand, solsäng + parasoll cirka 15 € halvdag</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Beach club Effet Mer eller Le Soleil för drink-pauser</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Surfa lite när vinden ligger på, eller bara hänga</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FFD60A"/>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D60A"/>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Resa 7 € t/r, drinkar och mat på plats</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FFD60A"/>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D60A"/>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Tulum-vibes utan flygresa</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B026FF"/>
                </a:solidFill>
                <a:latin typeface="Arial Black" pitchFamily="34" charset="0"/>
                <a:ea typeface="Arial Black" pitchFamily="34" charset="-122"/>
                <a:cs typeface="Arial Black" pitchFamily="34" charset="-120"/>
              </a:rPr>
              <a:t>#05</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B026FF"/>
                </a:solidFill>
                <a:latin typeface="Arial" pitchFamily="34" charset="0"/>
                <a:ea typeface="Arial" pitchFamily="34" charset="-122"/>
                <a:cs typeface="Arial" pitchFamily="34" charset="-120"/>
              </a:rPr>
              <a:t>TEKNO · UNDERGROUND · LIVE</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Rockstore + L'Antirouille</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Två klubbar för olika nätter. Le Rockstore är ikoniskt, gammal kyrka som blivit musikhall med en Cadillac upphängd över entrén. Spelningar och DJ-kvällar, ofta indie och rock. L'Antirouille är underground-klubben för techno, hip-hop, electro. Här går de som vet vad de vill ha.</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Rockstore: Rue de Verdun, öppet onsdag-lördag från 18 till 06</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L'Antirouille: vägen till Lattes, mer underground tekno-stuk</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Inträde oftast 5-15 €, ölen runt 7 €</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Frankrike: festen börjar sent, klubbarna fylls efter midnatt</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B026FF"/>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B026FF"/>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30-60 € per person inklusive drinkar</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B026FF"/>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B026FF"/>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Rockstore för rock, Antirouille för techno</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FF6B1A"/>
                </a:solidFill>
                <a:latin typeface="Arial Black" pitchFamily="34" charset="0"/>
                <a:ea typeface="Arial Black" pitchFamily="34" charset="-122"/>
                <a:cs typeface="Arial Black" pitchFamily="34" charset="-120"/>
              </a:rPr>
              <a:t>#06</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FF6B1A"/>
                </a:solidFill>
                <a:latin typeface="Arial" pitchFamily="34" charset="0"/>
                <a:ea typeface="Arial" pitchFamily="34" charset="-122"/>
                <a:cs typeface="Arial" pitchFamily="34" charset="-120"/>
              </a:rPr>
              <a:t>VIN · HUSHÅLL · LOKAL FAMILJ</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Pic Saint-Loup wine tour</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Bertrand Bosc kör en wine tour på sin lokala hemmaplan i Pic Saint-Loup-regionen. Småskalig, max 8 personer, två vingårdar och sen lunch hemma hos hans mamma som lagar mat från grunden. Det här är inte en turistgrej, det är en söndag i Languedoc med en familj som bor där. Får ni rikt-grandmother-energi, vin för dagar och en historia att berätta.</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Bokas via Viator eller GetYourGuide, från Boulevard Sarrail</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Halvdag eller heldag, lunch betalas separat 30 € per pers</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Bertrand pratar bra engelska, tonen är laidback och kul</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Tar er till två vingårdar i bergen, inga turistflockar</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FF6B1A"/>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6B1A"/>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70-100 € per person inklusive lunch</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FF6B1A"/>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6B1A"/>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Vin med folk som faktiskt gör det</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00D9FF"/>
                </a:solidFill>
                <a:latin typeface="Arial Black" pitchFamily="34" charset="0"/>
                <a:ea typeface="Arial Black" pitchFamily="34" charset="-122"/>
                <a:cs typeface="Arial Black" pitchFamily="34" charset="-120"/>
              </a:rPr>
              <a:t>#07</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00D9FF"/>
                </a:solidFill>
                <a:latin typeface="Arial" pitchFamily="34" charset="0"/>
                <a:ea typeface="Arial" pitchFamily="34" charset="-122"/>
                <a:cs typeface="Arial" pitchFamily="34" charset="-120"/>
              </a:rPr>
              <a:t>DAGSTUR · MEDELTID · BAD</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Pont du Diable + klippdyk</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UNESCO-listad romersk bro över Hérault-floden, men det riktigt galna är att hela kanjonen runt är simbar. Klipporna runt bron används av lokala unga för att hoppa, vattnet är djupt och iskallt. Hela dagen på en av de vackraste platserna i regionen, helt gratis utöver bussen dit.</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Tram 1 till Mosson + buss 668, sommartid också på söndagar</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Ta med matsäck och dricka, lite skugga finns</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Klipphopp 3-8 meter beroende var ni hoppar</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Kan kombineras med Saint-Guilhem-byn 10 min bort</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00D9FF"/>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00D9FF"/>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Buss 6 € t/r, resten gratis</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00D9FF"/>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00D9FF"/>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Som ett naturbadhus från en filmscen</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FF3366"/>
                </a:solidFill>
                <a:latin typeface="Arial Black" pitchFamily="34" charset="0"/>
                <a:ea typeface="Arial Black" pitchFamily="34" charset="-122"/>
                <a:cs typeface="Arial Black" pitchFamily="34" charset="-120"/>
              </a:rPr>
              <a:t>#08</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FF3366"/>
                </a:solidFill>
                <a:latin typeface="Arial" pitchFamily="34" charset="0"/>
                <a:ea typeface="Arial" pitchFamily="34" charset="-122"/>
                <a:cs typeface="Arial" pitchFamily="34" charset="-120"/>
              </a:rPr>
              <a:t>LIVE · STRAND · KLUBB</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La Dune Club, La Grande-Motte</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Sydfrankrikes legendariska beach club, öppen sedan 90-talet. Ligger i La Grande-Motte, 30 min från Montpellier. Världs-DJs som Eric Prydz, Justice, Armand Van Helden roterar genom säsongen. Stranddansgolv, drinkar tills solen går upp. För en speciell kväll, kolla deras line-up när ni är där.</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Tram + buss, eller taxi/Uber dit cirka 30 €</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Inträde 10-25 € beroende på DJ, ofta förköp online</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Drinkar runt 10-12 €</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Sista hemvägen blir taxi, kolla budget innan natten</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FF3366"/>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3366"/>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60-100 € per person, beroende på DJ</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FF3366"/>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3366"/>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Ibiza-energi men utan flyget</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B8FF00"/>
                </a:solidFill>
                <a:latin typeface="Arial Black" pitchFamily="34" charset="0"/>
                <a:ea typeface="Arial Black" pitchFamily="34" charset="-122"/>
                <a:cs typeface="Arial Black" pitchFamily="34" charset="-120"/>
              </a:rPr>
              <a:t>#09</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B8FF00"/>
                </a:solidFill>
                <a:latin typeface="Arial" pitchFamily="34" charset="0"/>
                <a:ea typeface="Arial" pitchFamily="34" charset="-122"/>
                <a:cs typeface="Arial" pitchFamily="34" charset="-120"/>
              </a:rPr>
              <a:t>LJUSGRÄNS · CYKEL · HAV</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Lez-flodens cykelväg till havet</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Hyr cyklar via Vélomagg och cykla 10 km längs Lez-floden från staden ner till havet. Platt, asfalterat, mest skuggigt. Slutar i Palavas eller om ni fortsätter ut till Carnon eller Grand Travers. Solnedgång hem genom vinodlingar, sen middag någonstans i Antigone. Helt gratis (eller nästan).</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Vélomagg har 7-dagarspass för riktigt billigt, hyr en gång</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Solnedgång från cykeln längs Lez är värt det ensamt</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Stannvid Domaine de Méric för paus i skuggan</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Kan kombineras med strand och hemvägen i mörkret</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B8FF00"/>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B8FF00"/>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Cykelpass cirka 7 € för 7 dagar</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B8FF00"/>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B8FF00"/>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Solnedgång på två hjul</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457200"/>
            <a:ext cx="2743200" cy="914400"/>
          </a:xfrm>
          <a:prstGeom prst="rect">
            <a:avLst/>
          </a:prstGeom>
          <a:noFill/>
          <a:ln/>
        </p:spPr>
        <p:txBody>
          <a:bodyPr wrap="square" lIns="0" tIns="0" rIns="0" bIns="0" rtlCol="0" anchor="ctr"/>
          <a:lstStyle/>
          <a:p>
            <a:pPr indent="0" marL="0">
              <a:buNone/>
            </a:pPr>
            <a:r>
              <a:rPr lang="en-US" sz="6400" b="1" dirty="0">
                <a:solidFill>
                  <a:srgbClr val="FF6B1A"/>
                </a:solidFill>
                <a:latin typeface="Arial Black" pitchFamily="34" charset="0"/>
                <a:ea typeface="Arial Black" pitchFamily="34" charset="-122"/>
                <a:cs typeface="Arial Black" pitchFamily="34" charset="-120"/>
              </a:rPr>
              <a:t>#10</a:t>
            </a:r>
            <a:endParaRPr lang="en-US" sz="6400" dirty="0"/>
          </a:p>
        </p:txBody>
      </p:sp>
      <p:sp>
        <p:nvSpPr>
          <p:cNvPr id="3" name="Text 1"/>
          <p:cNvSpPr/>
          <p:nvPr/>
        </p:nvSpPr>
        <p:spPr>
          <a:xfrm>
            <a:off x="640080" y="1463040"/>
            <a:ext cx="5029200" cy="365760"/>
          </a:xfrm>
          <a:prstGeom prst="rect">
            <a:avLst/>
          </a:prstGeom>
          <a:noFill/>
          <a:ln/>
        </p:spPr>
        <p:txBody>
          <a:bodyPr wrap="square" lIns="0" tIns="0" rIns="0" bIns="0" rtlCol="0" anchor="ctr"/>
          <a:lstStyle/>
          <a:p>
            <a:pPr indent="0" marL="0">
              <a:buNone/>
            </a:pPr>
            <a:r>
              <a:rPr lang="en-US" sz="1200" b="1" spc="600" kern="0" dirty="0">
                <a:solidFill>
                  <a:srgbClr val="FF6B1A"/>
                </a:solidFill>
                <a:latin typeface="Arial" pitchFamily="34" charset="0"/>
                <a:ea typeface="Arial" pitchFamily="34" charset="-122"/>
                <a:cs typeface="Arial" pitchFamily="34" charset="-120"/>
              </a:rPr>
              <a:t>MAT · MARKNAD · LOKAL</a:t>
            </a:r>
            <a:endParaRPr lang="en-US" sz="1200" dirty="0"/>
          </a:p>
        </p:txBody>
      </p:sp>
      <p:sp>
        <p:nvSpPr>
          <p:cNvPr id="4" name="Text 2"/>
          <p:cNvSpPr/>
          <p:nvPr/>
        </p:nvSpPr>
        <p:spPr>
          <a:xfrm>
            <a:off x="640080" y="1828800"/>
            <a:ext cx="10515600" cy="1280160"/>
          </a:xfrm>
          <a:prstGeom prst="rect">
            <a:avLst/>
          </a:prstGeom>
          <a:noFill/>
          <a:ln/>
        </p:spPr>
        <p:txBody>
          <a:bodyPr wrap="square" lIns="0" tIns="0" rIns="0" bIns="0"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Halles du Lez söndagsbrunch</a:t>
            </a:r>
            <a:endParaRPr lang="en-US" sz="4800" dirty="0"/>
          </a:p>
        </p:txBody>
      </p:sp>
      <p:sp>
        <p:nvSpPr>
          <p:cNvPr id="5" name="Text 3"/>
          <p:cNvSpPr/>
          <p:nvPr/>
        </p:nvSpPr>
        <p:spPr>
          <a:xfrm>
            <a:off x="640080" y="3200400"/>
            <a:ext cx="10515600" cy="1280160"/>
          </a:xfrm>
          <a:prstGeom prst="rect">
            <a:avLst/>
          </a:prstGeom>
          <a:noFill/>
          <a:ln/>
        </p:spPr>
        <p:txBody>
          <a:bodyPr wrap="square" lIns="0" tIns="0" rIns="0" bIns="0" rtlCol="0" anchor="t"/>
          <a:lstStyle/>
          <a:p>
            <a:pPr indent="0" marL="0">
              <a:buNone/>
            </a:pPr>
            <a:r>
              <a:rPr lang="en-US" sz="1600" dirty="0">
                <a:solidFill>
                  <a:srgbClr val="9CA3AF"/>
                </a:solidFill>
                <a:latin typeface="Arial" pitchFamily="34" charset="0"/>
                <a:ea typeface="Arial" pitchFamily="34" charset="-122"/>
                <a:cs typeface="Arial" pitchFamily="34" charset="-120"/>
              </a:rPr>
              <a:t>Söndagsbrunch på Marché du Lez. Ostron, vit vin, charkuteri, ostar, oliver, brunch-skålar. Lokala band spelar ibland. Ni vandrar mellan stånden, plockar grejer, hittar en plats vid floden, hänger 2-3 timmar. En av Montpelliers absoluta höjdpunkter på söndagar.</a:t>
            </a:r>
            <a:endParaRPr lang="en-US" sz="1600" dirty="0"/>
          </a:p>
        </p:txBody>
      </p:sp>
      <p:sp>
        <p:nvSpPr>
          <p:cNvPr id="6" name="Text 4"/>
          <p:cNvSpPr/>
          <p:nvPr/>
        </p:nvSpPr>
        <p:spPr>
          <a:xfrm>
            <a:off x="640080" y="4572000"/>
            <a:ext cx="10515600" cy="109728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Söndagar mellan 10 och 14 är peak-tiden</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Räkna med 15-25 € per person beroende på vad ni plockar</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Vinet är lokalt och billigt, ostronen färska från etangerna</a:t>
            </a:r>
            <a:endParaRPr lang="en-US" sz="1400" dirty="0"/>
          </a:p>
          <a:p>
            <a:pPr marL="342900" indent="-342900">
              <a:spcAft>
                <a:spcPts val="400"/>
              </a:spcAft>
              <a:buSzPct val="100000"/>
              <a:buChar char="▶"/>
            </a:pPr>
            <a:r>
              <a:rPr lang="en-US" sz="1400" dirty="0">
                <a:solidFill>
                  <a:srgbClr val="FFFFFF"/>
                </a:solidFill>
                <a:latin typeface="Arial" pitchFamily="34" charset="0"/>
                <a:ea typeface="Arial" pitchFamily="34" charset="-122"/>
                <a:cs typeface="Arial" pitchFamily="34" charset="-120"/>
              </a:rPr>
              <a:t>Bra start på en lugn söndag innan strand eller siesta</a:t>
            </a:r>
            <a:endParaRPr lang="en-US" sz="1400" dirty="0"/>
          </a:p>
        </p:txBody>
      </p:sp>
      <p:sp>
        <p:nvSpPr>
          <p:cNvPr id="7" name="Shape 5"/>
          <p:cNvSpPr/>
          <p:nvPr/>
        </p:nvSpPr>
        <p:spPr>
          <a:xfrm>
            <a:off x="640080" y="5760720"/>
            <a:ext cx="5394960" cy="640080"/>
          </a:xfrm>
          <a:prstGeom prst="rect">
            <a:avLst/>
          </a:prstGeom>
          <a:solidFill>
            <a:srgbClr val="1F1F26"/>
          </a:solidFill>
          <a:ln w="25400">
            <a:solidFill>
              <a:srgbClr val="FF6B1A"/>
            </a:solidFill>
            <a:prstDash val="solid"/>
          </a:ln>
        </p:spPr>
      </p:sp>
      <p:sp>
        <p:nvSpPr>
          <p:cNvPr id="8" name="Text 6"/>
          <p:cNvSpPr/>
          <p:nvPr/>
        </p:nvSpPr>
        <p:spPr>
          <a:xfrm>
            <a:off x="86868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6B1A"/>
                </a:solidFill>
                <a:latin typeface="Arial" pitchFamily="34" charset="0"/>
                <a:ea typeface="Arial" pitchFamily="34" charset="-122"/>
                <a:cs typeface="Arial" pitchFamily="34" charset="-120"/>
              </a:rPr>
              <a:t>BUDGET</a:t>
            </a:r>
            <a:endParaRPr lang="en-US" sz="900" dirty="0"/>
          </a:p>
        </p:txBody>
      </p:sp>
      <p:sp>
        <p:nvSpPr>
          <p:cNvPr id="9" name="Text 7"/>
          <p:cNvSpPr/>
          <p:nvPr/>
        </p:nvSpPr>
        <p:spPr>
          <a:xfrm>
            <a:off x="86868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20-30 € per person för full upplevelse</a:t>
            </a:r>
            <a:endParaRPr lang="en-US" sz="1400" dirty="0"/>
          </a:p>
        </p:txBody>
      </p:sp>
      <p:sp>
        <p:nvSpPr>
          <p:cNvPr id="10" name="Shape 8"/>
          <p:cNvSpPr/>
          <p:nvPr/>
        </p:nvSpPr>
        <p:spPr>
          <a:xfrm>
            <a:off x="6217920" y="5760720"/>
            <a:ext cx="5394960" cy="640080"/>
          </a:xfrm>
          <a:prstGeom prst="rect">
            <a:avLst/>
          </a:prstGeom>
          <a:solidFill>
            <a:srgbClr val="1F1F26"/>
          </a:solidFill>
          <a:ln w="25400">
            <a:solidFill>
              <a:srgbClr val="FF6B1A"/>
            </a:solidFill>
            <a:prstDash val="solid"/>
          </a:ln>
        </p:spPr>
      </p:sp>
      <p:sp>
        <p:nvSpPr>
          <p:cNvPr id="11" name="Text 9"/>
          <p:cNvSpPr/>
          <p:nvPr/>
        </p:nvSpPr>
        <p:spPr>
          <a:xfrm>
            <a:off x="6446520" y="5806440"/>
            <a:ext cx="1828800" cy="228600"/>
          </a:xfrm>
          <a:prstGeom prst="rect">
            <a:avLst/>
          </a:prstGeom>
          <a:noFill/>
          <a:ln/>
        </p:spPr>
        <p:txBody>
          <a:bodyPr wrap="square" lIns="0" tIns="0" rIns="0" bIns="0" rtlCol="0" anchor="ctr"/>
          <a:lstStyle/>
          <a:p>
            <a:pPr indent="0" marL="0">
              <a:buNone/>
            </a:pPr>
            <a:r>
              <a:rPr lang="en-US" sz="900" b="1" spc="400" kern="0" dirty="0">
                <a:solidFill>
                  <a:srgbClr val="FF6B1A"/>
                </a:solidFill>
                <a:latin typeface="Arial" pitchFamily="34" charset="0"/>
                <a:ea typeface="Arial" pitchFamily="34" charset="-122"/>
                <a:cs typeface="Arial" pitchFamily="34" charset="-120"/>
              </a:rPr>
              <a:t>VIBE</a:t>
            </a:r>
            <a:endParaRPr lang="en-US" sz="900" dirty="0"/>
          </a:p>
        </p:txBody>
      </p:sp>
      <p:sp>
        <p:nvSpPr>
          <p:cNvPr id="12" name="Text 10"/>
          <p:cNvSpPr/>
          <p:nvPr/>
        </p:nvSpPr>
        <p:spPr>
          <a:xfrm>
            <a:off x="6446520" y="6035040"/>
            <a:ext cx="50292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Långsam söndag som faktiskt är kul</a:t>
            </a:r>
            <a:endParaRPr lang="en-US" sz="1400" dirty="0"/>
          </a:p>
        </p:txBody>
      </p:sp>
      <p:pic>
        <p:nvPicPr>
          <p:cNvPr id="13" name="Image 0" descr="preencoded.png">    </p:cNvPr>
          <p:cNvPicPr>
            <a:picLocks noChangeAspect="1"/>
          </p:cNvPicPr>
          <p:nvPr/>
        </p:nvPicPr>
        <p:blipFill>
          <a:blip r:embed="rId1"/>
          <a:stretch>
            <a:fillRect/>
          </a:stretch>
        </p:blipFill>
        <p:spPr>
          <a:xfrm>
            <a:off x="10881360" y="548640"/>
            <a:ext cx="731520" cy="731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640080"/>
            <a:ext cx="10972800" cy="457200"/>
          </a:xfrm>
          <a:prstGeom prst="rect">
            <a:avLst/>
          </a:prstGeom>
          <a:noFill/>
          <a:ln/>
        </p:spPr>
        <p:txBody>
          <a:bodyPr wrap="square" lIns="0" tIns="0" rIns="0" bIns="0" rtlCol="0" anchor="ctr"/>
          <a:lstStyle/>
          <a:p>
            <a:pPr indent="0" marL="0">
              <a:buNone/>
            </a:pPr>
            <a:r>
              <a:rPr lang="en-US" sz="1400" b="1" spc="800" kern="0" dirty="0">
                <a:solidFill>
                  <a:srgbClr val="00D9FF"/>
                </a:solidFill>
                <a:latin typeface="Arial" pitchFamily="34" charset="0"/>
                <a:ea typeface="Arial" pitchFamily="34" charset="-122"/>
                <a:cs typeface="Arial" pitchFamily="34" charset="-120"/>
              </a:rPr>
              <a:t>STRATEGI FÖR EN BRA KVÄLL</a:t>
            </a:r>
            <a:endParaRPr lang="en-US" sz="1400" dirty="0"/>
          </a:p>
        </p:txBody>
      </p:sp>
      <p:sp>
        <p:nvSpPr>
          <p:cNvPr id="3" name="Text 1"/>
          <p:cNvSpPr/>
          <p:nvPr/>
        </p:nvSpPr>
        <p:spPr>
          <a:xfrm>
            <a:off x="640080" y="118872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Så funkar en kväll i </a:t>
            </a:r>
            <a:pPr indent="0" marL="0">
              <a:buNone/>
            </a:pPr>
            <a:r>
              <a:rPr lang="en-US" sz="4400" b="1" dirty="0">
                <a:solidFill>
                  <a:srgbClr val="FF3366"/>
                </a:solidFill>
                <a:latin typeface="Arial" pitchFamily="34" charset="0"/>
                <a:ea typeface="Arial" pitchFamily="34" charset="-122"/>
                <a:cs typeface="Arial" pitchFamily="34" charset="-120"/>
              </a:rPr>
              <a:t>Frankrike</a:t>
            </a:r>
            <a:endParaRPr lang="en-US" sz="4400" dirty="0"/>
          </a:p>
        </p:txBody>
      </p:sp>
      <p:sp>
        <p:nvSpPr>
          <p:cNvPr id="4" name="Text 2"/>
          <p:cNvSpPr/>
          <p:nvPr/>
        </p:nvSpPr>
        <p:spPr>
          <a:xfrm>
            <a:off x="640080" y="2194560"/>
            <a:ext cx="10972800" cy="457200"/>
          </a:xfrm>
          <a:prstGeom prst="rect">
            <a:avLst/>
          </a:prstGeom>
          <a:noFill/>
          <a:ln/>
        </p:spPr>
        <p:txBody>
          <a:bodyPr wrap="square" lIns="0" tIns="0" rIns="0" bIns="0" rtlCol="0" anchor="ctr"/>
          <a:lstStyle/>
          <a:p>
            <a:pPr indent="0" marL="0">
              <a:buNone/>
            </a:pPr>
            <a:r>
              <a:rPr lang="en-US" sz="1600" i="1" dirty="0">
                <a:solidFill>
                  <a:srgbClr val="9CA3AF"/>
                </a:solidFill>
                <a:latin typeface="Arial" pitchFamily="34" charset="0"/>
                <a:ea typeface="Arial" pitchFamily="34" charset="-122"/>
                <a:cs typeface="Arial" pitchFamily="34" charset="-120"/>
              </a:rPr>
              <a:t>Det här är inte Sverige. Festen börjar inte 22 och slutar 02. Ni behöver omkalibrera.</a:t>
            </a:r>
            <a:endParaRPr lang="en-US" sz="1600" dirty="0"/>
          </a:p>
        </p:txBody>
      </p:sp>
      <p:sp>
        <p:nvSpPr>
          <p:cNvPr id="5" name="Shape 3"/>
          <p:cNvSpPr/>
          <p:nvPr/>
        </p:nvSpPr>
        <p:spPr>
          <a:xfrm>
            <a:off x="640080" y="3108960"/>
            <a:ext cx="1783080" cy="2743200"/>
          </a:xfrm>
          <a:prstGeom prst="rect">
            <a:avLst/>
          </a:prstGeom>
          <a:solidFill>
            <a:srgbClr val="1F1F26"/>
          </a:solidFill>
          <a:ln w="12700">
            <a:solidFill>
              <a:srgbClr val="2A2A33"/>
            </a:solidFill>
            <a:prstDash val="solid"/>
          </a:ln>
        </p:spPr>
      </p:sp>
      <p:sp>
        <p:nvSpPr>
          <p:cNvPr id="6" name="Shape 4"/>
          <p:cNvSpPr/>
          <p:nvPr/>
        </p:nvSpPr>
        <p:spPr>
          <a:xfrm>
            <a:off x="640080" y="3108960"/>
            <a:ext cx="1783080" cy="457200"/>
          </a:xfrm>
          <a:prstGeom prst="rect">
            <a:avLst/>
          </a:prstGeom>
          <a:solidFill>
            <a:srgbClr val="FFD60A"/>
          </a:solidFill>
          <a:ln w="12700">
            <a:solidFill>
              <a:srgbClr val="FFD60A"/>
            </a:solidFill>
            <a:prstDash val="solid"/>
          </a:ln>
        </p:spPr>
      </p:sp>
      <p:sp>
        <p:nvSpPr>
          <p:cNvPr id="7" name="Text 5"/>
          <p:cNvSpPr/>
          <p:nvPr/>
        </p:nvSpPr>
        <p:spPr>
          <a:xfrm>
            <a:off x="640080" y="3108960"/>
            <a:ext cx="1783080" cy="457200"/>
          </a:xfrm>
          <a:prstGeom prst="rect">
            <a:avLst/>
          </a:prstGeom>
          <a:noFill/>
          <a:ln/>
        </p:spPr>
        <p:txBody>
          <a:bodyPr wrap="square" lIns="0" tIns="0" rIns="0" bIns="0" rtlCol="0" anchor="ctr"/>
          <a:lstStyle/>
          <a:p>
            <a:pPr algn="ctr" indent="0" marL="0">
              <a:buNone/>
            </a:pPr>
            <a:r>
              <a:rPr lang="en-US" sz="1400" b="1" dirty="0">
                <a:solidFill>
                  <a:srgbClr val="0E0E10"/>
                </a:solidFill>
                <a:latin typeface="Arial Black" pitchFamily="34" charset="0"/>
                <a:ea typeface="Arial Black" pitchFamily="34" charset="-122"/>
                <a:cs typeface="Arial Black" pitchFamily="34" charset="-120"/>
              </a:rPr>
              <a:t>18-19</a:t>
            </a:r>
            <a:endParaRPr lang="en-US" sz="1400" dirty="0"/>
          </a:p>
        </p:txBody>
      </p:sp>
      <p:sp>
        <p:nvSpPr>
          <p:cNvPr id="8" name="Text 6"/>
          <p:cNvSpPr/>
          <p:nvPr/>
        </p:nvSpPr>
        <p:spPr>
          <a:xfrm>
            <a:off x="731520" y="3749040"/>
            <a:ext cx="1600200" cy="548640"/>
          </a:xfrm>
          <a:prstGeom prst="rect">
            <a:avLst/>
          </a:prstGeom>
          <a:noFill/>
          <a:ln/>
        </p:spPr>
        <p:txBody>
          <a:bodyPr wrap="square" lIns="0" tIns="0" rIns="0" bIns="0" rtlCol="0" anchor="ctr"/>
          <a:lstStyle/>
          <a:p>
            <a:pPr algn="ctr" indent="0" marL="0">
              <a:buNone/>
            </a:pPr>
            <a:r>
              <a:rPr lang="en-US" sz="2200" b="1" dirty="0">
                <a:solidFill>
                  <a:srgbClr val="FFD60A"/>
                </a:solidFill>
                <a:latin typeface="Arial Black" pitchFamily="34" charset="0"/>
                <a:ea typeface="Arial Black" pitchFamily="34" charset="-122"/>
                <a:cs typeface="Arial Black" pitchFamily="34" charset="-120"/>
              </a:rPr>
              <a:t>APÉRO</a:t>
            </a:r>
            <a:endParaRPr lang="en-US" sz="2200" dirty="0"/>
          </a:p>
        </p:txBody>
      </p:sp>
      <p:sp>
        <p:nvSpPr>
          <p:cNvPr id="9" name="Text 7"/>
          <p:cNvSpPr/>
          <p:nvPr/>
        </p:nvSpPr>
        <p:spPr>
          <a:xfrm>
            <a:off x="777240" y="4389120"/>
            <a:ext cx="1508760" cy="1280160"/>
          </a:xfrm>
          <a:prstGeom prst="rect">
            <a:avLst/>
          </a:prstGeom>
          <a:noFill/>
          <a:ln/>
        </p:spPr>
        <p:txBody>
          <a:bodyPr wrap="square" lIns="0" tIns="0" rIns="0" bIns="0" rtlCol="0" anchor="t"/>
          <a:lstStyle/>
          <a:p>
            <a:pPr algn="ctr" indent="0" marL="0">
              <a:buNone/>
            </a:pPr>
            <a:r>
              <a:rPr lang="en-US" sz="1100" dirty="0">
                <a:solidFill>
                  <a:srgbClr val="9CA3AF"/>
                </a:solidFill>
                <a:latin typeface="Arial" pitchFamily="34" charset="0"/>
                <a:ea typeface="Arial" pitchFamily="34" charset="-122"/>
                <a:cs typeface="Arial" pitchFamily="34" charset="-120"/>
              </a:rPr>
              <a:t>Drink eller två innan middag, bar eller torg</a:t>
            </a:r>
            <a:endParaRPr lang="en-US" sz="1100" dirty="0"/>
          </a:p>
        </p:txBody>
      </p:sp>
      <p:sp>
        <p:nvSpPr>
          <p:cNvPr id="10" name="Shape 8"/>
          <p:cNvSpPr/>
          <p:nvPr/>
        </p:nvSpPr>
        <p:spPr>
          <a:xfrm>
            <a:off x="2468880" y="3108960"/>
            <a:ext cx="1783080" cy="2743200"/>
          </a:xfrm>
          <a:prstGeom prst="rect">
            <a:avLst/>
          </a:prstGeom>
          <a:solidFill>
            <a:srgbClr val="1F1F26"/>
          </a:solidFill>
          <a:ln w="12700">
            <a:solidFill>
              <a:srgbClr val="2A2A33"/>
            </a:solidFill>
            <a:prstDash val="solid"/>
          </a:ln>
        </p:spPr>
      </p:sp>
      <p:sp>
        <p:nvSpPr>
          <p:cNvPr id="11" name="Shape 9"/>
          <p:cNvSpPr/>
          <p:nvPr/>
        </p:nvSpPr>
        <p:spPr>
          <a:xfrm>
            <a:off x="2468880" y="3108960"/>
            <a:ext cx="1783080" cy="457200"/>
          </a:xfrm>
          <a:prstGeom prst="rect">
            <a:avLst/>
          </a:prstGeom>
          <a:solidFill>
            <a:srgbClr val="FF6B1A"/>
          </a:solidFill>
          <a:ln w="12700">
            <a:solidFill>
              <a:srgbClr val="FF6B1A"/>
            </a:solidFill>
            <a:prstDash val="solid"/>
          </a:ln>
        </p:spPr>
      </p:sp>
      <p:sp>
        <p:nvSpPr>
          <p:cNvPr id="12" name="Text 10"/>
          <p:cNvSpPr/>
          <p:nvPr/>
        </p:nvSpPr>
        <p:spPr>
          <a:xfrm>
            <a:off x="2468880" y="3108960"/>
            <a:ext cx="1783080" cy="457200"/>
          </a:xfrm>
          <a:prstGeom prst="rect">
            <a:avLst/>
          </a:prstGeom>
          <a:noFill/>
          <a:ln/>
        </p:spPr>
        <p:txBody>
          <a:bodyPr wrap="square" lIns="0" tIns="0" rIns="0" bIns="0" rtlCol="0" anchor="ctr"/>
          <a:lstStyle/>
          <a:p>
            <a:pPr algn="ctr" indent="0" marL="0">
              <a:buNone/>
            </a:pPr>
            <a:r>
              <a:rPr lang="en-US" sz="1400" b="1" dirty="0">
                <a:solidFill>
                  <a:srgbClr val="0E0E10"/>
                </a:solidFill>
                <a:latin typeface="Arial Black" pitchFamily="34" charset="0"/>
                <a:ea typeface="Arial Black" pitchFamily="34" charset="-122"/>
                <a:cs typeface="Arial Black" pitchFamily="34" charset="-120"/>
              </a:rPr>
              <a:t>20-22</a:t>
            </a:r>
            <a:endParaRPr lang="en-US" sz="1400" dirty="0"/>
          </a:p>
        </p:txBody>
      </p:sp>
      <p:sp>
        <p:nvSpPr>
          <p:cNvPr id="13" name="Text 11"/>
          <p:cNvSpPr/>
          <p:nvPr/>
        </p:nvSpPr>
        <p:spPr>
          <a:xfrm>
            <a:off x="2560320" y="3749040"/>
            <a:ext cx="1600200" cy="548640"/>
          </a:xfrm>
          <a:prstGeom prst="rect">
            <a:avLst/>
          </a:prstGeom>
          <a:noFill/>
          <a:ln/>
        </p:spPr>
        <p:txBody>
          <a:bodyPr wrap="square" lIns="0" tIns="0" rIns="0" bIns="0" rtlCol="0" anchor="ctr"/>
          <a:lstStyle/>
          <a:p>
            <a:pPr algn="ctr" indent="0" marL="0">
              <a:buNone/>
            </a:pPr>
            <a:r>
              <a:rPr lang="en-US" sz="2200" b="1" dirty="0">
                <a:solidFill>
                  <a:srgbClr val="FF6B1A"/>
                </a:solidFill>
                <a:latin typeface="Arial Black" pitchFamily="34" charset="0"/>
                <a:ea typeface="Arial Black" pitchFamily="34" charset="-122"/>
                <a:cs typeface="Arial Black" pitchFamily="34" charset="-120"/>
              </a:rPr>
              <a:t>MIDDAG</a:t>
            </a:r>
            <a:endParaRPr lang="en-US" sz="2200" dirty="0"/>
          </a:p>
        </p:txBody>
      </p:sp>
      <p:sp>
        <p:nvSpPr>
          <p:cNvPr id="14" name="Text 12"/>
          <p:cNvSpPr/>
          <p:nvPr/>
        </p:nvSpPr>
        <p:spPr>
          <a:xfrm>
            <a:off x="2606040" y="4389120"/>
            <a:ext cx="1508760" cy="1280160"/>
          </a:xfrm>
          <a:prstGeom prst="rect">
            <a:avLst/>
          </a:prstGeom>
          <a:noFill/>
          <a:ln/>
        </p:spPr>
        <p:txBody>
          <a:bodyPr wrap="square" lIns="0" tIns="0" rIns="0" bIns="0" rtlCol="0" anchor="t"/>
          <a:lstStyle/>
          <a:p>
            <a:pPr algn="ctr" indent="0" marL="0">
              <a:buNone/>
            </a:pPr>
            <a:r>
              <a:rPr lang="en-US" sz="1100" dirty="0">
                <a:solidFill>
                  <a:srgbClr val="9CA3AF"/>
                </a:solidFill>
                <a:latin typeface="Arial" pitchFamily="34" charset="0"/>
                <a:ea typeface="Arial" pitchFamily="34" charset="-122"/>
                <a:cs typeface="Arial" pitchFamily="34" charset="-120"/>
              </a:rPr>
              <a:t>Riktigt långsam, ni stressar inte</a:t>
            </a:r>
            <a:endParaRPr lang="en-US" sz="1100" dirty="0"/>
          </a:p>
        </p:txBody>
      </p:sp>
      <p:sp>
        <p:nvSpPr>
          <p:cNvPr id="15" name="Shape 13"/>
          <p:cNvSpPr/>
          <p:nvPr/>
        </p:nvSpPr>
        <p:spPr>
          <a:xfrm>
            <a:off x="4297680" y="3108960"/>
            <a:ext cx="1783080" cy="2743200"/>
          </a:xfrm>
          <a:prstGeom prst="rect">
            <a:avLst/>
          </a:prstGeom>
          <a:solidFill>
            <a:srgbClr val="1F1F26"/>
          </a:solidFill>
          <a:ln w="12700">
            <a:solidFill>
              <a:srgbClr val="2A2A33"/>
            </a:solidFill>
            <a:prstDash val="solid"/>
          </a:ln>
        </p:spPr>
      </p:sp>
      <p:sp>
        <p:nvSpPr>
          <p:cNvPr id="16" name="Shape 14"/>
          <p:cNvSpPr/>
          <p:nvPr/>
        </p:nvSpPr>
        <p:spPr>
          <a:xfrm>
            <a:off x="4297680" y="3108960"/>
            <a:ext cx="1783080" cy="457200"/>
          </a:xfrm>
          <a:prstGeom prst="rect">
            <a:avLst/>
          </a:prstGeom>
          <a:solidFill>
            <a:srgbClr val="FF3366"/>
          </a:solidFill>
          <a:ln w="12700">
            <a:solidFill>
              <a:srgbClr val="FF3366"/>
            </a:solidFill>
            <a:prstDash val="solid"/>
          </a:ln>
        </p:spPr>
      </p:sp>
      <p:sp>
        <p:nvSpPr>
          <p:cNvPr id="17" name="Text 15"/>
          <p:cNvSpPr/>
          <p:nvPr/>
        </p:nvSpPr>
        <p:spPr>
          <a:xfrm>
            <a:off x="4297680" y="3108960"/>
            <a:ext cx="1783080" cy="457200"/>
          </a:xfrm>
          <a:prstGeom prst="rect">
            <a:avLst/>
          </a:prstGeom>
          <a:noFill/>
          <a:ln/>
        </p:spPr>
        <p:txBody>
          <a:bodyPr wrap="square" lIns="0" tIns="0" rIns="0" bIns="0" rtlCol="0" anchor="ctr"/>
          <a:lstStyle/>
          <a:p>
            <a:pPr algn="ctr" indent="0" marL="0">
              <a:buNone/>
            </a:pPr>
            <a:r>
              <a:rPr lang="en-US" sz="1400" b="1" dirty="0">
                <a:solidFill>
                  <a:srgbClr val="0E0E10"/>
                </a:solidFill>
                <a:latin typeface="Arial Black" pitchFamily="34" charset="0"/>
                <a:ea typeface="Arial Black" pitchFamily="34" charset="-122"/>
                <a:cs typeface="Arial Black" pitchFamily="34" charset="-120"/>
              </a:rPr>
              <a:t>22-00</a:t>
            </a:r>
            <a:endParaRPr lang="en-US" sz="1400" dirty="0"/>
          </a:p>
        </p:txBody>
      </p:sp>
      <p:sp>
        <p:nvSpPr>
          <p:cNvPr id="18" name="Text 16"/>
          <p:cNvSpPr/>
          <p:nvPr/>
        </p:nvSpPr>
        <p:spPr>
          <a:xfrm>
            <a:off x="4389120" y="3749040"/>
            <a:ext cx="1600200" cy="548640"/>
          </a:xfrm>
          <a:prstGeom prst="rect">
            <a:avLst/>
          </a:prstGeom>
          <a:noFill/>
          <a:ln/>
        </p:spPr>
        <p:txBody>
          <a:bodyPr wrap="square" lIns="0" tIns="0" rIns="0" bIns="0" rtlCol="0" anchor="ctr"/>
          <a:lstStyle/>
          <a:p>
            <a:pPr algn="ctr" indent="0" marL="0">
              <a:buNone/>
            </a:pPr>
            <a:r>
              <a:rPr lang="en-US" sz="2200" b="1" dirty="0">
                <a:solidFill>
                  <a:srgbClr val="FF3366"/>
                </a:solidFill>
                <a:latin typeface="Arial Black" pitchFamily="34" charset="0"/>
                <a:ea typeface="Arial Black" pitchFamily="34" charset="-122"/>
                <a:cs typeface="Arial Black" pitchFamily="34" charset="-120"/>
              </a:rPr>
              <a:t>BAR</a:t>
            </a:r>
            <a:endParaRPr lang="en-US" sz="2200" dirty="0"/>
          </a:p>
        </p:txBody>
      </p:sp>
      <p:sp>
        <p:nvSpPr>
          <p:cNvPr id="19" name="Text 17"/>
          <p:cNvSpPr/>
          <p:nvPr/>
        </p:nvSpPr>
        <p:spPr>
          <a:xfrm>
            <a:off x="4434840" y="4389120"/>
            <a:ext cx="1508760" cy="1280160"/>
          </a:xfrm>
          <a:prstGeom prst="rect">
            <a:avLst/>
          </a:prstGeom>
          <a:noFill/>
          <a:ln/>
        </p:spPr>
        <p:txBody>
          <a:bodyPr wrap="square" lIns="0" tIns="0" rIns="0" bIns="0" rtlCol="0" anchor="t"/>
          <a:lstStyle/>
          <a:p>
            <a:pPr algn="ctr" indent="0" marL="0">
              <a:buNone/>
            </a:pPr>
            <a:r>
              <a:rPr lang="en-US" sz="1100" dirty="0">
                <a:solidFill>
                  <a:srgbClr val="9CA3AF"/>
                </a:solidFill>
                <a:latin typeface="Arial" pitchFamily="34" charset="0"/>
                <a:ea typeface="Arial" pitchFamily="34" charset="-122"/>
                <a:cs typeface="Arial" pitchFamily="34" charset="-120"/>
              </a:rPr>
              <a:t>Pre-game på Le Pulp eller Heat Club</a:t>
            </a:r>
            <a:endParaRPr lang="en-US" sz="1100" dirty="0"/>
          </a:p>
        </p:txBody>
      </p:sp>
      <p:sp>
        <p:nvSpPr>
          <p:cNvPr id="20" name="Shape 18"/>
          <p:cNvSpPr/>
          <p:nvPr/>
        </p:nvSpPr>
        <p:spPr>
          <a:xfrm>
            <a:off x="6126480" y="3108960"/>
            <a:ext cx="1783080" cy="2743200"/>
          </a:xfrm>
          <a:prstGeom prst="rect">
            <a:avLst/>
          </a:prstGeom>
          <a:solidFill>
            <a:srgbClr val="1F1F26"/>
          </a:solidFill>
          <a:ln w="12700">
            <a:solidFill>
              <a:srgbClr val="2A2A33"/>
            </a:solidFill>
            <a:prstDash val="solid"/>
          </a:ln>
        </p:spPr>
      </p:sp>
      <p:sp>
        <p:nvSpPr>
          <p:cNvPr id="21" name="Shape 19"/>
          <p:cNvSpPr/>
          <p:nvPr/>
        </p:nvSpPr>
        <p:spPr>
          <a:xfrm>
            <a:off x="6126480" y="3108960"/>
            <a:ext cx="1783080" cy="457200"/>
          </a:xfrm>
          <a:prstGeom prst="rect">
            <a:avLst/>
          </a:prstGeom>
          <a:solidFill>
            <a:srgbClr val="B026FF"/>
          </a:solidFill>
          <a:ln w="12700">
            <a:solidFill>
              <a:srgbClr val="B026FF"/>
            </a:solidFill>
            <a:prstDash val="solid"/>
          </a:ln>
        </p:spPr>
      </p:sp>
      <p:sp>
        <p:nvSpPr>
          <p:cNvPr id="22" name="Text 20"/>
          <p:cNvSpPr/>
          <p:nvPr/>
        </p:nvSpPr>
        <p:spPr>
          <a:xfrm>
            <a:off x="6126480" y="3108960"/>
            <a:ext cx="1783080" cy="457200"/>
          </a:xfrm>
          <a:prstGeom prst="rect">
            <a:avLst/>
          </a:prstGeom>
          <a:noFill/>
          <a:ln/>
        </p:spPr>
        <p:txBody>
          <a:bodyPr wrap="square" lIns="0" tIns="0" rIns="0" bIns="0" rtlCol="0" anchor="ctr"/>
          <a:lstStyle/>
          <a:p>
            <a:pPr algn="ctr" indent="0" marL="0">
              <a:buNone/>
            </a:pPr>
            <a:r>
              <a:rPr lang="en-US" sz="1400" b="1" dirty="0">
                <a:solidFill>
                  <a:srgbClr val="0E0E10"/>
                </a:solidFill>
                <a:latin typeface="Arial Black" pitchFamily="34" charset="0"/>
                <a:ea typeface="Arial Black" pitchFamily="34" charset="-122"/>
                <a:cs typeface="Arial Black" pitchFamily="34" charset="-120"/>
              </a:rPr>
              <a:t>00-02</a:t>
            </a:r>
            <a:endParaRPr lang="en-US" sz="1400" dirty="0"/>
          </a:p>
        </p:txBody>
      </p:sp>
      <p:sp>
        <p:nvSpPr>
          <p:cNvPr id="23" name="Text 21"/>
          <p:cNvSpPr/>
          <p:nvPr/>
        </p:nvSpPr>
        <p:spPr>
          <a:xfrm>
            <a:off x="6217920" y="3749040"/>
            <a:ext cx="1600200" cy="548640"/>
          </a:xfrm>
          <a:prstGeom prst="rect">
            <a:avLst/>
          </a:prstGeom>
          <a:noFill/>
          <a:ln/>
        </p:spPr>
        <p:txBody>
          <a:bodyPr wrap="square" lIns="0" tIns="0" rIns="0" bIns="0" rtlCol="0" anchor="ctr"/>
          <a:lstStyle/>
          <a:p>
            <a:pPr algn="ctr" indent="0" marL="0">
              <a:buNone/>
            </a:pPr>
            <a:r>
              <a:rPr lang="en-US" sz="2200" b="1" dirty="0">
                <a:solidFill>
                  <a:srgbClr val="B026FF"/>
                </a:solidFill>
                <a:latin typeface="Arial Black" pitchFamily="34" charset="0"/>
                <a:ea typeface="Arial Black" pitchFamily="34" charset="-122"/>
                <a:cs typeface="Arial Black" pitchFamily="34" charset="-120"/>
              </a:rPr>
              <a:t>GÅR UT</a:t>
            </a:r>
            <a:endParaRPr lang="en-US" sz="2200" dirty="0"/>
          </a:p>
        </p:txBody>
      </p:sp>
      <p:sp>
        <p:nvSpPr>
          <p:cNvPr id="24" name="Text 22"/>
          <p:cNvSpPr/>
          <p:nvPr/>
        </p:nvSpPr>
        <p:spPr>
          <a:xfrm>
            <a:off x="6263640" y="4389120"/>
            <a:ext cx="1508760" cy="1280160"/>
          </a:xfrm>
          <a:prstGeom prst="rect">
            <a:avLst/>
          </a:prstGeom>
          <a:noFill/>
          <a:ln/>
        </p:spPr>
        <p:txBody>
          <a:bodyPr wrap="square" lIns="0" tIns="0" rIns="0" bIns="0" rtlCol="0" anchor="t"/>
          <a:lstStyle/>
          <a:p>
            <a:pPr algn="ctr" indent="0" marL="0">
              <a:buNone/>
            </a:pPr>
            <a:r>
              <a:rPr lang="en-US" sz="1100" dirty="0">
                <a:solidFill>
                  <a:srgbClr val="9CA3AF"/>
                </a:solidFill>
                <a:latin typeface="Arial" pitchFamily="34" charset="0"/>
                <a:ea typeface="Arial" pitchFamily="34" charset="-122"/>
                <a:cs typeface="Arial" pitchFamily="34" charset="-120"/>
              </a:rPr>
              <a:t>Klubben fylls just nu, ni går först nu</a:t>
            </a:r>
            <a:endParaRPr lang="en-US" sz="1100" dirty="0"/>
          </a:p>
        </p:txBody>
      </p:sp>
      <p:sp>
        <p:nvSpPr>
          <p:cNvPr id="25" name="Shape 23"/>
          <p:cNvSpPr/>
          <p:nvPr/>
        </p:nvSpPr>
        <p:spPr>
          <a:xfrm>
            <a:off x="7955280" y="3108960"/>
            <a:ext cx="1783080" cy="2743200"/>
          </a:xfrm>
          <a:prstGeom prst="rect">
            <a:avLst/>
          </a:prstGeom>
          <a:solidFill>
            <a:srgbClr val="1F1F26"/>
          </a:solidFill>
          <a:ln w="12700">
            <a:solidFill>
              <a:srgbClr val="2A2A33"/>
            </a:solidFill>
            <a:prstDash val="solid"/>
          </a:ln>
        </p:spPr>
      </p:sp>
      <p:sp>
        <p:nvSpPr>
          <p:cNvPr id="26" name="Shape 24"/>
          <p:cNvSpPr/>
          <p:nvPr/>
        </p:nvSpPr>
        <p:spPr>
          <a:xfrm>
            <a:off x="7955280" y="3108960"/>
            <a:ext cx="1783080" cy="457200"/>
          </a:xfrm>
          <a:prstGeom prst="rect">
            <a:avLst/>
          </a:prstGeom>
          <a:solidFill>
            <a:srgbClr val="00D9FF"/>
          </a:solidFill>
          <a:ln w="12700">
            <a:solidFill>
              <a:srgbClr val="00D9FF"/>
            </a:solidFill>
            <a:prstDash val="solid"/>
          </a:ln>
        </p:spPr>
      </p:sp>
      <p:sp>
        <p:nvSpPr>
          <p:cNvPr id="27" name="Text 25"/>
          <p:cNvSpPr/>
          <p:nvPr/>
        </p:nvSpPr>
        <p:spPr>
          <a:xfrm>
            <a:off x="7955280" y="3108960"/>
            <a:ext cx="1783080" cy="457200"/>
          </a:xfrm>
          <a:prstGeom prst="rect">
            <a:avLst/>
          </a:prstGeom>
          <a:noFill/>
          <a:ln/>
        </p:spPr>
        <p:txBody>
          <a:bodyPr wrap="square" lIns="0" tIns="0" rIns="0" bIns="0" rtlCol="0" anchor="ctr"/>
          <a:lstStyle/>
          <a:p>
            <a:pPr algn="ctr" indent="0" marL="0">
              <a:buNone/>
            </a:pPr>
            <a:r>
              <a:rPr lang="en-US" sz="1400" b="1" dirty="0">
                <a:solidFill>
                  <a:srgbClr val="0E0E10"/>
                </a:solidFill>
                <a:latin typeface="Arial Black" pitchFamily="34" charset="0"/>
                <a:ea typeface="Arial Black" pitchFamily="34" charset="-122"/>
                <a:cs typeface="Arial Black" pitchFamily="34" charset="-120"/>
              </a:rPr>
              <a:t>02-06</a:t>
            </a:r>
            <a:endParaRPr lang="en-US" sz="1400" dirty="0"/>
          </a:p>
        </p:txBody>
      </p:sp>
      <p:sp>
        <p:nvSpPr>
          <p:cNvPr id="28" name="Text 26"/>
          <p:cNvSpPr/>
          <p:nvPr/>
        </p:nvSpPr>
        <p:spPr>
          <a:xfrm>
            <a:off x="8046720" y="3749040"/>
            <a:ext cx="1600200" cy="548640"/>
          </a:xfrm>
          <a:prstGeom prst="rect">
            <a:avLst/>
          </a:prstGeom>
          <a:noFill/>
          <a:ln/>
        </p:spPr>
        <p:txBody>
          <a:bodyPr wrap="square" lIns="0" tIns="0" rIns="0" bIns="0" rtlCol="0" anchor="ctr"/>
          <a:lstStyle/>
          <a:p>
            <a:pPr algn="ctr" indent="0" marL="0">
              <a:buNone/>
            </a:pPr>
            <a:r>
              <a:rPr lang="en-US" sz="2200" b="1" dirty="0">
                <a:solidFill>
                  <a:srgbClr val="00D9FF"/>
                </a:solidFill>
                <a:latin typeface="Arial Black" pitchFamily="34" charset="0"/>
                <a:ea typeface="Arial Black" pitchFamily="34" charset="-122"/>
                <a:cs typeface="Arial Black" pitchFamily="34" charset="-120"/>
              </a:rPr>
              <a:t>PÅ GOLVET</a:t>
            </a:r>
            <a:endParaRPr lang="en-US" sz="2200" dirty="0"/>
          </a:p>
        </p:txBody>
      </p:sp>
      <p:sp>
        <p:nvSpPr>
          <p:cNvPr id="29" name="Text 27"/>
          <p:cNvSpPr/>
          <p:nvPr/>
        </p:nvSpPr>
        <p:spPr>
          <a:xfrm>
            <a:off x="8092440" y="4389120"/>
            <a:ext cx="1508760" cy="1280160"/>
          </a:xfrm>
          <a:prstGeom prst="rect">
            <a:avLst/>
          </a:prstGeom>
          <a:noFill/>
          <a:ln/>
        </p:spPr>
        <p:txBody>
          <a:bodyPr wrap="square" lIns="0" tIns="0" rIns="0" bIns="0" rtlCol="0" anchor="t"/>
          <a:lstStyle/>
          <a:p>
            <a:pPr algn="ctr" indent="0" marL="0">
              <a:buNone/>
            </a:pPr>
            <a:r>
              <a:rPr lang="en-US" sz="1100" dirty="0">
                <a:solidFill>
                  <a:srgbClr val="9CA3AF"/>
                </a:solidFill>
                <a:latin typeface="Arial" pitchFamily="34" charset="0"/>
                <a:ea typeface="Arial" pitchFamily="34" charset="-122"/>
                <a:cs typeface="Arial" pitchFamily="34" charset="-120"/>
              </a:rPr>
              <a:t>PZ City eller La Dune om legend-natt</a:t>
            </a:r>
            <a:endParaRPr lang="en-US" sz="1100" dirty="0"/>
          </a:p>
        </p:txBody>
      </p:sp>
      <p:sp>
        <p:nvSpPr>
          <p:cNvPr id="30" name="Shape 28"/>
          <p:cNvSpPr/>
          <p:nvPr/>
        </p:nvSpPr>
        <p:spPr>
          <a:xfrm>
            <a:off x="9784080" y="3108960"/>
            <a:ext cx="1783080" cy="2743200"/>
          </a:xfrm>
          <a:prstGeom prst="rect">
            <a:avLst/>
          </a:prstGeom>
          <a:solidFill>
            <a:srgbClr val="1F1F26"/>
          </a:solidFill>
          <a:ln w="12700">
            <a:solidFill>
              <a:srgbClr val="2A2A33"/>
            </a:solidFill>
            <a:prstDash val="solid"/>
          </a:ln>
        </p:spPr>
      </p:sp>
      <p:sp>
        <p:nvSpPr>
          <p:cNvPr id="31" name="Shape 29"/>
          <p:cNvSpPr/>
          <p:nvPr/>
        </p:nvSpPr>
        <p:spPr>
          <a:xfrm>
            <a:off x="9784080" y="3108960"/>
            <a:ext cx="1783080" cy="457200"/>
          </a:xfrm>
          <a:prstGeom prst="rect">
            <a:avLst/>
          </a:prstGeom>
          <a:solidFill>
            <a:srgbClr val="B8FF00"/>
          </a:solidFill>
          <a:ln w="12700">
            <a:solidFill>
              <a:srgbClr val="B8FF00"/>
            </a:solidFill>
            <a:prstDash val="solid"/>
          </a:ln>
        </p:spPr>
      </p:sp>
      <p:sp>
        <p:nvSpPr>
          <p:cNvPr id="32" name="Text 30"/>
          <p:cNvSpPr/>
          <p:nvPr/>
        </p:nvSpPr>
        <p:spPr>
          <a:xfrm>
            <a:off x="9784080" y="3108960"/>
            <a:ext cx="1783080" cy="457200"/>
          </a:xfrm>
          <a:prstGeom prst="rect">
            <a:avLst/>
          </a:prstGeom>
          <a:noFill/>
          <a:ln/>
        </p:spPr>
        <p:txBody>
          <a:bodyPr wrap="square" lIns="0" tIns="0" rIns="0" bIns="0" rtlCol="0" anchor="ctr"/>
          <a:lstStyle/>
          <a:p>
            <a:pPr algn="ctr" indent="0" marL="0">
              <a:buNone/>
            </a:pPr>
            <a:r>
              <a:rPr lang="en-US" sz="1400" b="1" dirty="0">
                <a:solidFill>
                  <a:srgbClr val="0E0E10"/>
                </a:solidFill>
                <a:latin typeface="Arial Black" pitchFamily="34" charset="0"/>
                <a:ea typeface="Arial Black" pitchFamily="34" charset="-122"/>
                <a:cs typeface="Arial Black" pitchFamily="34" charset="-120"/>
              </a:rPr>
              <a:t>06-08</a:t>
            </a:r>
            <a:endParaRPr lang="en-US" sz="1400" dirty="0"/>
          </a:p>
        </p:txBody>
      </p:sp>
      <p:sp>
        <p:nvSpPr>
          <p:cNvPr id="33" name="Text 31"/>
          <p:cNvSpPr/>
          <p:nvPr/>
        </p:nvSpPr>
        <p:spPr>
          <a:xfrm>
            <a:off x="9875520" y="3749040"/>
            <a:ext cx="1600200" cy="548640"/>
          </a:xfrm>
          <a:prstGeom prst="rect">
            <a:avLst/>
          </a:prstGeom>
          <a:noFill/>
          <a:ln/>
        </p:spPr>
        <p:txBody>
          <a:bodyPr wrap="square" lIns="0" tIns="0" rIns="0" bIns="0" rtlCol="0" anchor="ctr"/>
          <a:lstStyle/>
          <a:p>
            <a:pPr algn="ctr" indent="0" marL="0">
              <a:buNone/>
            </a:pPr>
            <a:r>
              <a:rPr lang="en-US" sz="2200" b="1" dirty="0">
                <a:solidFill>
                  <a:srgbClr val="B8FF00"/>
                </a:solidFill>
                <a:latin typeface="Arial Black" pitchFamily="34" charset="0"/>
                <a:ea typeface="Arial Black" pitchFamily="34" charset="-122"/>
                <a:cs typeface="Arial Black" pitchFamily="34" charset="-120"/>
              </a:rPr>
              <a:t>AFTER</a:t>
            </a:r>
            <a:endParaRPr lang="en-US" sz="2200" dirty="0"/>
          </a:p>
        </p:txBody>
      </p:sp>
      <p:sp>
        <p:nvSpPr>
          <p:cNvPr id="34" name="Text 32"/>
          <p:cNvSpPr/>
          <p:nvPr/>
        </p:nvSpPr>
        <p:spPr>
          <a:xfrm>
            <a:off x="9921240" y="4389120"/>
            <a:ext cx="1508760" cy="1280160"/>
          </a:xfrm>
          <a:prstGeom prst="rect">
            <a:avLst/>
          </a:prstGeom>
          <a:noFill/>
          <a:ln/>
        </p:spPr>
        <p:txBody>
          <a:bodyPr wrap="square" lIns="0" tIns="0" rIns="0" bIns="0" rtlCol="0" anchor="t"/>
          <a:lstStyle/>
          <a:p>
            <a:pPr algn="ctr" indent="0" marL="0">
              <a:buNone/>
            </a:pPr>
            <a:r>
              <a:rPr lang="en-US" sz="1100" dirty="0">
                <a:solidFill>
                  <a:srgbClr val="9CA3AF"/>
                </a:solidFill>
                <a:latin typeface="Arial" pitchFamily="34" charset="0"/>
                <a:ea typeface="Arial" pitchFamily="34" charset="-122"/>
                <a:cs typeface="Arial" pitchFamily="34" charset="-120"/>
              </a:rPr>
              <a:t>Croissant, kaffe, hemvägen i soluppgång</a:t>
            </a:r>
            <a:endParaRPr lang="en-US" sz="1100" dirty="0"/>
          </a:p>
        </p:txBody>
      </p:sp>
      <p:sp>
        <p:nvSpPr>
          <p:cNvPr id="35" name="Shape 33"/>
          <p:cNvSpPr/>
          <p:nvPr/>
        </p:nvSpPr>
        <p:spPr>
          <a:xfrm>
            <a:off x="640080" y="6126480"/>
            <a:ext cx="10972800" cy="457200"/>
          </a:xfrm>
          <a:prstGeom prst="rect">
            <a:avLst/>
          </a:prstGeom>
          <a:solidFill>
            <a:srgbClr val="B8FF00"/>
          </a:solidFill>
          <a:ln w="12700">
            <a:solidFill>
              <a:srgbClr val="B8FF00"/>
            </a:solidFill>
            <a:prstDash val="solid"/>
          </a:ln>
        </p:spPr>
      </p:sp>
      <p:sp>
        <p:nvSpPr>
          <p:cNvPr id="36" name="Text 34"/>
          <p:cNvSpPr/>
          <p:nvPr/>
        </p:nvSpPr>
        <p:spPr>
          <a:xfrm>
            <a:off x="640080" y="6126480"/>
            <a:ext cx="10972800" cy="457200"/>
          </a:xfrm>
          <a:prstGeom prst="rect">
            <a:avLst/>
          </a:prstGeom>
          <a:noFill/>
          <a:ln/>
        </p:spPr>
        <p:txBody>
          <a:bodyPr wrap="square" lIns="0" tIns="0" rIns="0" bIns="0" rtlCol="0" anchor="ctr"/>
          <a:lstStyle/>
          <a:p>
            <a:pPr algn="ctr" indent="0" marL="0">
              <a:buNone/>
            </a:pPr>
            <a:r>
              <a:rPr lang="en-US" sz="1400" b="1" dirty="0">
                <a:solidFill>
                  <a:srgbClr val="0E0E10"/>
                </a:solidFill>
                <a:latin typeface="Arial" pitchFamily="34" charset="0"/>
                <a:ea typeface="Arial" pitchFamily="34" charset="-122"/>
                <a:cs typeface="Arial" pitchFamily="34" charset="-120"/>
              </a:rPr>
              <a:t>PRO TIP: Klubbarna fylls 01-02. Innan dess sitter de på torgen. Anpassa 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640080"/>
            <a:ext cx="10972800" cy="457200"/>
          </a:xfrm>
          <a:prstGeom prst="rect">
            <a:avLst/>
          </a:prstGeom>
          <a:noFill/>
          <a:ln/>
        </p:spPr>
        <p:txBody>
          <a:bodyPr wrap="square" lIns="0" tIns="0" rIns="0" bIns="0" rtlCol="0" anchor="ctr"/>
          <a:lstStyle/>
          <a:p>
            <a:pPr indent="0" marL="0">
              <a:buNone/>
            </a:pPr>
            <a:r>
              <a:rPr lang="en-US" sz="1400" b="1" spc="800" kern="0" dirty="0">
                <a:solidFill>
                  <a:srgbClr val="B8FF00"/>
                </a:solidFill>
                <a:latin typeface="Arial" pitchFamily="34" charset="0"/>
                <a:ea typeface="Arial" pitchFamily="34" charset="-122"/>
                <a:cs typeface="Arial" pitchFamily="34" charset="-120"/>
              </a:rPr>
              <a:t>BUDGET CHEAT SHEET</a:t>
            </a:r>
            <a:endParaRPr lang="en-US" sz="1400" dirty="0"/>
          </a:p>
        </p:txBody>
      </p:sp>
      <p:sp>
        <p:nvSpPr>
          <p:cNvPr id="3" name="Text 1"/>
          <p:cNvSpPr/>
          <p:nvPr/>
        </p:nvSpPr>
        <p:spPr>
          <a:xfrm>
            <a:off x="640080" y="118872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Vad det </a:t>
            </a:r>
            <a:pPr indent="0" marL="0">
              <a:buNone/>
            </a:pPr>
            <a:r>
              <a:rPr lang="en-US" sz="4400" b="1" dirty="0">
                <a:solidFill>
                  <a:srgbClr val="B8FF00"/>
                </a:solidFill>
                <a:latin typeface="Arial" pitchFamily="34" charset="0"/>
                <a:ea typeface="Arial" pitchFamily="34" charset="-122"/>
                <a:cs typeface="Arial" pitchFamily="34" charset="-120"/>
              </a:rPr>
              <a:t>kostar faktiskt</a:t>
            </a:r>
            <a:endParaRPr lang="en-US" sz="4400" dirty="0"/>
          </a:p>
        </p:txBody>
      </p:sp>
      <p:sp>
        <p:nvSpPr>
          <p:cNvPr id="4" name="Text 2"/>
          <p:cNvSpPr/>
          <p:nvPr/>
        </p:nvSpPr>
        <p:spPr>
          <a:xfrm>
            <a:off x="640080" y="2194560"/>
            <a:ext cx="10972800" cy="457200"/>
          </a:xfrm>
          <a:prstGeom prst="rect">
            <a:avLst/>
          </a:prstGeom>
          <a:noFill/>
          <a:ln/>
        </p:spPr>
        <p:txBody>
          <a:bodyPr wrap="square" lIns="0" tIns="0" rIns="0" bIns="0" rtlCol="0" anchor="ctr"/>
          <a:lstStyle/>
          <a:p>
            <a:pPr indent="0" marL="0">
              <a:buNone/>
            </a:pPr>
            <a:r>
              <a:rPr lang="en-US" sz="1600" i="1" dirty="0">
                <a:solidFill>
                  <a:srgbClr val="9CA3AF"/>
                </a:solidFill>
                <a:latin typeface="Arial" pitchFamily="34" charset="0"/>
                <a:ea typeface="Arial" pitchFamily="34" charset="-122"/>
                <a:cs typeface="Arial" pitchFamily="34" charset="-120"/>
              </a:rPr>
              <a:t>Snabb referens. Sparar er från att räkna i mobilen vid kassan.</a:t>
            </a:r>
            <a:endParaRPr lang="en-US" sz="1600" dirty="0"/>
          </a:p>
        </p:txBody>
      </p:sp>
      <p:sp>
        <p:nvSpPr>
          <p:cNvPr id="5" name="Shape 3"/>
          <p:cNvSpPr/>
          <p:nvPr/>
        </p:nvSpPr>
        <p:spPr>
          <a:xfrm>
            <a:off x="640080" y="2926080"/>
            <a:ext cx="5394960" cy="457200"/>
          </a:xfrm>
          <a:prstGeom prst="rect">
            <a:avLst/>
          </a:prstGeom>
          <a:solidFill>
            <a:srgbClr val="1F1F26"/>
          </a:solidFill>
          <a:ln w="12700">
            <a:solidFill>
              <a:srgbClr val="2A2A33"/>
            </a:solidFill>
            <a:prstDash val="solid"/>
          </a:ln>
        </p:spPr>
      </p:sp>
      <p:sp>
        <p:nvSpPr>
          <p:cNvPr id="6" name="Text 4"/>
          <p:cNvSpPr/>
          <p:nvPr/>
        </p:nvSpPr>
        <p:spPr>
          <a:xfrm>
            <a:off x="777240" y="29260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Öl på en bar</a:t>
            </a:r>
            <a:endParaRPr lang="en-US" sz="1300" dirty="0"/>
          </a:p>
        </p:txBody>
      </p:sp>
      <p:sp>
        <p:nvSpPr>
          <p:cNvPr id="7" name="Text 5"/>
          <p:cNvSpPr/>
          <p:nvPr/>
        </p:nvSpPr>
        <p:spPr>
          <a:xfrm>
            <a:off x="3520440" y="2926080"/>
            <a:ext cx="1188720" cy="457200"/>
          </a:xfrm>
          <a:prstGeom prst="rect">
            <a:avLst/>
          </a:prstGeom>
          <a:noFill/>
          <a:ln/>
        </p:spPr>
        <p:txBody>
          <a:bodyPr wrap="square" lIns="0" tIns="0" rIns="0" bIns="0" rtlCol="0" anchor="ctr"/>
          <a:lstStyle/>
          <a:p>
            <a:pPr indent="0" marL="0">
              <a:buNone/>
            </a:pPr>
            <a:r>
              <a:rPr lang="en-US" sz="1400" b="1" dirty="0">
                <a:solidFill>
                  <a:srgbClr val="B8FF00"/>
                </a:solidFill>
                <a:latin typeface="Arial Black" pitchFamily="34" charset="0"/>
                <a:ea typeface="Arial Black" pitchFamily="34" charset="-122"/>
                <a:cs typeface="Arial Black" pitchFamily="34" charset="-120"/>
              </a:rPr>
              <a:t>5-7 €</a:t>
            </a:r>
            <a:endParaRPr lang="en-US" sz="1400" dirty="0"/>
          </a:p>
        </p:txBody>
      </p:sp>
      <p:sp>
        <p:nvSpPr>
          <p:cNvPr id="8" name="Text 6"/>
          <p:cNvSpPr/>
          <p:nvPr/>
        </p:nvSpPr>
        <p:spPr>
          <a:xfrm>
            <a:off x="4709160" y="292608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Beroende på var</a:t>
            </a:r>
            <a:endParaRPr lang="en-US" sz="900" dirty="0"/>
          </a:p>
        </p:txBody>
      </p:sp>
      <p:sp>
        <p:nvSpPr>
          <p:cNvPr id="9" name="Shape 7"/>
          <p:cNvSpPr/>
          <p:nvPr/>
        </p:nvSpPr>
        <p:spPr>
          <a:xfrm>
            <a:off x="640080" y="3429000"/>
            <a:ext cx="5394960" cy="457200"/>
          </a:xfrm>
          <a:prstGeom prst="rect">
            <a:avLst/>
          </a:prstGeom>
          <a:solidFill>
            <a:srgbClr val="1F1F26"/>
          </a:solidFill>
          <a:ln w="12700">
            <a:solidFill>
              <a:srgbClr val="2A2A33"/>
            </a:solidFill>
            <a:prstDash val="solid"/>
          </a:ln>
        </p:spPr>
      </p:sp>
      <p:sp>
        <p:nvSpPr>
          <p:cNvPr id="10" name="Text 8"/>
          <p:cNvSpPr/>
          <p:nvPr/>
        </p:nvSpPr>
        <p:spPr>
          <a:xfrm>
            <a:off x="777240" y="342900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Long drink / cocktail</a:t>
            </a:r>
            <a:endParaRPr lang="en-US" sz="1300" dirty="0"/>
          </a:p>
        </p:txBody>
      </p:sp>
      <p:sp>
        <p:nvSpPr>
          <p:cNvPr id="11" name="Text 9"/>
          <p:cNvSpPr/>
          <p:nvPr/>
        </p:nvSpPr>
        <p:spPr>
          <a:xfrm>
            <a:off x="3520440" y="3429000"/>
            <a:ext cx="1188720" cy="457200"/>
          </a:xfrm>
          <a:prstGeom prst="rect">
            <a:avLst/>
          </a:prstGeom>
          <a:noFill/>
          <a:ln/>
        </p:spPr>
        <p:txBody>
          <a:bodyPr wrap="square" lIns="0" tIns="0" rIns="0" bIns="0" rtlCol="0" anchor="ctr"/>
          <a:lstStyle/>
          <a:p>
            <a:pPr indent="0" marL="0">
              <a:buNone/>
            </a:pPr>
            <a:r>
              <a:rPr lang="en-US" sz="1400" b="1" dirty="0">
                <a:solidFill>
                  <a:srgbClr val="B8FF00"/>
                </a:solidFill>
                <a:latin typeface="Arial Black" pitchFamily="34" charset="0"/>
                <a:ea typeface="Arial Black" pitchFamily="34" charset="-122"/>
                <a:cs typeface="Arial Black" pitchFamily="34" charset="-120"/>
              </a:rPr>
              <a:t>8-12 €</a:t>
            </a:r>
            <a:endParaRPr lang="en-US" sz="1400" dirty="0"/>
          </a:p>
        </p:txBody>
      </p:sp>
      <p:sp>
        <p:nvSpPr>
          <p:cNvPr id="12" name="Text 10"/>
          <p:cNvSpPr/>
          <p:nvPr/>
        </p:nvSpPr>
        <p:spPr>
          <a:xfrm>
            <a:off x="4709160" y="342900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Rooftop drar mer</a:t>
            </a:r>
            <a:endParaRPr lang="en-US" sz="900" dirty="0"/>
          </a:p>
        </p:txBody>
      </p:sp>
      <p:sp>
        <p:nvSpPr>
          <p:cNvPr id="13" name="Shape 11"/>
          <p:cNvSpPr/>
          <p:nvPr/>
        </p:nvSpPr>
        <p:spPr>
          <a:xfrm>
            <a:off x="640080" y="3931920"/>
            <a:ext cx="5394960" cy="457200"/>
          </a:xfrm>
          <a:prstGeom prst="rect">
            <a:avLst/>
          </a:prstGeom>
          <a:solidFill>
            <a:srgbClr val="1F1F26"/>
          </a:solidFill>
          <a:ln w="12700">
            <a:solidFill>
              <a:srgbClr val="2A2A33"/>
            </a:solidFill>
            <a:prstDash val="solid"/>
          </a:ln>
        </p:spPr>
      </p:sp>
      <p:sp>
        <p:nvSpPr>
          <p:cNvPr id="14" name="Text 12"/>
          <p:cNvSpPr/>
          <p:nvPr/>
        </p:nvSpPr>
        <p:spPr>
          <a:xfrm>
            <a:off x="777240" y="393192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Shot</a:t>
            </a:r>
            <a:endParaRPr lang="en-US" sz="1300" dirty="0"/>
          </a:p>
        </p:txBody>
      </p:sp>
      <p:sp>
        <p:nvSpPr>
          <p:cNvPr id="15" name="Text 13"/>
          <p:cNvSpPr/>
          <p:nvPr/>
        </p:nvSpPr>
        <p:spPr>
          <a:xfrm>
            <a:off x="3520440" y="3931920"/>
            <a:ext cx="1188720" cy="457200"/>
          </a:xfrm>
          <a:prstGeom prst="rect">
            <a:avLst/>
          </a:prstGeom>
          <a:noFill/>
          <a:ln/>
        </p:spPr>
        <p:txBody>
          <a:bodyPr wrap="square" lIns="0" tIns="0" rIns="0" bIns="0" rtlCol="0" anchor="ctr"/>
          <a:lstStyle/>
          <a:p>
            <a:pPr indent="0" marL="0">
              <a:buNone/>
            </a:pPr>
            <a:r>
              <a:rPr lang="en-US" sz="1400" b="1" dirty="0">
                <a:solidFill>
                  <a:srgbClr val="B8FF00"/>
                </a:solidFill>
                <a:latin typeface="Arial Black" pitchFamily="34" charset="0"/>
                <a:ea typeface="Arial Black" pitchFamily="34" charset="-122"/>
                <a:cs typeface="Arial Black" pitchFamily="34" charset="-120"/>
              </a:rPr>
              <a:t>5 €</a:t>
            </a:r>
            <a:endParaRPr lang="en-US" sz="1400" dirty="0"/>
          </a:p>
        </p:txBody>
      </p:sp>
      <p:sp>
        <p:nvSpPr>
          <p:cNvPr id="16" name="Text 14"/>
          <p:cNvSpPr/>
          <p:nvPr/>
        </p:nvSpPr>
        <p:spPr>
          <a:xfrm>
            <a:off x="4709160" y="393192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Standard</a:t>
            </a:r>
            <a:endParaRPr lang="en-US" sz="900" dirty="0"/>
          </a:p>
        </p:txBody>
      </p:sp>
      <p:sp>
        <p:nvSpPr>
          <p:cNvPr id="17" name="Shape 15"/>
          <p:cNvSpPr/>
          <p:nvPr/>
        </p:nvSpPr>
        <p:spPr>
          <a:xfrm>
            <a:off x="640080" y="4434840"/>
            <a:ext cx="5394960" cy="457200"/>
          </a:xfrm>
          <a:prstGeom prst="rect">
            <a:avLst/>
          </a:prstGeom>
          <a:solidFill>
            <a:srgbClr val="1F1F26"/>
          </a:solidFill>
          <a:ln w="12700">
            <a:solidFill>
              <a:srgbClr val="2A2A33"/>
            </a:solidFill>
            <a:prstDash val="solid"/>
          </a:ln>
        </p:spPr>
      </p:sp>
      <p:sp>
        <p:nvSpPr>
          <p:cNvPr id="18" name="Text 16"/>
          <p:cNvSpPr/>
          <p:nvPr/>
        </p:nvSpPr>
        <p:spPr>
          <a:xfrm>
            <a:off x="777240" y="443484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Glas vin på bar</a:t>
            </a:r>
            <a:endParaRPr lang="en-US" sz="1300" dirty="0"/>
          </a:p>
        </p:txBody>
      </p:sp>
      <p:sp>
        <p:nvSpPr>
          <p:cNvPr id="19" name="Text 17"/>
          <p:cNvSpPr/>
          <p:nvPr/>
        </p:nvSpPr>
        <p:spPr>
          <a:xfrm>
            <a:off x="3520440" y="4434840"/>
            <a:ext cx="1188720" cy="457200"/>
          </a:xfrm>
          <a:prstGeom prst="rect">
            <a:avLst/>
          </a:prstGeom>
          <a:noFill/>
          <a:ln/>
        </p:spPr>
        <p:txBody>
          <a:bodyPr wrap="square" lIns="0" tIns="0" rIns="0" bIns="0" rtlCol="0" anchor="ctr"/>
          <a:lstStyle/>
          <a:p>
            <a:pPr indent="0" marL="0">
              <a:buNone/>
            </a:pPr>
            <a:r>
              <a:rPr lang="en-US" sz="1400" b="1" dirty="0">
                <a:solidFill>
                  <a:srgbClr val="B8FF00"/>
                </a:solidFill>
                <a:latin typeface="Arial Black" pitchFamily="34" charset="0"/>
                <a:ea typeface="Arial Black" pitchFamily="34" charset="-122"/>
                <a:cs typeface="Arial Black" pitchFamily="34" charset="-120"/>
              </a:rPr>
              <a:t>4-6 €</a:t>
            </a:r>
            <a:endParaRPr lang="en-US" sz="1400" dirty="0"/>
          </a:p>
        </p:txBody>
      </p:sp>
      <p:sp>
        <p:nvSpPr>
          <p:cNvPr id="20" name="Text 18"/>
          <p:cNvSpPr/>
          <p:nvPr/>
        </p:nvSpPr>
        <p:spPr>
          <a:xfrm>
            <a:off x="4709160" y="443484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Lokalt vin är billigare</a:t>
            </a:r>
            <a:endParaRPr lang="en-US" sz="900" dirty="0"/>
          </a:p>
        </p:txBody>
      </p:sp>
      <p:sp>
        <p:nvSpPr>
          <p:cNvPr id="21" name="Shape 19"/>
          <p:cNvSpPr/>
          <p:nvPr/>
        </p:nvSpPr>
        <p:spPr>
          <a:xfrm>
            <a:off x="640080" y="4937760"/>
            <a:ext cx="5394960" cy="457200"/>
          </a:xfrm>
          <a:prstGeom prst="rect">
            <a:avLst/>
          </a:prstGeom>
          <a:solidFill>
            <a:srgbClr val="1F1F26"/>
          </a:solidFill>
          <a:ln w="12700">
            <a:solidFill>
              <a:srgbClr val="2A2A33"/>
            </a:solidFill>
            <a:prstDash val="solid"/>
          </a:ln>
        </p:spPr>
      </p:sp>
      <p:sp>
        <p:nvSpPr>
          <p:cNvPr id="22" name="Text 20"/>
          <p:cNvSpPr/>
          <p:nvPr/>
        </p:nvSpPr>
        <p:spPr>
          <a:xfrm>
            <a:off x="777240" y="493776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Klubbinträde</a:t>
            </a:r>
            <a:endParaRPr lang="en-US" sz="1300" dirty="0"/>
          </a:p>
        </p:txBody>
      </p:sp>
      <p:sp>
        <p:nvSpPr>
          <p:cNvPr id="23" name="Text 21"/>
          <p:cNvSpPr/>
          <p:nvPr/>
        </p:nvSpPr>
        <p:spPr>
          <a:xfrm>
            <a:off x="3520440" y="4937760"/>
            <a:ext cx="1188720" cy="457200"/>
          </a:xfrm>
          <a:prstGeom prst="rect">
            <a:avLst/>
          </a:prstGeom>
          <a:noFill/>
          <a:ln/>
        </p:spPr>
        <p:txBody>
          <a:bodyPr wrap="square" lIns="0" tIns="0" rIns="0" bIns="0" rtlCol="0" anchor="ctr"/>
          <a:lstStyle/>
          <a:p>
            <a:pPr indent="0" marL="0">
              <a:buNone/>
            </a:pPr>
            <a:r>
              <a:rPr lang="en-US" sz="1400" b="1" dirty="0">
                <a:solidFill>
                  <a:srgbClr val="B8FF00"/>
                </a:solidFill>
                <a:latin typeface="Arial Black" pitchFamily="34" charset="0"/>
                <a:ea typeface="Arial Black" pitchFamily="34" charset="-122"/>
                <a:cs typeface="Arial Black" pitchFamily="34" charset="-120"/>
              </a:rPr>
              <a:t>5-25 €</a:t>
            </a:r>
            <a:endParaRPr lang="en-US" sz="1400" dirty="0"/>
          </a:p>
        </p:txBody>
      </p:sp>
      <p:sp>
        <p:nvSpPr>
          <p:cNvPr id="24" name="Text 22"/>
          <p:cNvSpPr/>
          <p:nvPr/>
        </p:nvSpPr>
        <p:spPr>
          <a:xfrm>
            <a:off x="4709160" y="493776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Beror på DJ och kväll</a:t>
            </a:r>
            <a:endParaRPr lang="en-US" sz="900" dirty="0"/>
          </a:p>
        </p:txBody>
      </p:sp>
      <p:sp>
        <p:nvSpPr>
          <p:cNvPr id="25" name="Shape 23"/>
          <p:cNvSpPr/>
          <p:nvPr/>
        </p:nvSpPr>
        <p:spPr>
          <a:xfrm>
            <a:off x="640080" y="5440680"/>
            <a:ext cx="5394960" cy="457200"/>
          </a:xfrm>
          <a:prstGeom prst="rect">
            <a:avLst/>
          </a:prstGeom>
          <a:solidFill>
            <a:srgbClr val="1F1F26"/>
          </a:solidFill>
          <a:ln w="12700">
            <a:solidFill>
              <a:srgbClr val="2A2A33"/>
            </a:solidFill>
            <a:prstDash val="solid"/>
          </a:ln>
        </p:spPr>
      </p:sp>
      <p:sp>
        <p:nvSpPr>
          <p:cNvPr id="26" name="Text 24"/>
          <p:cNvSpPr/>
          <p:nvPr/>
        </p:nvSpPr>
        <p:spPr>
          <a:xfrm>
            <a:off x="777240" y="54406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Tram-resa enkel</a:t>
            </a:r>
            <a:endParaRPr lang="en-US" sz="1300" dirty="0"/>
          </a:p>
        </p:txBody>
      </p:sp>
      <p:sp>
        <p:nvSpPr>
          <p:cNvPr id="27" name="Text 25"/>
          <p:cNvSpPr/>
          <p:nvPr/>
        </p:nvSpPr>
        <p:spPr>
          <a:xfrm>
            <a:off x="3520440" y="5440680"/>
            <a:ext cx="1188720" cy="457200"/>
          </a:xfrm>
          <a:prstGeom prst="rect">
            <a:avLst/>
          </a:prstGeom>
          <a:noFill/>
          <a:ln/>
        </p:spPr>
        <p:txBody>
          <a:bodyPr wrap="square" lIns="0" tIns="0" rIns="0" bIns="0" rtlCol="0" anchor="ctr"/>
          <a:lstStyle/>
          <a:p>
            <a:pPr indent="0" marL="0">
              <a:buNone/>
            </a:pPr>
            <a:r>
              <a:rPr lang="en-US" sz="1400" b="1" dirty="0">
                <a:solidFill>
                  <a:srgbClr val="B8FF00"/>
                </a:solidFill>
                <a:latin typeface="Arial Black" pitchFamily="34" charset="0"/>
                <a:ea typeface="Arial Black" pitchFamily="34" charset="-122"/>
                <a:cs typeface="Arial Black" pitchFamily="34" charset="-120"/>
              </a:rPr>
              <a:t>1.80 €</a:t>
            </a:r>
            <a:endParaRPr lang="en-US" sz="1400" dirty="0"/>
          </a:p>
        </p:txBody>
      </p:sp>
      <p:sp>
        <p:nvSpPr>
          <p:cNvPr id="28" name="Text 26"/>
          <p:cNvSpPr/>
          <p:nvPr/>
        </p:nvSpPr>
        <p:spPr>
          <a:xfrm>
            <a:off x="4709160" y="544068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Köp 10-pack 13 €</a:t>
            </a:r>
            <a:endParaRPr lang="en-US" sz="900" dirty="0"/>
          </a:p>
        </p:txBody>
      </p:sp>
      <p:sp>
        <p:nvSpPr>
          <p:cNvPr id="29" name="Shape 27"/>
          <p:cNvSpPr/>
          <p:nvPr/>
        </p:nvSpPr>
        <p:spPr>
          <a:xfrm>
            <a:off x="6217920" y="2926080"/>
            <a:ext cx="5394960" cy="457200"/>
          </a:xfrm>
          <a:prstGeom prst="rect">
            <a:avLst/>
          </a:prstGeom>
          <a:solidFill>
            <a:srgbClr val="1F1F26"/>
          </a:solidFill>
          <a:ln w="12700">
            <a:solidFill>
              <a:srgbClr val="2A2A33"/>
            </a:solidFill>
            <a:prstDash val="solid"/>
          </a:ln>
        </p:spPr>
      </p:sp>
      <p:sp>
        <p:nvSpPr>
          <p:cNvPr id="30" name="Text 28"/>
          <p:cNvSpPr/>
          <p:nvPr/>
        </p:nvSpPr>
        <p:spPr>
          <a:xfrm>
            <a:off x="6355080" y="29260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Tåg till Sète</a:t>
            </a:r>
            <a:endParaRPr lang="en-US" sz="1300" dirty="0"/>
          </a:p>
        </p:txBody>
      </p:sp>
      <p:sp>
        <p:nvSpPr>
          <p:cNvPr id="31" name="Text 29"/>
          <p:cNvSpPr/>
          <p:nvPr/>
        </p:nvSpPr>
        <p:spPr>
          <a:xfrm>
            <a:off x="9098280" y="2926080"/>
            <a:ext cx="1188720" cy="457200"/>
          </a:xfrm>
          <a:prstGeom prst="rect">
            <a:avLst/>
          </a:prstGeom>
          <a:noFill/>
          <a:ln/>
        </p:spPr>
        <p:txBody>
          <a:bodyPr wrap="square" lIns="0" tIns="0" rIns="0" bIns="0" rtlCol="0" anchor="ctr"/>
          <a:lstStyle/>
          <a:p>
            <a:pPr indent="0" marL="0">
              <a:buNone/>
            </a:pPr>
            <a:r>
              <a:rPr lang="en-US" sz="1400" b="1" dirty="0">
                <a:solidFill>
                  <a:srgbClr val="00D9FF"/>
                </a:solidFill>
                <a:latin typeface="Arial Black" pitchFamily="34" charset="0"/>
                <a:ea typeface="Arial Black" pitchFamily="34" charset="-122"/>
                <a:cs typeface="Arial Black" pitchFamily="34" charset="-120"/>
              </a:rPr>
              <a:t>12 € t/r</a:t>
            </a:r>
            <a:endParaRPr lang="en-US" sz="1400" dirty="0"/>
          </a:p>
        </p:txBody>
      </p:sp>
      <p:sp>
        <p:nvSpPr>
          <p:cNvPr id="32" name="Text 30"/>
          <p:cNvSpPr/>
          <p:nvPr/>
        </p:nvSpPr>
        <p:spPr>
          <a:xfrm>
            <a:off x="10287000" y="292608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20 min, varje halvtimme</a:t>
            </a:r>
            <a:endParaRPr lang="en-US" sz="900" dirty="0"/>
          </a:p>
        </p:txBody>
      </p:sp>
      <p:sp>
        <p:nvSpPr>
          <p:cNvPr id="33" name="Shape 31"/>
          <p:cNvSpPr/>
          <p:nvPr/>
        </p:nvSpPr>
        <p:spPr>
          <a:xfrm>
            <a:off x="6217920" y="3429000"/>
            <a:ext cx="5394960" cy="457200"/>
          </a:xfrm>
          <a:prstGeom prst="rect">
            <a:avLst/>
          </a:prstGeom>
          <a:solidFill>
            <a:srgbClr val="1F1F26"/>
          </a:solidFill>
          <a:ln w="12700">
            <a:solidFill>
              <a:srgbClr val="2A2A33"/>
            </a:solidFill>
            <a:prstDash val="solid"/>
          </a:ln>
        </p:spPr>
      </p:sp>
      <p:sp>
        <p:nvSpPr>
          <p:cNvPr id="34" name="Text 32"/>
          <p:cNvSpPr/>
          <p:nvPr/>
        </p:nvSpPr>
        <p:spPr>
          <a:xfrm>
            <a:off x="6355080" y="342900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Buss till Pont du Diable</a:t>
            </a:r>
            <a:endParaRPr lang="en-US" sz="1300" dirty="0"/>
          </a:p>
        </p:txBody>
      </p:sp>
      <p:sp>
        <p:nvSpPr>
          <p:cNvPr id="35" name="Text 33"/>
          <p:cNvSpPr/>
          <p:nvPr/>
        </p:nvSpPr>
        <p:spPr>
          <a:xfrm>
            <a:off x="9098280" y="3429000"/>
            <a:ext cx="1188720" cy="457200"/>
          </a:xfrm>
          <a:prstGeom prst="rect">
            <a:avLst/>
          </a:prstGeom>
          <a:noFill/>
          <a:ln/>
        </p:spPr>
        <p:txBody>
          <a:bodyPr wrap="square" lIns="0" tIns="0" rIns="0" bIns="0" rtlCol="0" anchor="ctr"/>
          <a:lstStyle/>
          <a:p>
            <a:pPr indent="0" marL="0">
              <a:buNone/>
            </a:pPr>
            <a:r>
              <a:rPr lang="en-US" sz="1400" b="1" dirty="0">
                <a:solidFill>
                  <a:srgbClr val="00D9FF"/>
                </a:solidFill>
                <a:latin typeface="Arial Black" pitchFamily="34" charset="0"/>
                <a:ea typeface="Arial Black" pitchFamily="34" charset="-122"/>
                <a:cs typeface="Arial Black" pitchFamily="34" charset="-120"/>
              </a:rPr>
              <a:t>6 € t/r</a:t>
            </a:r>
            <a:endParaRPr lang="en-US" sz="1400" dirty="0"/>
          </a:p>
        </p:txBody>
      </p:sp>
      <p:sp>
        <p:nvSpPr>
          <p:cNvPr id="36" name="Text 34"/>
          <p:cNvSpPr/>
          <p:nvPr/>
        </p:nvSpPr>
        <p:spPr>
          <a:xfrm>
            <a:off x="10287000" y="342900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Linje 668 från Mosson</a:t>
            </a:r>
            <a:endParaRPr lang="en-US" sz="900" dirty="0"/>
          </a:p>
        </p:txBody>
      </p:sp>
      <p:sp>
        <p:nvSpPr>
          <p:cNvPr id="37" name="Shape 35"/>
          <p:cNvSpPr/>
          <p:nvPr/>
        </p:nvSpPr>
        <p:spPr>
          <a:xfrm>
            <a:off x="6217920" y="3931920"/>
            <a:ext cx="5394960" cy="457200"/>
          </a:xfrm>
          <a:prstGeom prst="rect">
            <a:avLst/>
          </a:prstGeom>
          <a:solidFill>
            <a:srgbClr val="1F1F26"/>
          </a:solidFill>
          <a:ln w="12700">
            <a:solidFill>
              <a:srgbClr val="2A2A33"/>
            </a:solidFill>
            <a:prstDash val="solid"/>
          </a:ln>
        </p:spPr>
      </p:sp>
      <p:sp>
        <p:nvSpPr>
          <p:cNvPr id="38" name="Text 36"/>
          <p:cNvSpPr/>
          <p:nvPr/>
        </p:nvSpPr>
        <p:spPr>
          <a:xfrm>
            <a:off x="6355080" y="393192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Cykelhyra 7 dagar</a:t>
            </a:r>
            <a:endParaRPr lang="en-US" sz="1300" dirty="0"/>
          </a:p>
        </p:txBody>
      </p:sp>
      <p:sp>
        <p:nvSpPr>
          <p:cNvPr id="39" name="Text 37"/>
          <p:cNvSpPr/>
          <p:nvPr/>
        </p:nvSpPr>
        <p:spPr>
          <a:xfrm>
            <a:off x="9098280" y="3931920"/>
            <a:ext cx="1188720" cy="457200"/>
          </a:xfrm>
          <a:prstGeom prst="rect">
            <a:avLst/>
          </a:prstGeom>
          <a:noFill/>
          <a:ln/>
        </p:spPr>
        <p:txBody>
          <a:bodyPr wrap="square" lIns="0" tIns="0" rIns="0" bIns="0" rtlCol="0" anchor="ctr"/>
          <a:lstStyle/>
          <a:p>
            <a:pPr indent="0" marL="0">
              <a:buNone/>
            </a:pPr>
            <a:r>
              <a:rPr lang="en-US" sz="1400" b="1" dirty="0">
                <a:solidFill>
                  <a:srgbClr val="00D9FF"/>
                </a:solidFill>
                <a:latin typeface="Arial Black" pitchFamily="34" charset="0"/>
                <a:ea typeface="Arial Black" pitchFamily="34" charset="-122"/>
                <a:cs typeface="Arial Black" pitchFamily="34" charset="-120"/>
              </a:rPr>
              <a:t>7 €</a:t>
            </a:r>
            <a:endParaRPr lang="en-US" sz="1400" dirty="0"/>
          </a:p>
        </p:txBody>
      </p:sp>
      <p:sp>
        <p:nvSpPr>
          <p:cNvPr id="40" name="Text 38"/>
          <p:cNvSpPr/>
          <p:nvPr/>
        </p:nvSpPr>
        <p:spPr>
          <a:xfrm>
            <a:off x="10287000" y="393192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Vélomagg, otroligt billigt</a:t>
            </a:r>
            <a:endParaRPr lang="en-US" sz="900" dirty="0"/>
          </a:p>
        </p:txBody>
      </p:sp>
      <p:sp>
        <p:nvSpPr>
          <p:cNvPr id="41" name="Shape 39"/>
          <p:cNvSpPr/>
          <p:nvPr/>
        </p:nvSpPr>
        <p:spPr>
          <a:xfrm>
            <a:off x="6217920" y="4434840"/>
            <a:ext cx="5394960" cy="457200"/>
          </a:xfrm>
          <a:prstGeom prst="rect">
            <a:avLst/>
          </a:prstGeom>
          <a:solidFill>
            <a:srgbClr val="1F1F26"/>
          </a:solidFill>
          <a:ln w="12700">
            <a:solidFill>
              <a:srgbClr val="2A2A33"/>
            </a:solidFill>
            <a:prstDash val="solid"/>
          </a:ln>
        </p:spPr>
      </p:sp>
      <p:sp>
        <p:nvSpPr>
          <p:cNvPr id="42" name="Text 40"/>
          <p:cNvSpPr/>
          <p:nvPr/>
        </p:nvSpPr>
        <p:spPr>
          <a:xfrm>
            <a:off x="6355080" y="443484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Lunch på torg</a:t>
            </a:r>
            <a:endParaRPr lang="en-US" sz="1300" dirty="0"/>
          </a:p>
        </p:txBody>
      </p:sp>
      <p:sp>
        <p:nvSpPr>
          <p:cNvPr id="43" name="Text 41"/>
          <p:cNvSpPr/>
          <p:nvPr/>
        </p:nvSpPr>
        <p:spPr>
          <a:xfrm>
            <a:off x="9098280" y="4434840"/>
            <a:ext cx="1188720" cy="457200"/>
          </a:xfrm>
          <a:prstGeom prst="rect">
            <a:avLst/>
          </a:prstGeom>
          <a:noFill/>
          <a:ln/>
        </p:spPr>
        <p:txBody>
          <a:bodyPr wrap="square" lIns="0" tIns="0" rIns="0" bIns="0" rtlCol="0" anchor="ctr"/>
          <a:lstStyle/>
          <a:p>
            <a:pPr indent="0" marL="0">
              <a:buNone/>
            </a:pPr>
            <a:r>
              <a:rPr lang="en-US" sz="1400" b="1" dirty="0">
                <a:solidFill>
                  <a:srgbClr val="00D9FF"/>
                </a:solidFill>
                <a:latin typeface="Arial Black" pitchFamily="34" charset="0"/>
                <a:ea typeface="Arial Black" pitchFamily="34" charset="-122"/>
                <a:cs typeface="Arial Black" pitchFamily="34" charset="-120"/>
              </a:rPr>
              <a:t>12-18 €</a:t>
            </a:r>
            <a:endParaRPr lang="en-US" sz="1400" dirty="0"/>
          </a:p>
        </p:txBody>
      </p:sp>
      <p:sp>
        <p:nvSpPr>
          <p:cNvPr id="44" name="Text 42"/>
          <p:cNvSpPr/>
          <p:nvPr/>
        </p:nvSpPr>
        <p:spPr>
          <a:xfrm>
            <a:off x="10287000" y="443484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Halles eller bistro</a:t>
            </a:r>
            <a:endParaRPr lang="en-US" sz="900" dirty="0"/>
          </a:p>
        </p:txBody>
      </p:sp>
      <p:sp>
        <p:nvSpPr>
          <p:cNvPr id="45" name="Shape 43"/>
          <p:cNvSpPr/>
          <p:nvPr/>
        </p:nvSpPr>
        <p:spPr>
          <a:xfrm>
            <a:off x="6217920" y="4937760"/>
            <a:ext cx="5394960" cy="457200"/>
          </a:xfrm>
          <a:prstGeom prst="rect">
            <a:avLst/>
          </a:prstGeom>
          <a:solidFill>
            <a:srgbClr val="1F1F26"/>
          </a:solidFill>
          <a:ln w="12700">
            <a:solidFill>
              <a:srgbClr val="2A2A33"/>
            </a:solidFill>
            <a:prstDash val="solid"/>
          </a:ln>
        </p:spPr>
      </p:sp>
      <p:sp>
        <p:nvSpPr>
          <p:cNvPr id="46" name="Text 44"/>
          <p:cNvSpPr/>
          <p:nvPr/>
        </p:nvSpPr>
        <p:spPr>
          <a:xfrm>
            <a:off x="6355080" y="493776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Streetfood Marché du Lez</a:t>
            </a:r>
            <a:endParaRPr lang="en-US" sz="1300" dirty="0"/>
          </a:p>
        </p:txBody>
      </p:sp>
      <p:sp>
        <p:nvSpPr>
          <p:cNvPr id="47" name="Text 45"/>
          <p:cNvSpPr/>
          <p:nvPr/>
        </p:nvSpPr>
        <p:spPr>
          <a:xfrm>
            <a:off x="9098280" y="4937760"/>
            <a:ext cx="1188720" cy="457200"/>
          </a:xfrm>
          <a:prstGeom prst="rect">
            <a:avLst/>
          </a:prstGeom>
          <a:noFill/>
          <a:ln/>
        </p:spPr>
        <p:txBody>
          <a:bodyPr wrap="square" lIns="0" tIns="0" rIns="0" bIns="0" rtlCol="0" anchor="ctr"/>
          <a:lstStyle/>
          <a:p>
            <a:pPr indent="0" marL="0">
              <a:buNone/>
            </a:pPr>
            <a:r>
              <a:rPr lang="en-US" sz="1400" b="1" dirty="0">
                <a:solidFill>
                  <a:srgbClr val="00D9FF"/>
                </a:solidFill>
                <a:latin typeface="Arial Black" pitchFamily="34" charset="0"/>
                <a:ea typeface="Arial Black" pitchFamily="34" charset="-122"/>
                <a:cs typeface="Arial Black" pitchFamily="34" charset="-120"/>
              </a:rPr>
              <a:t>8-15 €</a:t>
            </a:r>
            <a:endParaRPr lang="en-US" sz="1400" dirty="0"/>
          </a:p>
        </p:txBody>
      </p:sp>
      <p:sp>
        <p:nvSpPr>
          <p:cNvPr id="48" name="Text 46"/>
          <p:cNvSpPr/>
          <p:nvPr/>
        </p:nvSpPr>
        <p:spPr>
          <a:xfrm>
            <a:off x="10287000" y="493776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Per rätt</a:t>
            </a:r>
            <a:endParaRPr lang="en-US" sz="900" dirty="0"/>
          </a:p>
        </p:txBody>
      </p:sp>
      <p:sp>
        <p:nvSpPr>
          <p:cNvPr id="49" name="Shape 47"/>
          <p:cNvSpPr/>
          <p:nvPr/>
        </p:nvSpPr>
        <p:spPr>
          <a:xfrm>
            <a:off x="6217920" y="5440680"/>
            <a:ext cx="5394960" cy="457200"/>
          </a:xfrm>
          <a:prstGeom prst="rect">
            <a:avLst/>
          </a:prstGeom>
          <a:solidFill>
            <a:srgbClr val="1F1F26"/>
          </a:solidFill>
          <a:ln w="12700">
            <a:solidFill>
              <a:srgbClr val="2A2A33"/>
            </a:solidFill>
            <a:prstDash val="solid"/>
          </a:ln>
        </p:spPr>
      </p:sp>
      <p:sp>
        <p:nvSpPr>
          <p:cNvPr id="50" name="Text 48"/>
          <p:cNvSpPr/>
          <p:nvPr/>
        </p:nvSpPr>
        <p:spPr>
          <a:xfrm>
            <a:off x="6355080" y="54406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Kajakhyra Hérault</a:t>
            </a:r>
            <a:endParaRPr lang="en-US" sz="1300" dirty="0"/>
          </a:p>
        </p:txBody>
      </p:sp>
      <p:sp>
        <p:nvSpPr>
          <p:cNvPr id="51" name="Text 49"/>
          <p:cNvSpPr/>
          <p:nvPr/>
        </p:nvSpPr>
        <p:spPr>
          <a:xfrm>
            <a:off x="9098280" y="5440680"/>
            <a:ext cx="1188720" cy="457200"/>
          </a:xfrm>
          <a:prstGeom prst="rect">
            <a:avLst/>
          </a:prstGeom>
          <a:noFill/>
          <a:ln/>
        </p:spPr>
        <p:txBody>
          <a:bodyPr wrap="square" lIns="0" tIns="0" rIns="0" bIns="0" rtlCol="0" anchor="ctr"/>
          <a:lstStyle/>
          <a:p>
            <a:pPr indent="0" marL="0">
              <a:buNone/>
            </a:pPr>
            <a:r>
              <a:rPr lang="en-US" sz="1400" b="1" dirty="0">
                <a:solidFill>
                  <a:srgbClr val="00D9FF"/>
                </a:solidFill>
                <a:latin typeface="Arial Black" pitchFamily="34" charset="0"/>
                <a:ea typeface="Arial Black" pitchFamily="34" charset="-122"/>
                <a:cs typeface="Arial Black" pitchFamily="34" charset="-120"/>
              </a:rPr>
              <a:t>20-30 €</a:t>
            </a:r>
            <a:endParaRPr lang="en-US" sz="1400" dirty="0"/>
          </a:p>
        </p:txBody>
      </p:sp>
      <p:sp>
        <p:nvSpPr>
          <p:cNvPr id="52" name="Text 50"/>
          <p:cNvSpPr/>
          <p:nvPr/>
        </p:nvSpPr>
        <p:spPr>
          <a:xfrm>
            <a:off x="10287000" y="5440680"/>
            <a:ext cx="1280160" cy="457200"/>
          </a:xfrm>
          <a:prstGeom prst="rect">
            <a:avLst/>
          </a:prstGeom>
          <a:noFill/>
          <a:ln/>
        </p:spPr>
        <p:txBody>
          <a:bodyPr wrap="square" lIns="0" tIns="0" rIns="0" bIns="0" rtlCol="0" anchor="ctr"/>
          <a:lstStyle/>
          <a:p>
            <a:pPr indent="0" marL="0">
              <a:buNone/>
            </a:pPr>
            <a:r>
              <a:rPr lang="en-US" sz="900" i="1" dirty="0">
                <a:solidFill>
                  <a:srgbClr val="9CA3AF"/>
                </a:solidFill>
                <a:latin typeface="Arial" pitchFamily="34" charset="0"/>
                <a:ea typeface="Arial" pitchFamily="34" charset="-122"/>
                <a:cs typeface="Arial" pitchFamily="34" charset="-120"/>
              </a:rPr>
              <a:t>Hela paketet, halvdag</a:t>
            </a:r>
            <a:endParaRPr lang="en-US" sz="900" dirty="0"/>
          </a:p>
        </p:txBody>
      </p:sp>
      <p:sp>
        <p:nvSpPr>
          <p:cNvPr id="53" name="Shape 51"/>
          <p:cNvSpPr/>
          <p:nvPr/>
        </p:nvSpPr>
        <p:spPr>
          <a:xfrm>
            <a:off x="640080" y="6126480"/>
            <a:ext cx="10972800" cy="457200"/>
          </a:xfrm>
          <a:prstGeom prst="rect">
            <a:avLst/>
          </a:prstGeom>
          <a:solidFill>
            <a:srgbClr val="FF3366"/>
          </a:solidFill>
          <a:ln w="12700">
            <a:solidFill>
              <a:srgbClr val="FF3366"/>
            </a:solidFill>
            <a:prstDash val="solid"/>
          </a:ln>
        </p:spPr>
      </p:sp>
      <p:sp>
        <p:nvSpPr>
          <p:cNvPr id="54" name="Text 52"/>
          <p:cNvSpPr/>
          <p:nvPr/>
        </p:nvSpPr>
        <p:spPr>
          <a:xfrm>
            <a:off x="640080" y="6126480"/>
            <a:ext cx="109728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Räkna 80-150 € per person per dag om ni kör hårt med klubb och utflykt. 30-60 € om ni chillar.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0E10"/>
        </a:solidFill>
      </p:bgPr>
    </p:bg>
    <p:spTree>
      <p:nvGrpSpPr>
        <p:cNvPr id="1" name=""/>
        <p:cNvGrpSpPr/>
        <p:nvPr/>
      </p:nvGrpSpPr>
      <p:grpSpPr>
        <a:xfrm>
          <a:off x="0" y="0"/>
          <a:ext cx="0" cy="0"/>
          <a:chOff x="0" y="0"/>
          <a:chExt cx="0" cy="0"/>
        </a:xfrm>
      </p:grpSpPr>
      <p:sp>
        <p:nvSpPr>
          <p:cNvPr id="2" name="Text 0"/>
          <p:cNvSpPr/>
          <p:nvPr/>
        </p:nvSpPr>
        <p:spPr>
          <a:xfrm>
            <a:off x="640080" y="914400"/>
            <a:ext cx="10972800" cy="548640"/>
          </a:xfrm>
          <a:prstGeom prst="rect">
            <a:avLst/>
          </a:prstGeom>
          <a:noFill/>
          <a:ln/>
        </p:spPr>
        <p:txBody>
          <a:bodyPr wrap="square" lIns="0" tIns="0" rIns="0" bIns="0" rtlCol="0" anchor="ctr"/>
          <a:lstStyle/>
          <a:p>
            <a:pPr indent="0" marL="0">
              <a:buNone/>
            </a:pPr>
            <a:r>
              <a:rPr lang="en-US" sz="1800" b="1" spc="1200" kern="0" dirty="0">
                <a:solidFill>
                  <a:srgbClr val="FF3366"/>
                </a:solidFill>
                <a:latin typeface="Arial" pitchFamily="34" charset="0"/>
                <a:ea typeface="Arial" pitchFamily="34" charset="-122"/>
                <a:cs typeface="Arial" pitchFamily="34" charset="-120"/>
              </a:rPr>
              <a:t>OK SÅ</a:t>
            </a:r>
            <a:endParaRPr lang="en-US" sz="1800" dirty="0"/>
          </a:p>
        </p:txBody>
      </p:sp>
      <p:sp>
        <p:nvSpPr>
          <p:cNvPr id="3" name="Text 1"/>
          <p:cNvSpPr/>
          <p:nvPr/>
        </p:nvSpPr>
        <p:spPr>
          <a:xfrm>
            <a:off x="640080" y="1554480"/>
            <a:ext cx="10972800" cy="1280160"/>
          </a:xfrm>
          <a:prstGeom prst="rect">
            <a:avLst/>
          </a:prstGeom>
          <a:noFill/>
          <a:ln/>
        </p:spPr>
        <p:txBody>
          <a:bodyPr wrap="square" lIns="0" tIns="0" rIns="0" bIns="0" rtlCol="0" anchor="ctr"/>
          <a:lstStyle/>
          <a:p>
            <a:pPr indent="0" marL="0">
              <a:buNone/>
            </a:pPr>
            <a:r>
              <a:rPr lang="en-US" sz="6400" b="1" dirty="0">
                <a:solidFill>
                  <a:srgbClr val="FFFFFF"/>
                </a:solidFill>
                <a:latin typeface="Arial Black" pitchFamily="34" charset="0"/>
                <a:ea typeface="Arial Black" pitchFamily="34" charset="-122"/>
                <a:cs typeface="Arial Black" pitchFamily="34" charset="-120"/>
              </a:rPr>
              <a:t>Gör det här:</a:t>
            </a:r>
            <a:endParaRPr lang="en-US" sz="6400" dirty="0"/>
          </a:p>
        </p:txBody>
      </p:sp>
      <p:sp>
        <p:nvSpPr>
          <p:cNvPr id="4" name="Shape 2"/>
          <p:cNvSpPr/>
          <p:nvPr/>
        </p:nvSpPr>
        <p:spPr>
          <a:xfrm>
            <a:off x="640080" y="3017520"/>
            <a:ext cx="640080" cy="640080"/>
          </a:xfrm>
          <a:prstGeom prst="ellipse">
            <a:avLst/>
          </a:prstGeom>
          <a:solidFill>
            <a:srgbClr val="00D9FF"/>
          </a:solidFill>
          <a:ln w="12700">
            <a:solidFill>
              <a:srgbClr val="00D9FF"/>
            </a:solidFill>
            <a:prstDash val="solid"/>
          </a:ln>
        </p:spPr>
      </p:sp>
      <p:sp>
        <p:nvSpPr>
          <p:cNvPr id="5" name="Text 3"/>
          <p:cNvSpPr/>
          <p:nvPr/>
        </p:nvSpPr>
        <p:spPr>
          <a:xfrm>
            <a:off x="640080" y="3017520"/>
            <a:ext cx="640080" cy="640080"/>
          </a:xfrm>
          <a:prstGeom prst="rect">
            <a:avLst/>
          </a:prstGeom>
          <a:noFill/>
          <a:ln/>
        </p:spPr>
        <p:txBody>
          <a:bodyPr wrap="square" lIns="0" tIns="0" rIns="0" bIns="0" rtlCol="0" anchor="ctr"/>
          <a:lstStyle/>
          <a:p>
            <a:pPr algn="ctr" indent="0" marL="0">
              <a:buNone/>
            </a:pPr>
            <a:r>
              <a:rPr lang="en-US" sz="2400" b="1" dirty="0">
                <a:solidFill>
                  <a:srgbClr val="0E0E10"/>
                </a:solidFill>
                <a:latin typeface="Arial Black" pitchFamily="34" charset="0"/>
                <a:ea typeface="Arial Black" pitchFamily="34" charset="-122"/>
                <a:cs typeface="Arial Black" pitchFamily="34" charset="-120"/>
              </a:rPr>
              <a:t>1</a:t>
            </a:r>
            <a:endParaRPr lang="en-US" sz="2400" dirty="0"/>
          </a:p>
        </p:txBody>
      </p:sp>
      <p:sp>
        <p:nvSpPr>
          <p:cNvPr id="6" name="Text 4"/>
          <p:cNvSpPr/>
          <p:nvPr/>
        </p:nvSpPr>
        <p:spPr>
          <a:xfrm>
            <a:off x="1463040" y="3017520"/>
            <a:ext cx="10058400" cy="64008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Boka kajak någon dag första veckan. Det sätter tonen.</a:t>
            </a:r>
            <a:endParaRPr lang="en-US" sz="1800" dirty="0"/>
          </a:p>
        </p:txBody>
      </p:sp>
      <p:sp>
        <p:nvSpPr>
          <p:cNvPr id="7" name="Shape 5"/>
          <p:cNvSpPr/>
          <p:nvPr/>
        </p:nvSpPr>
        <p:spPr>
          <a:xfrm>
            <a:off x="640080" y="3794760"/>
            <a:ext cx="640080" cy="640080"/>
          </a:xfrm>
          <a:prstGeom prst="ellipse">
            <a:avLst/>
          </a:prstGeom>
          <a:solidFill>
            <a:srgbClr val="FF3366"/>
          </a:solidFill>
          <a:ln w="12700">
            <a:solidFill>
              <a:srgbClr val="FF3366"/>
            </a:solidFill>
            <a:prstDash val="solid"/>
          </a:ln>
        </p:spPr>
      </p:sp>
      <p:sp>
        <p:nvSpPr>
          <p:cNvPr id="8" name="Text 6"/>
          <p:cNvSpPr/>
          <p:nvPr/>
        </p:nvSpPr>
        <p:spPr>
          <a:xfrm>
            <a:off x="640080" y="3794760"/>
            <a:ext cx="640080" cy="640080"/>
          </a:xfrm>
          <a:prstGeom prst="rect">
            <a:avLst/>
          </a:prstGeom>
          <a:noFill/>
          <a:ln/>
        </p:spPr>
        <p:txBody>
          <a:bodyPr wrap="square" lIns="0" tIns="0" rIns="0" bIns="0" rtlCol="0" anchor="ctr"/>
          <a:lstStyle/>
          <a:p>
            <a:pPr algn="ctr" indent="0" marL="0">
              <a:buNone/>
            </a:pPr>
            <a:r>
              <a:rPr lang="en-US" sz="2400" b="1" dirty="0">
                <a:solidFill>
                  <a:srgbClr val="0E0E10"/>
                </a:solidFill>
                <a:latin typeface="Arial Black" pitchFamily="34" charset="0"/>
                <a:ea typeface="Arial Black" pitchFamily="34" charset="-122"/>
                <a:cs typeface="Arial Black" pitchFamily="34" charset="-120"/>
              </a:rPr>
              <a:t>2</a:t>
            </a:r>
            <a:endParaRPr lang="en-US" sz="2400" dirty="0"/>
          </a:p>
        </p:txBody>
      </p:sp>
      <p:sp>
        <p:nvSpPr>
          <p:cNvPr id="9" name="Text 7"/>
          <p:cNvSpPr/>
          <p:nvPr/>
        </p:nvSpPr>
        <p:spPr>
          <a:xfrm>
            <a:off x="1463040" y="3794760"/>
            <a:ext cx="10058400" cy="64008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Sikta på Nonna Gioia rooftop minst en gång till solnedgång.</a:t>
            </a:r>
            <a:endParaRPr lang="en-US" sz="1800" dirty="0"/>
          </a:p>
        </p:txBody>
      </p:sp>
      <p:sp>
        <p:nvSpPr>
          <p:cNvPr id="10" name="Shape 8"/>
          <p:cNvSpPr/>
          <p:nvPr/>
        </p:nvSpPr>
        <p:spPr>
          <a:xfrm>
            <a:off x="640080" y="4572000"/>
            <a:ext cx="640080" cy="640080"/>
          </a:xfrm>
          <a:prstGeom prst="ellipse">
            <a:avLst/>
          </a:prstGeom>
          <a:solidFill>
            <a:srgbClr val="B8FF00"/>
          </a:solidFill>
          <a:ln w="12700">
            <a:solidFill>
              <a:srgbClr val="B8FF00"/>
            </a:solidFill>
            <a:prstDash val="solid"/>
          </a:ln>
        </p:spPr>
      </p:sp>
      <p:sp>
        <p:nvSpPr>
          <p:cNvPr id="11" name="Text 9"/>
          <p:cNvSpPr/>
          <p:nvPr/>
        </p:nvSpPr>
        <p:spPr>
          <a:xfrm>
            <a:off x="640080" y="4572000"/>
            <a:ext cx="640080" cy="640080"/>
          </a:xfrm>
          <a:prstGeom prst="rect">
            <a:avLst/>
          </a:prstGeom>
          <a:noFill/>
          <a:ln/>
        </p:spPr>
        <p:txBody>
          <a:bodyPr wrap="square" lIns="0" tIns="0" rIns="0" bIns="0" rtlCol="0" anchor="ctr"/>
          <a:lstStyle/>
          <a:p>
            <a:pPr algn="ctr" indent="0" marL="0">
              <a:buNone/>
            </a:pPr>
            <a:r>
              <a:rPr lang="en-US" sz="2400" b="1" dirty="0">
                <a:solidFill>
                  <a:srgbClr val="0E0E10"/>
                </a:solidFill>
                <a:latin typeface="Arial Black" pitchFamily="34" charset="0"/>
                <a:ea typeface="Arial Black" pitchFamily="34" charset="-122"/>
                <a:cs typeface="Arial Black" pitchFamily="34" charset="-120"/>
              </a:rPr>
              <a:t>3</a:t>
            </a:r>
            <a:endParaRPr lang="en-US" sz="2400" dirty="0"/>
          </a:p>
        </p:txBody>
      </p:sp>
      <p:sp>
        <p:nvSpPr>
          <p:cNvPr id="12" name="Text 10"/>
          <p:cNvSpPr/>
          <p:nvPr/>
        </p:nvSpPr>
        <p:spPr>
          <a:xfrm>
            <a:off x="1463040" y="4572000"/>
            <a:ext cx="10058400" cy="64008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Söndag = Marché du Lez brunch + chill + middag i Antigone.</a:t>
            </a:r>
            <a:endParaRPr lang="en-US" sz="1800" dirty="0"/>
          </a:p>
        </p:txBody>
      </p:sp>
      <p:sp>
        <p:nvSpPr>
          <p:cNvPr id="13" name="Shape 11"/>
          <p:cNvSpPr/>
          <p:nvPr/>
        </p:nvSpPr>
        <p:spPr>
          <a:xfrm>
            <a:off x="640080" y="5349240"/>
            <a:ext cx="640080" cy="640080"/>
          </a:xfrm>
          <a:prstGeom prst="ellipse">
            <a:avLst/>
          </a:prstGeom>
          <a:solidFill>
            <a:srgbClr val="FF6B1A"/>
          </a:solidFill>
          <a:ln w="12700">
            <a:solidFill>
              <a:srgbClr val="FF6B1A"/>
            </a:solidFill>
            <a:prstDash val="solid"/>
          </a:ln>
        </p:spPr>
      </p:sp>
      <p:sp>
        <p:nvSpPr>
          <p:cNvPr id="14" name="Text 12"/>
          <p:cNvSpPr/>
          <p:nvPr/>
        </p:nvSpPr>
        <p:spPr>
          <a:xfrm>
            <a:off x="640080" y="5349240"/>
            <a:ext cx="640080" cy="640080"/>
          </a:xfrm>
          <a:prstGeom prst="rect">
            <a:avLst/>
          </a:prstGeom>
          <a:noFill/>
          <a:ln/>
        </p:spPr>
        <p:txBody>
          <a:bodyPr wrap="square" lIns="0" tIns="0" rIns="0" bIns="0" rtlCol="0" anchor="ctr"/>
          <a:lstStyle/>
          <a:p>
            <a:pPr algn="ctr" indent="0" marL="0">
              <a:buNone/>
            </a:pPr>
            <a:r>
              <a:rPr lang="en-US" sz="2400" b="1" dirty="0">
                <a:solidFill>
                  <a:srgbClr val="0E0E10"/>
                </a:solidFill>
                <a:latin typeface="Arial Black" pitchFamily="34" charset="0"/>
                <a:ea typeface="Arial Black" pitchFamily="34" charset="-122"/>
                <a:cs typeface="Arial Black" pitchFamily="34" charset="-120"/>
              </a:rPr>
              <a:t>4</a:t>
            </a:r>
            <a:endParaRPr lang="en-US" sz="2400" dirty="0"/>
          </a:p>
        </p:txBody>
      </p:sp>
      <p:sp>
        <p:nvSpPr>
          <p:cNvPr id="15" name="Text 13"/>
          <p:cNvSpPr/>
          <p:nvPr/>
        </p:nvSpPr>
        <p:spPr>
          <a:xfrm>
            <a:off x="1463040" y="5349240"/>
            <a:ext cx="10058400" cy="64008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Kolla La Dune Club's lineup. Om en bra DJ är där: gå.</a:t>
            </a:r>
            <a:endParaRPr lang="en-US" sz="1800" dirty="0"/>
          </a:p>
        </p:txBody>
      </p:sp>
      <p:sp>
        <p:nvSpPr>
          <p:cNvPr id="16" name="Shape 14"/>
          <p:cNvSpPr/>
          <p:nvPr/>
        </p:nvSpPr>
        <p:spPr>
          <a:xfrm>
            <a:off x="640080" y="6217920"/>
            <a:ext cx="10972800" cy="45720"/>
          </a:xfrm>
          <a:prstGeom prst="rect">
            <a:avLst/>
          </a:prstGeom>
          <a:solidFill>
            <a:srgbClr val="B8FF00"/>
          </a:solidFill>
          <a:ln w="12700">
            <a:solidFill>
              <a:srgbClr val="B8FF00"/>
            </a:solidFill>
            <a:prstDash val="solid"/>
          </a:ln>
        </p:spPr>
      </p:sp>
      <p:sp>
        <p:nvSpPr>
          <p:cNvPr id="17" name="Text 15"/>
          <p:cNvSpPr/>
          <p:nvPr/>
        </p:nvSpPr>
        <p:spPr>
          <a:xfrm>
            <a:off x="640080" y="6355080"/>
            <a:ext cx="10972800" cy="365760"/>
          </a:xfrm>
          <a:prstGeom prst="rect">
            <a:avLst/>
          </a:prstGeom>
          <a:noFill/>
          <a:ln/>
        </p:spPr>
        <p:txBody>
          <a:bodyPr wrap="square" lIns="0" tIns="0" rIns="0" bIns="0" rtlCol="0" anchor="ctr"/>
          <a:lstStyle/>
          <a:p>
            <a:pPr indent="0" marL="0">
              <a:buNone/>
            </a:pPr>
            <a:r>
              <a:rPr lang="en-US" sz="1400" i="1" dirty="0">
                <a:solidFill>
                  <a:srgbClr val="9CA3AF"/>
                </a:solidFill>
                <a:latin typeface="Arial" pitchFamily="34" charset="0"/>
                <a:ea typeface="Arial" pitchFamily="34" charset="-122"/>
                <a:cs typeface="Arial" pitchFamily="34" charset="-120"/>
              </a:rPr>
              <a:t>Resten: improvisera. Ni är 25, 25, 24 och 18. Ni vet vad ni gör.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Montpellier för dom unga</dc:title>
  <dc:subject>PptxGenJS Presentation</dc:subject>
  <dc:creator>Andreas</dc:creator>
  <cp:lastModifiedBy>Andreas</cp:lastModifiedBy>
  <cp:revision>1</cp:revision>
  <dcterms:created xsi:type="dcterms:W3CDTF">2026-05-09T15:58:11Z</dcterms:created>
  <dcterms:modified xsi:type="dcterms:W3CDTF">2026-05-09T15:58:11Z</dcterms:modified>
</cp:coreProperties>
</file>