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D2E46"/>
        </a:solidFill>
      </p:bgPr>
    </p:bg>
    <p:spTree>
      <p:nvGrpSpPr>
        <p:cNvPr id="1" name=""/>
        <p:cNvGrpSpPr/>
        <p:nvPr/>
      </p:nvGrpSpPr>
      <p:grpSpPr>
        <a:xfrm>
          <a:off x="0" y="0"/>
          <a:ext cx="0" cy="0"/>
          <a:chOff x="0" y="0"/>
          <a:chExt cx="0" cy="0"/>
        </a:xfrm>
      </p:grpSpPr>
      <p:sp>
        <p:nvSpPr>
          <p:cNvPr id="2" name="Text 0"/>
          <p:cNvSpPr/>
          <p:nvPr/>
        </p:nvSpPr>
        <p:spPr>
          <a:xfrm>
            <a:off x="640080" y="914400"/>
            <a:ext cx="10972800" cy="548640"/>
          </a:xfrm>
          <a:prstGeom prst="rect">
            <a:avLst/>
          </a:prstGeom>
          <a:noFill/>
          <a:ln/>
        </p:spPr>
        <p:txBody>
          <a:bodyPr wrap="square" lIns="0" tIns="0" rIns="0" bIns="0" rtlCol="0" anchor="ctr"/>
          <a:lstStyle/>
          <a:p>
            <a:pPr indent="0" marL="0">
              <a:buNone/>
            </a:pPr>
            <a:r>
              <a:rPr lang="en-US" sz="2200" i="1" spc="600" kern="0" dirty="0">
                <a:solidFill>
                  <a:srgbClr val="FBF7F0"/>
                </a:solidFill>
                <a:latin typeface="Georgia" pitchFamily="34" charset="0"/>
                <a:ea typeface="Georgia" pitchFamily="34" charset="-122"/>
                <a:cs typeface="Georgia" pitchFamily="34" charset="-120"/>
              </a:rPr>
              <a:t>Söndag 12 juli</a:t>
            </a:r>
            <a:endParaRPr lang="en-US" sz="2200" dirty="0"/>
          </a:p>
        </p:txBody>
      </p:sp>
      <p:sp>
        <p:nvSpPr>
          <p:cNvPr id="3" name="Text 1"/>
          <p:cNvSpPr/>
          <p:nvPr/>
        </p:nvSpPr>
        <p:spPr>
          <a:xfrm>
            <a:off x="640080" y="1554480"/>
            <a:ext cx="10972800" cy="2286000"/>
          </a:xfrm>
          <a:prstGeom prst="rect">
            <a:avLst/>
          </a:prstGeom>
          <a:noFill/>
          <a:ln/>
        </p:spPr>
        <p:txBody>
          <a:bodyPr wrap="square" lIns="0" tIns="0" rIns="0" bIns="0" rtlCol="0" anchor="ctr"/>
          <a:lstStyle/>
          <a:p>
            <a:pPr indent="0" marL="0">
              <a:buNone/>
            </a:pPr>
            <a:r>
              <a:rPr lang="en-US" sz="14000" b="1" dirty="0">
                <a:solidFill>
                  <a:srgbClr val="FFFFFF"/>
                </a:solidFill>
                <a:latin typeface="Georgia" pitchFamily="34" charset="0"/>
                <a:ea typeface="Georgia" pitchFamily="34" charset="-122"/>
                <a:cs typeface="Georgia" pitchFamily="34" charset="-120"/>
              </a:rPr>
              <a:t>Elin 50</a:t>
            </a:r>
            <a:endParaRPr lang="en-US" sz="14000" dirty="0"/>
          </a:p>
        </p:txBody>
      </p:sp>
      <p:sp>
        <p:nvSpPr>
          <p:cNvPr id="4" name="Text 2"/>
          <p:cNvSpPr/>
          <p:nvPr/>
        </p:nvSpPr>
        <p:spPr>
          <a:xfrm>
            <a:off x="685800" y="3749040"/>
            <a:ext cx="10972800" cy="640080"/>
          </a:xfrm>
          <a:prstGeom prst="rect">
            <a:avLst/>
          </a:prstGeom>
          <a:noFill/>
          <a:ln/>
        </p:spPr>
        <p:txBody>
          <a:bodyPr wrap="square" lIns="0" tIns="0" rIns="0" bIns="0" rtlCol="0" anchor="ctr"/>
          <a:lstStyle/>
          <a:p>
            <a:pPr indent="0" marL="0">
              <a:buNone/>
            </a:pPr>
            <a:r>
              <a:rPr lang="en-US" sz="2600" i="1" dirty="0">
                <a:solidFill>
                  <a:srgbClr val="FBF7F0"/>
                </a:solidFill>
                <a:latin typeface="Georgia" pitchFamily="34" charset="0"/>
                <a:ea typeface="Georgia" pitchFamily="34" charset="-122"/>
                <a:cs typeface="Georgia" pitchFamily="34" charset="-120"/>
              </a:rPr>
              <a:t>En riktigt minnesvärd dag i Montpellier</a:t>
            </a:r>
            <a:endParaRPr lang="en-US" sz="2600" dirty="0"/>
          </a:p>
        </p:txBody>
      </p:sp>
      <p:sp>
        <p:nvSpPr>
          <p:cNvPr id="5" name="Shape 3"/>
          <p:cNvSpPr/>
          <p:nvPr/>
        </p:nvSpPr>
        <p:spPr>
          <a:xfrm>
            <a:off x="640080" y="4572000"/>
            <a:ext cx="5029200" cy="45720"/>
          </a:xfrm>
          <a:prstGeom prst="rect">
            <a:avLst/>
          </a:prstGeom>
          <a:solidFill>
            <a:srgbClr val="FFFFFF"/>
          </a:solidFill>
          <a:ln w="12700">
            <a:solidFill>
              <a:srgbClr val="FFFFFF"/>
            </a:solidFill>
            <a:prstDash val="solid"/>
          </a:ln>
        </p:spPr>
      </p:sp>
      <p:sp>
        <p:nvSpPr>
          <p:cNvPr id="6" name="Text 4"/>
          <p:cNvSpPr/>
          <p:nvPr/>
        </p:nvSpPr>
        <p:spPr>
          <a:xfrm>
            <a:off x="640080" y="4754880"/>
            <a:ext cx="7772400" cy="1828800"/>
          </a:xfrm>
          <a:prstGeom prst="rect">
            <a:avLst/>
          </a:prstGeom>
          <a:noFill/>
          <a:ln/>
        </p:spPr>
        <p:txBody>
          <a:bodyPr wrap="square" lIns="0" tIns="0" rIns="0" bIns="0" rtlCol="0" anchor="ctr"/>
          <a:lstStyle/>
          <a:p>
            <a:pPr indent="0" marL="0">
              <a:spcAft>
                <a:spcPts val="400"/>
              </a:spcAft>
              <a:buNone/>
            </a:pPr>
            <a:r>
              <a:rPr lang="en-US" sz="1800" b="1" dirty="0">
                <a:solidFill>
                  <a:srgbClr val="FFFFFF"/>
                </a:solidFill>
                <a:latin typeface="Calibri" pitchFamily="34" charset="0"/>
                <a:ea typeface="Calibri" pitchFamily="34" charset="-122"/>
                <a:cs typeface="Calibri" pitchFamily="34" charset="-120"/>
              </a:rPr>
              <a:t>Pick and choose</a:t>
            </a:r>
            <a:endParaRPr lang="en-US" sz="18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Tre dagsutflykter att välja mellan</a:t>
            </a:r>
            <a:endParaRPr lang="en-US" sz="18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Sängfrukost och trerätters middag</a:t>
            </a:r>
            <a:endParaRPr lang="en-US" sz="1800" dirty="0"/>
          </a:p>
          <a:p>
            <a:pPr marL="342900" indent="-342900">
              <a:spcAft>
                <a:spcPts val="400"/>
              </a:spcAft>
              <a:buSzPct val="100000"/>
              <a:buChar char="•"/>
            </a:pPr>
            <a:r>
              <a:rPr lang="en-US" sz="1400" dirty="0">
                <a:solidFill>
                  <a:srgbClr val="FFFFFF"/>
                </a:solidFill>
                <a:latin typeface="Calibri" pitchFamily="34" charset="0"/>
                <a:ea typeface="Calibri" pitchFamily="34" charset="-122"/>
                <a:cs typeface="Calibri" pitchFamily="34" charset="-120"/>
              </a:rPr>
              <a:t>Logistik för 7 personer</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4738A"/>
        </a:solidFill>
      </p:bgPr>
    </p:bg>
    <p:spTree>
      <p:nvGrpSpPr>
        <p:cNvPr id="1" name=""/>
        <p:cNvGrpSpPr/>
        <p:nvPr/>
      </p:nvGrpSpPr>
      <p:grpSpPr>
        <a:xfrm>
          <a:off x="0" y="0"/>
          <a:ext cx="0" cy="0"/>
          <a:chOff x="0" y="0"/>
          <a:chExt cx="0" cy="0"/>
        </a:xfrm>
      </p:grpSpPr>
      <p:sp>
        <p:nvSpPr>
          <p:cNvPr id="2" name="Text 0"/>
          <p:cNvSpPr/>
          <p:nvPr/>
        </p:nvSpPr>
        <p:spPr>
          <a:xfrm>
            <a:off x="640080" y="2286000"/>
            <a:ext cx="10972800" cy="548640"/>
          </a:xfrm>
          <a:prstGeom prst="rect">
            <a:avLst/>
          </a:prstGeom>
          <a:noFill/>
          <a:ln/>
        </p:spPr>
        <p:txBody>
          <a:bodyPr wrap="square" lIns="0" tIns="0" rIns="0" bIns="0" rtlCol="0" anchor="ctr"/>
          <a:lstStyle/>
          <a:p>
            <a:pPr indent="0" marL="0">
              <a:buNone/>
            </a:pPr>
            <a:r>
              <a:rPr lang="en-US" sz="1800" i="1" spc="600" kern="0" dirty="0">
                <a:solidFill>
                  <a:srgbClr val="FFFFFF"/>
                </a:solidFill>
                <a:latin typeface="Georgia" pitchFamily="34" charset="0"/>
                <a:ea typeface="Georgia" pitchFamily="34" charset="-122"/>
                <a:cs typeface="Georgia" pitchFamily="34" charset="-120"/>
              </a:rPr>
              <a:t>Sektion 1</a:t>
            </a:r>
            <a:endParaRPr lang="en-US" sz="1800" dirty="0"/>
          </a:p>
        </p:txBody>
      </p:sp>
      <p:sp>
        <p:nvSpPr>
          <p:cNvPr id="3" name="Text 1"/>
          <p:cNvSpPr/>
          <p:nvPr/>
        </p:nvSpPr>
        <p:spPr>
          <a:xfrm>
            <a:off x="640080" y="2743200"/>
            <a:ext cx="10972800" cy="1371600"/>
          </a:xfrm>
          <a:prstGeom prst="rect">
            <a:avLst/>
          </a:prstGeom>
          <a:noFill/>
          <a:ln/>
        </p:spPr>
        <p:txBody>
          <a:bodyPr wrap="square" lIns="0" tIns="0" rIns="0" bIns="0" rtlCol="0" anchor="ctr"/>
          <a:lstStyle/>
          <a:p>
            <a:pPr indent="0" marL="0">
              <a:buNone/>
            </a:pPr>
            <a:r>
              <a:rPr lang="en-US" sz="6400" b="1" dirty="0">
                <a:solidFill>
                  <a:srgbClr val="FFFFFF"/>
                </a:solidFill>
                <a:latin typeface="Georgia" pitchFamily="34" charset="0"/>
                <a:ea typeface="Georgia" pitchFamily="34" charset="-122"/>
                <a:cs typeface="Georgia" pitchFamily="34" charset="-120"/>
              </a:rPr>
              <a:t>Sängfrukost</a:t>
            </a:r>
            <a:endParaRPr lang="en-US" sz="6400" dirty="0"/>
          </a:p>
        </p:txBody>
      </p:sp>
      <p:sp>
        <p:nvSpPr>
          <p:cNvPr id="4" name="Text 2"/>
          <p:cNvSpPr/>
          <p:nvPr/>
        </p:nvSpPr>
        <p:spPr>
          <a:xfrm>
            <a:off x="640080" y="4023360"/>
            <a:ext cx="10972800" cy="548640"/>
          </a:xfrm>
          <a:prstGeom prst="rect">
            <a:avLst/>
          </a:prstGeom>
          <a:noFill/>
          <a:ln/>
        </p:spPr>
        <p:txBody>
          <a:bodyPr wrap="square" lIns="0" tIns="0" rIns="0" bIns="0" rtlCol="0" anchor="ctr"/>
          <a:lstStyle/>
          <a:p>
            <a:pPr indent="0" marL="0">
              <a:buNone/>
            </a:pPr>
            <a:r>
              <a:rPr lang="en-US" sz="2200" i="1" dirty="0">
                <a:solidFill>
                  <a:srgbClr val="FBF7F0"/>
                </a:solidFill>
                <a:latin typeface="Georgia" pitchFamily="34" charset="0"/>
                <a:ea typeface="Georgia" pitchFamily="34" charset="-122"/>
                <a:cs typeface="Georgia" pitchFamily="34" charset="-120"/>
              </a:rPr>
              <a:t>Söndag morgon, 12 juli</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640080" y="457200"/>
            <a:ext cx="10972800" cy="365760"/>
          </a:xfrm>
          <a:prstGeom prst="rect">
            <a:avLst/>
          </a:prstGeom>
          <a:noFill/>
          <a:ln/>
        </p:spPr>
        <p:txBody>
          <a:bodyPr wrap="square" lIns="0" tIns="0" rIns="0" bIns="0" rtlCol="0" anchor="ctr"/>
          <a:lstStyle/>
          <a:p>
            <a:pPr indent="0" marL="0">
              <a:buNone/>
            </a:pPr>
            <a:r>
              <a:rPr lang="en-US" sz="1200" b="1" spc="400" kern="0" dirty="0">
                <a:solidFill>
                  <a:srgbClr val="C4738A"/>
                </a:solidFill>
                <a:latin typeface="Calibri" pitchFamily="34" charset="0"/>
                <a:ea typeface="Calibri" pitchFamily="34" charset="-122"/>
                <a:cs typeface="Calibri" pitchFamily="34" charset="-120"/>
              </a:rPr>
              <a:t>FRUKOST PÅ SÄNGEN</a:t>
            </a:r>
            <a:endParaRPr lang="en-US" sz="1200" dirty="0"/>
          </a:p>
        </p:txBody>
      </p:sp>
      <p:sp>
        <p:nvSpPr>
          <p:cNvPr id="3" name="Text 1"/>
          <p:cNvSpPr/>
          <p:nvPr/>
        </p:nvSpPr>
        <p:spPr>
          <a:xfrm>
            <a:off x="640080" y="822960"/>
            <a:ext cx="10972800" cy="914400"/>
          </a:xfrm>
          <a:prstGeom prst="rect">
            <a:avLst/>
          </a:prstGeom>
          <a:noFill/>
          <a:ln/>
        </p:spPr>
        <p:txBody>
          <a:bodyPr wrap="square" lIns="0" tIns="0" rIns="0" bIns="0" rtlCol="0" anchor="ctr"/>
          <a:lstStyle/>
          <a:p>
            <a:pPr indent="0" marL="0">
              <a:buNone/>
            </a:pPr>
            <a:r>
              <a:rPr lang="en-US" sz="4800" b="1" dirty="0">
                <a:solidFill>
                  <a:srgbClr val="1A2E3B"/>
                </a:solidFill>
                <a:latin typeface="Georgia" pitchFamily="34" charset="0"/>
                <a:ea typeface="Georgia" pitchFamily="34" charset="-122"/>
                <a:cs typeface="Georgia" pitchFamily="34" charset="-120"/>
              </a:rPr>
              <a:t>Menyn</a:t>
            </a:r>
            <a:endParaRPr lang="en-US" sz="4800" dirty="0"/>
          </a:p>
        </p:txBody>
      </p:sp>
      <p:sp>
        <p:nvSpPr>
          <p:cNvPr id="4" name="Shape 2"/>
          <p:cNvSpPr/>
          <p:nvPr/>
        </p:nvSpPr>
        <p:spPr>
          <a:xfrm>
            <a:off x="640080" y="2011680"/>
            <a:ext cx="3657600" cy="4114800"/>
          </a:xfrm>
          <a:prstGeom prst="rect">
            <a:avLst/>
          </a:prstGeom>
          <a:solidFill>
            <a:srgbClr val="FFFFFF"/>
          </a:solidFill>
          <a:ln w="12700">
            <a:solidFill>
              <a:srgbClr val="E8DFD0"/>
            </a:solidFill>
            <a:prstDash val="solid"/>
          </a:ln>
        </p:spPr>
      </p:sp>
      <p:pic>
        <p:nvPicPr>
          <p:cNvPr id="5" name="Image 0" descr="preencoded.png">    </p:cNvPr>
          <p:cNvPicPr>
            <a:picLocks noChangeAspect="1"/>
          </p:cNvPicPr>
          <p:nvPr/>
        </p:nvPicPr>
        <p:blipFill>
          <a:blip r:embed="rId1"/>
          <a:stretch>
            <a:fillRect/>
          </a:stretch>
        </p:blipFill>
        <p:spPr>
          <a:xfrm>
            <a:off x="1005840" y="2377440"/>
            <a:ext cx="548640" cy="548640"/>
          </a:xfrm>
          <a:prstGeom prst="rect">
            <a:avLst/>
          </a:prstGeom>
        </p:spPr>
      </p:pic>
      <p:sp>
        <p:nvSpPr>
          <p:cNvPr id="6" name="Text 3"/>
          <p:cNvSpPr/>
          <p:nvPr/>
        </p:nvSpPr>
        <p:spPr>
          <a:xfrm>
            <a:off x="1005840" y="3017520"/>
            <a:ext cx="2926080" cy="457200"/>
          </a:xfrm>
          <a:prstGeom prst="rect">
            <a:avLst/>
          </a:prstGeom>
          <a:noFill/>
          <a:ln/>
        </p:spPr>
        <p:txBody>
          <a:bodyPr wrap="square" lIns="0" tIns="0" rIns="0" bIns="0" rtlCol="0" anchor="ctr"/>
          <a:lstStyle/>
          <a:p>
            <a:pPr indent="0" marL="0">
              <a:buNone/>
            </a:pPr>
            <a:r>
              <a:rPr lang="en-US" sz="1800" b="1" dirty="0">
                <a:solidFill>
                  <a:srgbClr val="1A2E3B"/>
                </a:solidFill>
                <a:latin typeface="Georgia" pitchFamily="34" charset="0"/>
                <a:ea typeface="Georgia" pitchFamily="34" charset="-122"/>
                <a:cs typeface="Georgia" pitchFamily="34" charset="-120"/>
              </a:rPr>
              <a:t>Bröd &amp; bakverk</a:t>
            </a:r>
            <a:endParaRPr lang="en-US" sz="1800" dirty="0"/>
          </a:p>
        </p:txBody>
      </p:sp>
      <p:sp>
        <p:nvSpPr>
          <p:cNvPr id="7" name="Text 4"/>
          <p:cNvSpPr/>
          <p:nvPr/>
        </p:nvSpPr>
        <p:spPr>
          <a:xfrm>
            <a:off x="1005840" y="3566160"/>
            <a:ext cx="2926080" cy="23774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5C6B73"/>
                </a:solidFill>
                <a:latin typeface="Calibri" pitchFamily="34" charset="0"/>
                <a:ea typeface="Calibri" pitchFamily="34" charset="-122"/>
                <a:cs typeface="Calibri" pitchFamily="34" charset="-120"/>
              </a:rPr>
              <a:t>Färska croissanter och pain au chocolat</a:t>
            </a:r>
            <a:endParaRPr lang="en-US" sz="1200" dirty="0"/>
          </a:p>
          <a:p>
            <a:pPr marL="342900" indent="-342900">
              <a:spcAft>
                <a:spcPts val="600"/>
              </a:spcAft>
              <a:buSzPct val="100000"/>
              <a:buChar char="•"/>
            </a:pPr>
            <a:r>
              <a:rPr lang="en-US" sz="1200" dirty="0">
                <a:solidFill>
                  <a:srgbClr val="5C6B73"/>
                </a:solidFill>
                <a:latin typeface="Calibri" pitchFamily="34" charset="0"/>
                <a:ea typeface="Calibri" pitchFamily="34" charset="-122"/>
                <a:cs typeface="Calibri" pitchFamily="34" charset="-120"/>
              </a:rPr>
              <a:t>Hämtas av William eller Leja på en boulangerie tidig morgon</a:t>
            </a:r>
            <a:endParaRPr lang="en-US" sz="1200" dirty="0"/>
          </a:p>
          <a:p>
            <a:pPr marL="342900" indent="-342900">
              <a:spcAft>
                <a:spcPts val="600"/>
              </a:spcAft>
              <a:buSzPct val="100000"/>
              <a:buChar char="•"/>
            </a:pPr>
            <a:r>
              <a:rPr lang="en-US" sz="1200" dirty="0">
                <a:solidFill>
                  <a:srgbClr val="5C6B73"/>
                </a:solidFill>
                <a:latin typeface="Calibri" pitchFamily="34" charset="0"/>
                <a:ea typeface="Calibri" pitchFamily="34" charset="-122"/>
                <a:cs typeface="Calibri" pitchFamily="34" charset="-120"/>
              </a:rPr>
              <a:t>En liten brioche att dela</a:t>
            </a:r>
            <a:endParaRPr lang="en-US" sz="1200" dirty="0"/>
          </a:p>
          <a:p>
            <a:pPr marL="342900" indent="-342900">
              <a:spcAft>
                <a:spcPts val="600"/>
              </a:spcAft>
              <a:buSzPct val="100000"/>
              <a:buChar char="•"/>
            </a:pPr>
            <a:r>
              <a:rPr lang="en-US" sz="1200" dirty="0">
                <a:solidFill>
                  <a:srgbClr val="5C6B73"/>
                </a:solidFill>
                <a:latin typeface="Calibri" pitchFamily="34" charset="0"/>
                <a:ea typeface="Calibri" pitchFamily="34" charset="-122"/>
                <a:cs typeface="Calibri" pitchFamily="34" charset="-120"/>
              </a:rPr>
              <a:t>Smör, sylt (gärna lokal aprikos), honung</a:t>
            </a:r>
            <a:endParaRPr lang="en-US" sz="1200" dirty="0"/>
          </a:p>
        </p:txBody>
      </p:sp>
      <p:sp>
        <p:nvSpPr>
          <p:cNvPr id="8" name="Shape 5"/>
          <p:cNvSpPr/>
          <p:nvPr/>
        </p:nvSpPr>
        <p:spPr>
          <a:xfrm>
            <a:off x="4480560" y="2011680"/>
            <a:ext cx="3657600" cy="4114800"/>
          </a:xfrm>
          <a:prstGeom prst="rect">
            <a:avLst/>
          </a:prstGeom>
          <a:solidFill>
            <a:srgbClr val="FFFFFF"/>
          </a:solidFill>
          <a:ln w="12700">
            <a:solidFill>
              <a:srgbClr val="E8DFD0"/>
            </a:solidFill>
            <a:prstDash val="solid"/>
          </a:ln>
        </p:spPr>
      </p:sp>
      <p:pic>
        <p:nvPicPr>
          <p:cNvPr id="9" name="Image 1" descr="preencoded.png">    </p:cNvPr>
          <p:cNvPicPr>
            <a:picLocks noChangeAspect="1"/>
          </p:cNvPicPr>
          <p:nvPr/>
        </p:nvPicPr>
        <p:blipFill>
          <a:blip r:embed="rId2"/>
          <a:stretch>
            <a:fillRect/>
          </a:stretch>
        </p:blipFill>
        <p:spPr>
          <a:xfrm>
            <a:off x="4846320" y="2377440"/>
            <a:ext cx="548640" cy="548640"/>
          </a:xfrm>
          <a:prstGeom prst="rect">
            <a:avLst/>
          </a:prstGeom>
        </p:spPr>
      </p:pic>
      <p:sp>
        <p:nvSpPr>
          <p:cNvPr id="10" name="Text 6"/>
          <p:cNvSpPr/>
          <p:nvPr/>
        </p:nvSpPr>
        <p:spPr>
          <a:xfrm>
            <a:off x="4846320" y="3017520"/>
            <a:ext cx="2926080" cy="457200"/>
          </a:xfrm>
          <a:prstGeom prst="rect">
            <a:avLst/>
          </a:prstGeom>
          <a:noFill/>
          <a:ln/>
        </p:spPr>
        <p:txBody>
          <a:bodyPr wrap="square" lIns="0" tIns="0" rIns="0" bIns="0" rtlCol="0" anchor="ctr"/>
          <a:lstStyle/>
          <a:p>
            <a:pPr indent="0" marL="0">
              <a:buNone/>
            </a:pPr>
            <a:r>
              <a:rPr lang="en-US" sz="1800" b="1" dirty="0">
                <a:solidFill>
                  <a:srgbClr val="1A2E3B"/>
                </a:solidFill>
                <a:latin typeface="Georgia" pitchFamily="34" charset="0"/>
                <a:ea typeface="Georgia" pitchFamily="34" charset="-122"/>
                <a:cs typeface="Georgia" pitchFamily="34" charset="-120"/>
              </a:rPr>
              <a:t>Något lyxigt</a:t>
            </a:r>
            <a:endParaRPr lang="en-US" sz="1800" dirty="0"/>
          </a:p>
        </p:txBody>
      </p:sp>
      <p:sp>
        <p:nvSpPr>
          <p:cNvPr id="11" name="Text 7"/>
          <p:cNvSpPr/>
          <p:nvPr/>
        </p:nvSpPr>
        <p:spPr>
          <a:xfrm>
            <a:off x="4846320" y="3566160"/>
            <a:ext cx="2926080" cy="23774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5C6B73"/>
                </a:solidFill>
                <a:latin typeface="Calibri" pitchFamily="34" charset="0"/>
                <a:ea typeface="Calibri" pitchFamily="34" charset="-122"/>
                <a:cs typeface="Calibri" pitchFamily="34" charset="-120"/>
              </a:rPr>
              <a:t>En liten skål kaviar eller fiskrom + créme fraîche</a:t>
            </a:r>
            <a:endParaRPr lang="en-US" sz="1200" dirty="0"/>
          </a:p>
          <a:p>
            <a:pPr marL="342900" indent="-342900">
              <a:spcAft>
                <a:spcPts val="600"/>
              </a:spcAft>
              <a:buSzPct val="100000"/>
              <a:buChar char="•"/>
            </a:pPr>
            <a:r>
              <a:rPr lang="en-US" sz="1200" dirty="0">
                <a:solidFill>
                  <a:srgbClr val="5C6B73"/>
                </a:solidFill>
                <a:latin typeface="Calibri" pitchFamily="34" charset="0"/>
                <a:ea typeface="Calibri" pitchFamily="34" charset="-122"/>
                <a:cs typeface="Calibri" pitchFamily="34" charset="-120"/>
              </a:rPr>
              <a:t>Eller laxbit med dill</a:t>
            </a:r>
            <a:endParaRPr lang="en-US" sz="1200" dirty="0"/>
          </a:p>
          <a:p>
            <a:pPr marL="342900" indent="-342900">
              <a:spcAft>
                <a:spcPts val="600"/>
              </a:spcAft>
              <a:buSzPct val="100000"/>
              <a:buChar char="•"/>
            </a:pPr>
            <a:r>
              <a:rPr lang="en-US" sz="1200" dirty="0">
                <a:solidFill>
                  <a:srgbClr val="5C6B73"/>
                </a:solidFill>
                <a:latin typeface="Calibri" pitchFamily="34" charset="0"/>
                <a:ea typeface="Calibri" pitchFamily="34" charset="-122"/>
                <a:cs typeface="Calibri" pitchFamily="34" charset="-120"/>
              </a:rPr>
              <a:t>Färsk getost från Halles Castellane</a:t>
            </a:r>
            <a:endParaRPr lang="en-US" sz="1200" dirty="0"/>
          </a:p>
          <a:p>
            <a:pPr marL="342900" indent="-342900">
              <a:spcAft>
                <a:spcPts val="600"/>
              </a:spcAft>
              <a:buSzPct val="100000"/>
              <a:buChar char="•"/>
            </a:pPr>
            <a:r>
              <a:rPr lang="en-US" sz="1200" dirty="0">
                <a:solidFill>
                  <a:srgbClr val="5C6B73"/>
                </a:solidFill>
                <a:latin typeface="Calibri" pitchFamily="34" charset="0"/>
                <a:ea typeface="Calibri" pitchFamily="34" charset="-122"/>
                <a:cs typeface="Calibri" pitchFamily="34" charset="-120"/>
              </a:rPr>
              <a:t>Färska fikon eller jordgubbar</a:t>
            </a:r>
            <a:endParaRPr lang="en-US" sz="1200" dirty="0"/>
          </a:p>
        </p:txBody>
      </p:sp>
      <p:sp>
        <p:nvSpPr>
          <p:cNvPr id="12" name="Shape 8"/>
          <p:cNvSpPr/>
          <p:nvPr/>
        </p:nvSpPr>
        <p:spPr>
          <a:xfrm>
            <a:off x="8321040" y="2011680"/>
            <a:ext cx="3657600" cy="4114800"/>
          </a:xfrm>
          <a:prstGeom prst="rect">
            <a:avLst/>
          </a:prstGeom>
          <a:solidFill>
            <a:srgbClr val="FFFFFF"/>
          </a:solidFill>
          <a:ln w="12700">
            <a:solidFill>
              <a:srgbClr val="E8DFD0"/>
            </a:solidFill>
            <a:prstDash val="solid"/>
          </a:ln>
        </p:spPr>
      </p:sp>
      <p:pic>
        <p:nvPicPr>
          <p:cNvPr id="13" name="Image 2" descr="preencoded.png">    </p:cNvPr>
          <p:cNvPicPr>
            <a:picLocks noChangeAspect="1"/>
          </p:cNvPicPr>
          <p:nvPr/>
        </p:nvPicPr>
        <p:blipFill>
          <a:blip r:embed="rId3"/>
          <a:stretch>
            <a:fillRect/>
          </a:stretch>
        </p:blipFill>
        <p:spPr>
          <a:xfrm>
            <a:off x="8686800" y="2377440"/>
            <a:ext cx="548640" cy="548640"/>
          </a:xfrm>
          <a:prstGeom prst="rect">
            <a:avLst/>
          </a:prstGeom>
        </p:spPr>
      </p:pic>
      <p:sp>
        <p:nvSpPr>
          <p:cNvPr id="14" name="Text 9"/>
          <p:cNvSpPr/>
          <p:nvPr/>
        </p:nvSpPr>
        <p:spPr>
          <a:xfrm>
            <a:off x="8686800" y="3017520"/>
            <a:ext cx="2926080" cy="457200"/>
          </a:xfrm>
          <a:prstGeom prst="rect">
            <a:avLst/>
          </a:prstGeom>
          <a:noFill/>
          <a:ln/>
        </p:spPr>
        <p:txBody>
          <a:bodyPr wrap="square" lIns="0" tIns="0" rIns="0" bIns="0" rtlCol="0" anchor="ctr"/>
          <a:lstStyle/>
          <a:p>
            <a:pPr indent="0" marL="0">
              <a:buNone/>
            </a:pPr>
            <a:r>
              <a:rPr lang="en-US" sz="1800" b="1" dirty="0">
                <a:solidFill>
                  <a:srgbClr val="1A2E3B"/>
                </a:solidFill>
                <a:latin typeface="Georgia" pitchFamily="34" charset="0"/>
                <a:ea typeface="Georgia" pitchFamily="34" charset="-122"/>
                <a:cs typeface="Georgia" pitchFamily="34" charset="-120"/>
              </a:rPr>
              <a:t>Att skåla med</a:t>
            </a:r>
            <a:endParaRPr lang="en-US" sz="1800" dirty="0"/>
          </a:p>
        </p:txBody>
      </p:sp>
      <p:sp>
        <p:nvSpPr>
          <p:cNvPr id="15" name="Text 10"/>
          <p:cNvSpPr/>
          <p:nvPr/>
        </p:nvSpPr>
        <p:spPr>
          <a:xfrm>
            <a:off x="8686800" y="3566160"/>
            <a:ext cx="2926080" cy="23774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5C6B73"/>
                </a:solidFill>
                <a:latin typeface="Calibri" pitchFamily="34" charset="0"/>
                <a:ea typeface="Calibri" pitchFamily="34" charset="-122"/>
                <a:cs typeface="Calibri" pitchFamily="34" charset="-120"/>
              </a:rPr>
              <a:t>Färskpressad apelsinjuice</a:t>
            </a:r>
            <a:endParaRPr lang="en-US" sz="1200" dirty="0"/>
          </a:p>
          <a:p>
            <a:pPr marL="342900" indent="-342900">
              <a:spcAft>
                <a:spcPts val="600"/>
              </a:spcAft>
              <a:buSzPct val="100000"/>
              <a:buChar char="•"/>
            </a:pPr>
            <a:r>
              <a:rPr lang="en-US" sz="1200" dirty="0">
                <a:solidFill>
                  <a:srgbClr val="5C6B73"/>
                </a:solidFill>
                <a:latin typeface="Calibri" pitchFamily="34" charset="0"/>
                <a:ea typeface="Calibri" pitchFamily="34" charset="-122"/>
                <a:cs typeface="Calibri" pitchFamily="34" charset="-120"/>
              </a:rPr>
              <a:t>Crémant de Limoux eller en god champagne</a:t>
            </a:r>
            <a:endParaRPr lang="en-US" sz="1200" dirty="0"/>
          </a:p>
          <a:p>
            <a:pPr marL="342900" indent="-342900">
              <a:spcAft>
                <a:spcPts val="600"/>
              </a:spcAft>
              <a:buSzPct val="100000"/>
              <a:buChar char="•"/>
            </a:pPr>
            <a:r>
              <a:rPr lang="en-US" sz="1200" dirty="0">
                <a:solidFill>
                  <a:srgbClr val="5C6B73"/>
                </a:solidFill>
                <a:latin typeface="Calibri" pitchFamily="34" charset="0"/>
                <a:ea typeface="Calibri" pitchFamily="34" charset="-122"/>
                <a:cs typeface="Calibri" pitchFamily="34" charset="-120"/>
              </a:rPr>
              <a:t>Bra kaffe (espresso eller pour-over)</a:t>
            </a:r>
            <a:endParaRPr lang="en-US" sz="1200" dirty="0"/>
          </a:p>
          <a:p>
            <a:pPr marL="342900" indent="-342900">
              <a:spcAft>
                <a:spcPts val="600"/>
              </a:spcAft>
              <a:buSzPct val="100000"/>
              <a:buChar char="•"/>
            </a:pPr>
            <a:r>
              <a:rPr lang="en-US" sz="1200" dirty="0">
                <a:solidFill>
                  <a:srgbClr val="5C6B73"/>
                </a:solidFill>
                <a:latin typeface="Calibri" pitchFamily="34" charset="0"/>
                <a:ea typeface="Calibri" pitchFamily="34" charset="-122"/>
                <a:cs typeface="Calibri" pitchFamily="34" charset="-120"/>
              </a:rPr>
              <a:t>Te för Elin om hon föredrar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C4738A"/>
          </a:solidFill>
          <a:ln w="12700">
            <a:solidFill>
              <a:srgbClr val="C4738A"/>
            </a:solidFill>
            <a:prstDash val="solid"/>
          </a:ln>
        </p:spPr>
      </p:sp>
      <p:pic>
        <p:nvPicPr>
          <p:cNvPr id="3" name="Image 0" descr="preencoded.png">    </p:cNvPr>
          <p:cNvPicPr>
            <a:picLocks noChangeAspect="1"/>
          </p:cNvPicPr>
          <p:nvPr/>
        </p:nvPicPr>
        <p:blipFill>
          <a:blip r:embed="rId1"/>
          <a:stretch>
            <a:fillRect/>
          </a:stretch>
        </p:blipFill>
        <p:spPr>
          <a:xfrm>
            <a:off x="2194560" y="2103120"/>
            <a:ext cx="1828800" cy="1828800"/>
          </a:xfrm>
          <a:prstGeom prst="rect">
            <a:avLst/>
          </a:prstGeom>
        </p:spPr>
      </p:pic>
      <p:sp>
        <p:nvSpPr>
          <p:cNvPr id="4" name="Text 1"/>
          <p:cNvSpPr/>
          <p:nvPr/>
        </p:nvSpPr>
        <p:spPr>
          <a:xfrm>
            <a:off x="6126480" y="548640"/>
            <a:ext cx="5669280" cy="365760"/>
          </a:xfrm>
          <a:prstGeom prst="rect">
            <a:avLst/>
          </a:prstGeom>
          <a:noFill/>
          <a:ln/>
        </p:spPr>
        <p:txBody>
          <a:bodyPr wrap="square" lIns="0" tIns="0" rIns="0" bIns="0" rtlCol="0" anchor="ctr"/>
          <a:lstStyle/>
          <a:p>
            <a:pPr indent="0" marL="0">
              <a:buNone/>
            </a:pPr>
            <a:r>
              <a:rPr lang="en-US" sz="1200" b="1" spc="400" kern="0" dirty="0">
                <a:solidFill>
                  <a:srgbClr val="C4738A"/>
                </a:solidFill>
                <a:latin typeface="Calibri" pitchFamily="34" charset="0"/>
                <a:ea typeface="Calibri" pitchFamily="34" charset="-122"/>
                <a:cs typeface="Calibri" pitchFamily="34" charset="-120"/>
              </a:rPr>
              <a:t>REGI OCH STÄMNING</a:t>
            </a:r>
            <a:endParaRPr lang="en-US" sz="1200" dirty="0"/>
          </a:p>
        </p:txBody>
      </p:sp>
      <p:sp>
        <p:nvSpPr>
          <p:cNvPr id="5" name="Text 2"/>
          <p:cNvSpPr/>
          <p:nvPr/>
        </p:nvSpPr>
        <p:spPr>
          <a:xfrm>
            <a:off x="6126480" y="914400"/>
            <a:ext cx="5669280" cy="1280160"/>
          </a:xfrm>
          <a:prstGeom prst="rect">
            <a:avLst/>
          </a:prstGeom>
          <a:noFill/>
          <a:ln/>
        </p:spPr>
        <p:txBody>
          <a:bodyPr wrap="square" lIns="0" tIns="0" rIns="0" bIns="0" rtlCol="0" anchor="ctr"/>
          <a:lstStyle/>
          <a:p>
            <a:pPr indent="0" marL="0">
              <a:buNone/>
            </a:pPr>
            <a:r>
              <a:rPr lang="en-US" sz="3600" b="1" dirty="0">
                <a:solidFill>
                  <a:srgbClr val="1A2E3B"/>
                </a:solidFill>
                <a:latin typeface="Georgia" pitchFamily="34" charset="0"/>
                <a:ea typeface="Georgia" pitchFamily="34" charset="-122"/>
                <a:cs typeface="Georgia" pitchFamily="34" charset="-120"/>
              </a:rPr>
              <a:t>Hur det går till</a:t>
            </a:r>
            <a:endParaRPr lang="en-US" sz="3600" dirty="0"/>
          </a:p>
        </p:txBody>
      </p:sp>
      <p:sp>
        <p:nvSpPr>
          <p:cNvPr id="6" name="Text 3"/>
          <p:cNvSpPr/>
          <p:nvPr/>
        </p:nvSpPr>
        <p:spPr>
          <a:xfrm>
            <a:off x="6126480" y="2286000"/>
            <a:ext cx="5669280" cy="1371600"/>
          </a:xfrm>
          <a:prstGeom prst="rect">
            <a:avLst/>
          </a:prstGeom>
          <a:noFill/>
          <a:ln/>
        </p:spPr>
        <p:txBody>
          <a:bodyPr wrap="square" lIns="0" tIns="0" rIns="0" bIns="0" rtlCol="0" anchor="t"/>
          <a:lstStyle/>
          <a:p>
            <a:pPr indent="0" marL="0">
              <a:buNone/>
            </a:pPr>
            <a:r>
              <a:rPr lang="en-US" sz="1400" dirty="0">
                <a:solidFill>
                  <a:srgbClr val="5C6B73"/>
                </a:solidFill>
                <a:latin typeface="Calibri" pitchFamily="34" charset="0"/>
                <a:ea typeface="Calibri" pitchFamily="34" charset="-122"/>
                <a:cs typeface="Calibri" pitchFamily="34" charset="-120"/>
              </a:rPr>
              <a:t>Nyckeln till en lyckad frukost på sängen är förberedelse kvällen innan. Brickan plockas ihop tyst på morgonen, sång på svenska 'Ja må hon leva' eller 'Idag är det din födelsedag', och alla är inblandade. Korta, kärleksfulla, inte utdraget.</a:t>
            </a:r>
            <a:endParaRPr lang="en-US" sz="1400" dirty="0"/>
          </a:p>
        </p:txBody>
      </p:sp>
      <p:sp>
        <p:nvSpPr>
          <p:cNvPr id="7" name="Shape 4"/>
          <p:cNvSpPr/>
          <p:nvPr/>
        </p:nvSpPr>
        <p:spPr>
          <a:xfrm>
            <a:off x="6126480" y="3794760"/>
            <a:ext cx="1783080" cy="777240"/>
          </a:xfrm>
          <a:prstGeom prst="rect">
            <a:avLst/>
          </a:prstGeom>
          <a:solidFill>
            <a:srgbClr val="FFFFFF"/>
          </a:solidFill>
          <a:ln w="12700">
            <a:solidFill>
              <a:srgbClr val="E8DFD0"/>
            </a:solidFill>
            <a:prstDash val="solid"/>
          </a:ln>
        </p:spPr>
      </p:sp>
      <p:pic>
        <p:nvPicPr>
          <p:cNvPr id="8" name="Image 1" descr="preencoded.png">    </p:cNvPr>
          <p:cNvPicPr>
            <a:picLocks noChangeAspect="1"/>
          </p:cNvPicPr>
          <p:nvPr/>
        </p:nvPicPr>
        <p:blipFill>
          <a:blip r:embed="rId2"/>
          <a:stretch>
            <a:fillRect/>
          </a:stretch>
        </p:blipFill>
        <p:spPr>
          <a:xfrm>
            <a:off x="6263640" y="3931920"/>
            <a:ext cx="274320" cy="274320"/>
          </a:xfrm>
          <a:prstGeom prst="rect">
            <a:avLst/>
          </a:prstGeom>
        </p:spPr>
      </p:pic>
      <p:sp>
        <p:nvSpPr>
          <p:cNvPr id="9" name="Text 5"/>
          <p:cNvSpPr/>
          <p:nvPr/>
        </p:nvSpPr>
        <p:spPr>
          <a:xfrm>
            <a:off x="6629400"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TIMING</a:t>
            </a:r>
            <a:endParaRPr lang="en-US" sz="800" dirty="0"/>
          </a:p>
        </p:txBody>
      </p:sp>
      <p:sp>
        <p:nvSpPr>
          <p:cNvPr id="10" name="Text 6"/>
          <p:cNvSpPr/>
          <p:nvPr/>
        </p:nvSpPr>
        <p:spPr>
          <a:xfrm>
            <a:off x="6629400"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Ca 08.30 till 09.30</a:t>
            </a:r>
            <a:endParaRPr lang="en-US" sz="1100" dirty="0"/>
          </a:p>
        </p:txBody>
      </p:sp>
      <p:sp>
        <p:nvSpPr>
          <p:cNvPr id="11" name="Shape 7"/>
          <p:cNvSpPr/>
          <p:nvPr/>
        </p:nvSpPr>
        <p:spPr>
          <a:xfrm>
            <a:off x="8074152" y="3794760"/>
            <a:ext cx="1783080" cy="777240"/>
          </a:xfrm>
          <a:prstGeom prst="rect">
            <a:avLst/>
          </a:prstGeom>
          <a:solidFill>
            <a:srgbClr val="FFFFFF"/>
          </a:solidFill>
          <a:ln w="12700">
            <a:solidFill>
              <a:srgbClr val="E8DFD0"/>
            </a:solidFill>
            <a:prstDash val="solid"/>
          </a:ln>
        </p:spPr>
      </p:sp>
      <p:pic>
        <p:nvPicPr>
          <p:cNvPr id="12" name="Image 2" descr="preencoded.png">    </p:cNvPr>
          <p:cNvPicPr>
            <a:picLocks noChangeAspect="1"/>
          </p:cNvPicPr>
          <p:nvPr/>
        </p:nvPicPr>
        <p:blipFill>
          <a:blip r:embed="rId3"/>
          <a:stretch>
            <a:fillRect/>
          </a:stretch>
        </p:blipFill>
        <p:spPr>
          <a:xfrm>
            <a:off x="8211312" y="3931920"/>
            <a:ext cx="274320" cy="274320"/>
          </a:xfrm>
          <a:prstGeom prst="rect">
            <a:avLst/>
          </a:prstGeom>
        </p:spPr>
      </p:pic>
      <p:sp>
        <p:nvSpPr>
          <p:cNvPr id="13" name="Text 8"/>
          <p:cNvSpPr/>
          <p:nvPr/>
        </p:nvSpPr>
        <p:spPr>
          <a:xfrm>
            <a:off x="8577072"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VEM</a:t>
            </a:r>
            <a:endParaRPr lang="en-US" sz="800" dirty="0"/>
          </a:p>
        </p:txBody>
      </p:sp>
      <p:sp>
        <p:nvSpPr>
          <p:cNvPr id="14" name="Text 9"/>
          <p:cNvSpPr/>
          <p:nvPr/>
        </p:nvSpPr>
        <p:spPr>
          <a:xfrm>
            <a:off x="8577072"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Hela familjen</a:t>
            </a:r>
            <a:endParaRPr lang="en-US" sz="1100" dirty="0"/>
          </a:p>
        </p:txBody>
      </p:sp>
      <p:sp>
        <p:nvSpPr>
          <p:cNvPr id="15" name="Shape 10"/>
          <p:cNvSpPr/>
          <p:nvPr/>
        </p:nvSpPr>
        <p:spPr>
          <a:xfrm>
            <a:off x="10021824" y="3794760"/>
            <a:ext cx="1783080" cy="777240"/>
          </a:xfrm>
          <a:prstGeom prst="rect">
            <a:avLst/>
          </a:prstGeom>
          <a:solidFill>
            <a:srgbClr val="FFFFFF"/>
          </a:solidFill>
          <a:ln w="12700">
            <a:solidFill>
              <a:srgbClr val="E8DFD0"/>
            </a:solidFill>
            <a:prstDash val="solid"/>
          </a:ln>
        </p:spPr>
      </p:sp>
      <p:pic>
        <p:nvPicPr>
          <p:cNvPr id="16" name="Image 3" descr="preencoded.png">    </p:cNvPr>
          <p:cNvPicPr>
            <a:picLocks noChangeAspect="1"/>
          </p:cNvPicPr>
          <p:nvPr/>
        </p:nvPicPr>
        <p:blipFill>
          <a:blip r:embed="rId4"/>
          <a:stretch>
            <a:fillRect/>
          </a:stretch>
        </p:blipFill>
        <p:spPr>
          <a:xfrm>
            <a:off x="10158984" y="3931920"/>
            <a:ext cx="274320" cy="274320"/>
          </a:xfrm>
          <a:prstGeom prst="rect">
            <a:avLst/>
          </a:prstGeom>
        </p:spPr>
      </p:pic>
      <p:sp>
        <p:nvSpPr>
          <p:cNvPr id="17" name="Text 11"/>
          <p:cNvSpPr/>
          <p:nvPr/>
        </p:nvSpPr>
        <p:spPr>
          <a:xfrm>
            <a:off x="10524744"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STÄMNING</a:t>
            </a:r>
            <a:endParaRPr lang="en-US" sz="800" dirty="0"/>
          </a:p>
        </p:txBody>
      </p:sp>
      <p:sp>
        <p:nvSpPr>
          <p:cNvPr id="18" name="Text 12"/>
          <p:cNvSpPr/>
          <p:nvPr/>
        </p:nvSpPr>
        <p:spPr>
          <a:xfrm>
            <a:off x="10524744"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Lugn, kärleksfull</a:t>
            </a:r>
            <a:endParaRPr lang="en-US" sz="1100" dirty="0"/>
          </a:p>
        </p:txBody>
      </p:sp>
      <p:sp>
        <p:nvSpPr>
          <p:cNvPr id="19" name="Text 13"/>
          <p:cNvSpPr/>
          <p:nvPr/>
        </p:nvSpPr>
        <p:spPr>
          <a:xfrm>
            <a:off x="6126480" y="4800600"/>
            <a:ext cx="5669280" cy="274320"/>
          </a:xfrm>
          <a:prstGeom prst="rect">
            <a:avLst/>
          </a:prstGeom>
          <a:noFill/>
          <a:ln/>
        </p:spPr>
        <p:txBody>
          <a:bodyPr wrap="square" lIns="0" tIns="0" rIns="0" bIns="0" rtlCol="0" anchor="ctr"/>
          <a:lstStyle/>
          <a:p>
            <a:pPr indent="0" marL="0">
              <a:buNone/>
            </a:pPr>
            <a:r>
              <a:rPr lang="en-US" sz="1000" b="1" spc="400" kern="0" dirty="0">
                <a:solidFill>
                  <a:srgbClr val="C4738A"/>
                </a:solidFill>
                <a:latin typeface="Calibri" pitchFamily="34" charset="0"/>
                <a:ea typeface="Calibri" pitchFamily="34" charset="-122"/>
                <a:cs typeface="Calibri" pitchFamily="34" charset="-120"/>
              </a:rPr>
              <a:t>PRAKTISKA TIPS</a:t>
            </a:r>
            <a:endParaRPr lang="en-US" sz="1000" dirty="0"/>
          </a:p>
        </p:txBody>
      </p:sp>
      <p:sp>
        <p:nvSpPr>
          <p:cNvPr id="20" name="Text 14"/>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Köp bröd, blommor och presenter dagen innan så ingen behöver springa ut tidigt på söndagen</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Liten vas med vildblommor eller lavendel på brickan</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Spela en av Elins favoritlåtar lågt i bakgrunden</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Filma kort när ni går in och sjunger, men lägg ner telefonen sen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D2E46"/>
        </a:solidFill>
      </p:bgPr>
    </p:bg>
    <p:spTree>
      <p:nvGrpSpPr>
        <p:cNvPr id="1" name=""/>
        <p:cNvGrpSpPr/>
        <p:nvPr/>
      </p:nvGrpSpPr>
      <p:grpSpPr>
        <a:xfrm>
          <a:off x="0" y="0"/>
          <a:ext cx="0" cy="0"/>
          <a:chOff x="0" y="0"/>
          <a:chExt cx="0" cy="0"/>
        </a:xfrm>
      </p:grpSpPr>
      <p:sp>
        <p:nvSpPr>
          <p:cNvPr id="2" name="Text 0"/>
          <p:cNvSpPr/>
          <p:nvPr/>
        </p:nvSpPr>
        <p:spPr>
          <a:xfrm>
            <a:off x="640080" y="2286000"/>
            <a:ext cx="10972800" cy="548640"/>
          </a:xfrm>
          <a:prstGeom prst="rect">
            <a:avLst/>
          </a:prstGeom>
          <a:noFill/>
          <a:ln/>
        </p:spPr>
        <p:txBody>
          <a:bodyPr wrap="square" lIns="0" tIns="0" rIns="0" bIns="0" rtlCol="0" anchor="ctr"/>
          <a:lstStyle/>
          <a:p>
            <a:pPr indent="0" marL="0">
              <a:buNone/>
            </a:pPr>
            <a:r>
              <a:rPr lang="en-US" sz="1800" i="1" spc="600" kern="0" dirty="0">
                <a:solidFill>
                  <a:srgbClr val="FFFFFF"/>
                </a:solidFill>
                <a:latin typeface="Georgia" pitchFamily="34" charset="0"/>
                <a:ea typeface="Georgia" pitchFamily="34" charset="-122"/>
                <a:cs typeface="Georgia" pitchFamily="34" charset="-120"/>
              </a:rPr>
              <a:t>Sektion 2</a:t>
            </a:r>
            <a:endParaRPr lang="en-US" sz="1800" dirty="0"/>
          </a:p>
        </p:txBody>
      </p:sp>
      <p:sp>
        <p:nvSpPr>
          <p:cNvPr id="3" name="Text 1"/>
          <p:cNvSpPr/>
          <p:nvPr/>
        </p:nvSpPr>
        <p:spPr>
          <a:xfrm>
            <a:off x="640080" y="2743200"/>
            <a:ext cx="10972800" cy="1371600"/>
          </a:xfrm>
          <a:prstGeom prst="rect">
            <a:avLst/>
          </a:prstGeom>
          <a:noFill/>
          <a:ln/>
        </p:spPr>
        <p:txBody>
          <a:bodyPr wrap="square" lIns="0" tIns="0" rIns="0" bIns="0" rtlCol="0" anchor="ctr"/>
          <a:lstStyle/>
          <a:p>
            <a:pPr indent="0" marL="0">
              <a:buNone/>
            </a:pPr>
            <a:r>
              <a:rPr lang="en-US" sz="6400" b="1" dirty="0">
                <a:solidFill>
                  <a:srgbClr val="FFFFFF"/>
                </a:solidFill>
                <a:latin typeface="Georgia" pitchFamily="34" charset="0"/>
                <a:ea typeface="Georgia" pitchFamily="34" charset="-122"/>
                <a:cs typeface="Georgia" pitchFamily="34" charset="-120"/>
              </a:rPr>
              <a:t>Dagsutflykt</a:t>
            </a:r>
            <a:endParaRPr lang="en-US" sz="6400" dirty="0"/>
          </a:p>
        </p:txBody>
      </p:sp>
      <p:sp>
        <p:nvSpPr>
          <p:cNvPr id="4" name="Text 2"/>
          <p:cNvSpPr/>
          <p:nvPr/>
        </p:nvSpPr>
        <p:spPr>
          <a:xfrm>
            <a:off x="640080" y="4023360"/>
            <a:ext cx="10972800" cy="548640"/>
          </a:xfrm>
          <a:prstGeom prst="rect">
            <a:avLst/>
          </a:prstGeom>
          <a:noFill/>
          <a:ln/>
        </p:spPr>
        <p:txBody>
          <a:bodyPr wrap="square" lIns="0" tIns="0" rIns="0" bIns="0" rtlCol="0" anchor="ctr"/>
          <a:lstStyle/>
          <a:p>
            <a:pPr indent="0" marL="0">
              <a:buNone/>
            </a:pPr>
            <a:r>
              <a:rPr lang="en-US" sz="2200" i="1" dirty="0">
                <a:solidFill>
                  <a:srgbClr val="FBF7F0"/>
                </a:solidFill>
                <a:latin typeface="Georgia" pitchFamily="34" charset="0"/>
                <a:ea typeface="Georgia" pitchFamily="34" charset="-122"/>
                <a:cs typeface="Georgia" pitchFamily="34" charset="-120"/>
              </a:rPr>
              <a:t>Tre alternativ att välja mellan</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640080" y="457200"/>
            <a:ext cx="10972800" cy="365760"/>
          </a:xfrm>
          <a:prstGeom prst="rect">
            <a:avLst/>
          </a:prstGeom>
          <a:noFill/>
          <a:ln/>
        </p:spPr>
        <p:txBody>
          <a:bodyPr wrap="square" lIns="0" tIns="0" rIns="0" bIns="0" rtlCol="0" anchor="ctr"/>
          <a:lstStyle/>
          <a:p>
            <a:pPr indent="0" marL="0">
              <a:buNone/>
            </a:pPr>
            <a:r>
              <a:rPr lang="en-US" sz="1200" b="1" spc="400" kern="0" dirty="0">
                <a:solidFill>
                  <a:srgbClr val="6D2E46"/>
                </a:solidFill>
                <a:latin typeface="Calibri" pitchFamily="34" charset="0"/>
                <a:ea typeface="Calibri" pitchFamily="34" charset="-122"/>
                <a:cs typeface="Calibri" pitchFamily="34" charset="-120"/>
              </a:rPr>
              <a:t>DAGSUTFLYKT</a:t>
            </a:r>
            <a:endParaRPr lang="en-US" sz="1200" dirty="0"/>
          </a:p>
        </p:txBody>
      </p:sp>
      <p:sp>
        <p:nvSpPr>
          <p:cNvPr id="3" name="Text 1"/>
          <p:cNvSpPr/>
          <p:nvPr/>
        </p:nvSpPr>
        <p:spPr>
          <a:xfrm>
            <a:off x="640080" y="822960"/>
            <a:ext cx="10972800" cy="914400"/>
          </a:xfrm>
          <a:prstGeom prst="rect">
            <a:avLst/>
          </a:prstGeom>
          <a:noFill/>
          <a:ln/>
        </p:spPr>
        <p:txBody>
          <a:bodyPr wrap="square" lIns="0" tIns="0" rIns="0" bIns="0" rtlCol="0" anchor="ctr"/>
          <a:lstStyle/>
          <a:p>
            <a:pPr indent="0" marL="0">
              <a:buNone/>
            </a:pPr>
            <a:r>
              <a:rPr lang="en-US" sz="4000" b="1" dirty="0">
                <a:solidFill>
                  <a:srgbClr val="1A2E3B"/>
                </a:solidFill>
                <a:latin typeface="Georgia" pitchFamily="34" charset="0"/>
                <a:ea typeface="Georgia" pitchFamily="34" charset="-122"/>
                <a:cs typeface="Georgia" pitchFamily="34" charset="-120"/>
              </a:rPr>
              <a:t>Tre alternativ jämfört</a:t>
            </a:r>
            <a:endParaRPr lang="en-US" sz="4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011680"/>
          <a:ext cx="10972800" cy="914400"/>
        </p:xfrm>
        <a:graphic>
          <a:graphicData uri="http://schemas.openxmlformats.org/drawingml/2006/table">
            <a:tbl>
              <a:tblPr/>
              <a:tblGrid>
                <a:gridCol w="2011680"/>
                <a:gridCol w="2990088"/>
                <a:gridCol w="2990088"/>
                <a:gridCol w="2980944"/>
              </a:tblGrid>
              <a:tr h="502920">
                <a:tc>
                  <a:txBody>
                    <a:bodyPr/>
                    <a:lstStyle/>
                    <a:p>
                      <a:pPr indent="0" marL="0">
                        <a:buNone/>
                      </a:pP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SAINT-GUILHEM</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solidFill>
                      <a:srgbClr val="6D2E4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PIC SAINT-LOUP</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solidFill>
                      <a:srgbClr val="D4A23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SÈTE</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solidFill>
                      <a:srgbClr val="2E7793"/>
                    </a:solidFill>
                  </a:tcPr>
                </a:tc>
              </a:tr>
              <a:tr h="502920">
                <a:tc>
                  <a:txBody>
                    <a:bodyPr/>
                    <a:lstStyle/>
                    <a:p>
                      <a:pPr indent="0" marL="0">
                        <a:buNone/>
                      </a:pPr>
                      <a:r>
                        <a:rPr lang="en-US" sz="1200" b="1" dirty="0">
                          <a:solidFill>
                            <a:srgbClr val="5C6B73"/>
                          </a:solidFill>
                          <a:latin typeface="Calibri" pitchFamily="34" charset="0"/>
                          <a:ea typeface="Calibri" pitchFamily="34" charset="-122"/>
                          <a:cs typeface="Calibri" pitchFamily="34" charset="-120"/>
                        </a:rPr>
                        <a:t>Vad</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Medeltidsby (UNESCO)</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Vingårdsregion</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Fiskestad vid havet</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r>
              <a:tr h="502920">
                <a:tc>
                  <a:txBody>
                    <a:bodyPr/>
                    <a:lstStyle/>
                    <a:p>
                      <a:pPr indent="0" marL="0">
                        <a:buNone/>
                      </a:pPr>
                      <a:r>
                        <a:rPr lang="en-US" sz="1200" b="1" dirty="0">
                          <a:solidFill>
                            <a:srgbClr val="5C6B73"/>
                          </a:solidFill>
                          <a:latin typeface="Calibri" pitchFamily="34" charset="0"/>
                          <a:ea typeface="Calibri" pitchFamily="34" charset="-122"/>
                          <a:cs typeface="Calibri" pitchFamily="34" charset="-120"/>
                        </a:rPr>
                        <a:t>Restid</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45 min</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30 min</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20 min med tåg</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r>
              <a:tr h="502920">
                <a:tc>
                  <a:txBody>
                    <a:bodyPr/>
                    <a:lstStyle/>
                    <a:p>
                      <a:pPr indent="0" marL="0">
                        <a:buNone/>
                      </a:pPr>
                      <a:r>
                        <a:rPr lang="en-US" sz="1200" b="1" dirty="0">
                          <a:solidFill>
                            <a:srgbClr val="5C6B73"/>
                          </a:solidFill>
                          <a:latin typeface="Calibri" pitchFamily="34" charset="0"/>
                          <a:ea typeface="Calibri" pitchFamily="34" charset="-122"/>
                          <a:cs typeface="Calibri" pitchFamily="34" charset="-120"/>
                        </a:rPr>
                        <a:t>Logistik 7 pers</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Hyrbil eller bil + buss 668</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Hyrbil eller guidad tur</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Tåg, alla samma vagn</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r>
              <a:tr h="502920">
                <a:tc>
                  <a:txBody>
                    <a:bodyPr/>
                    <a:lstStyle/>
                    <a:p>
                      <a:pPr indent="0" marL="0">
                        <a:buNone/>
                      </a:pPr>
                      <a:r>
                        <a:rPr lang="en-US" sz="1200" b="1" dirty="0">
                          <a:solidFill>
                            <a:srgbClr val="5C6B73"/>
                          </a:solidFill>
                          <a:latin typeface="Calibri" pitchFamily="34" charset="0"/>
                          <a:ea typeface="Calibri" pitchFamily="34" charset="-122"/>
                          <a:cs typeface="Calibri" pitchFamily="34" charset="-120"/>
                        </a:rPr>
                        <a:t>Wow-faktor</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b="1" dirty="0">
                          <a:solidFill>
                            <a:srgbClr val="1A2E3B"/>
                          </a:solidFill>
                          <a:latin typeface="Calibri" pitchFamily="34" charset="0"/>
                          <a:ea typeface="Calibri" pitchFamily="34" charset="-122"/>
                          <a:cs typeface="Calibri" pitchFamily="34" charset="-120"/>
                        </a:rPr>
                        <a:t>Mycket hög</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Hög för vinintresserade</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Medel, mer avslappnat</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r>
              <a:tr h="502920">
                <a:tc>
                  <a:txBody>
                    <a:bodyPr/>
                    <a:lstStyle/>
                    <a:p>
                      <a:pPr indent="0" marL="0">
                        <a:buNone/>
                      </a:pPr>
                      <a:r>
                        <a:rPr lang="en-US" sz="1200" b="1" dirty="0">
                          <a:solidFill>
                            <a:srgbClr val="5C6B73"/>
                          </a:solidFill>
                          <a:latin typeface="Calibri" pitchFamily="34" charset="0"/>
                          <a:ea typeface="Calibri" pitchFamily="34" charset="-122"/>
                          <a:cs typeface="Calibri" pitchFamily="34" charset="-120"/>
                        </a:rPr>
                        <a:t>Passar Elton (9)</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Bra (flod att bada i)</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Medel (vinprovning)</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Mycket bra (havet)</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r>
              <a:tr h="502920">
                <a:tc>
                  <a:txBody>
                    <a:bodyPr/>
                    <a:lstStyle/>
                    <a:p>
                      <a:pPr indent="0" marL="0">
                        <a:buNone/>
                      </a:pPr>
                      <a:r>
                        <a:rPr lang="en-US" sz="1200" b="1" dirty="0">
                          <a:solidFill>
                            <a:srgbClr val="5C6B73"/>
                          </a:solidFill>
                          <a:latin typeface="Calibri" pitchFamily="34" charset="0"/>
                          <a:ea typeface="Calibri" pitchFamily="34" charset="-122"/>
                          <a:cs typeface="Calibri" pitchFamily="34" charset="-120"/>
                        </a:rPr>
                        <a:t>Söndagsöppet</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Ja, sommarbuss går</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Ring och boka i förväg</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Ja, allt öppet</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r>
              <a:tr h="502920">
                <a:tc>
                  <a:txBody>
                    <a:bodyPr/>
                    <a:lstStyle/>
                    <a:p>
                      <a:pPr indent="0" marL="0">
                        <a:buNone/>
                      </a:pPr>
                      <a:r>
                        <a:rPr lang="en-US" sz="1200" b="1" dirty="0">
                          <a:solidFill>
                            <a:srgbClr val="5C6B73"/>
                          </a:solidFill>
                          <a:latin typeface="Calibri" pitchFamily="34" charset="0"/>
                          <a:ea typeface="Calibri" pitchFamily="34" charset="-122"/>
                          <a:cs typeface="Calibri" pitchFamily="34" charset="-120"/>
                        </a:rPr>
                        <a:t>Kostnad familj</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~150 € (hyrbil + lunch)</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~250-400 € (vinprovning)</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c>
                  <a:txBody>
                    <a:bodyPr/>
                    <a:lstStyle/>
                    <a:p>
                      <a:pPr indent="0" marL="0">
                        <a:buNone/>
                      </a:pPr>
                      <a:r>
                        <a:rPr lang="en-US" sz="1200" dirty="0">
                          <a:solidFill>
                            <a:srgbClr val="1A2E3B"/>
                          </a:solidFill>
                          <a:latin typeface="Calibri" pitchFamily="34" charset="0"/>
                          <a:ea typeface="Calibri" pitchFamily="34" charset="-122"/>
                          <a:cs typeface="Calibri" pitchFamily="34" charset="-120"/>
                        </a:rPr>
                        <a:t>~200 € (tåg + lunch)</a:t>
                      </a:r>
                      <a:endParaRPr lang="en-US" sz="1200" dirty="0">
                        <a:latin typeface="Calibri" charset="0"/>
                        <a:ea typeface="Calibri" charset="0"/>
                        <a:cs typeface="Calibri" charset="0"/>
                      </a:endParaRPr>
                    </a:p>
                  </a:txBody>
                  <a:tcPr marL="91440" marR="91440" marT="91440" marB="91440" anchor="ctr">
                    <a:lnL w="12700" cap="flat" cmpd="sng" algn="ctr">
                      <a:solidFill>
                        <a:srgbClr val="E8DFD0"/>
                      </a:solidFill>
                      <a:prstDash val="solid"/>
                      <a:round/>
                      <a:headEnd type="none" w="med" len="med"/>
                      <a:tailEnd type="none" w="med" len="med"/>
                    </a:lnL>
                    <a:lnR w="12700" cap="flat" cmpd="sng" algn="ctr">
                      <a:solidFill>
                        <a:srgbClr val="E8DFD0"/>
                      </a:solidFill>
                      <a:prstDash val="solid"/>
                      <a:round/>
                      <a:headEnd type="none" w="med" len="med"/>
                      <a:tailEnd type="none" w="med" len="med"/>
                    </a:lnR>
                    <a:lnT w="12700" cap="flat" cmpd="sng" algn="ctr">
                      <a:solidFill>
                        <a:srgbClr val="E8DFD0"/>
                      </a:solidFill>
                      <a:prstDash val="solid"/>
                      <a:round/>
                      <a:headEnd type="none" w="med" len="med"/>
                      <a:tailEnd type="none" w="med" len="med"/>
                    </a:lnT>
                    <a:lnB w="12700" cap="flat" cmpd="sng" algn="ctr">
                      <a:solidFill>
                        <a:srgbClr val="E8DFD0"/>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6D2E46"/>
          </a:solidFill>
          <a:ln w="12700">
            <a:solidFill>
              <a:srgbClr val="6D2E46"/>
            </a:solidFill>
            <a:prstDash val="solid"/>
          </a:ln>
        </p:spPr>
      </p:sp>
      <p:pic>
        <p:nvPicPr>
          <p:cNvPr id="3" name="Image 0" descr="preencoded.png">    </p:cNvPr>
          <p:cNvPicPr>
            <a:picLocks noChangeAspect="1"/>
          </p:cNvPicPr>
          <p:nvPr/>
        </p:nvPicPr>
        <p:blipFill>
          <a:blip r:embed="rId1"/>
          <a:stretch>
            <a:fillRect/>
          </a:stretch>
        </p:blipFill>
        <p:spPr>
          <a:xfrm>
            <a:off x="2194560" y="210312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indent="0" marL="0">
              <a:buNone/>
            </a:pPr>
            <a:r>
              <a:rPr lang="en-US" sz="1600" i="1" spc="400" kern="0" dirty="0">
                <a:solidFill>
                  <a:srgbClr val="FFFFFF"/>
                </a:solidFill>
                <a:latin typeface="Georgia" pitchFamily="34" charset="0"/>
                <a:ea typeface="Georgia" pitchFamily="34" charset="-122"/>
                <a:cs typeface="Georgia" pitchFamily="34" charset="-120"/>
              </a:rPr>
              <a:t>#A</a:t>
            </a:r>
            <a:endParaRPr lang="en-US" sz="1600" dirty="0"/>
          </a:p>
        </p:txBody>
      </p:sp>
      <p:sp>
        <p:nvSpPr>
          <p:cNvPr id="5" name="Text 2"/>
          <p:cNvSpPr/>
          <p:nvPr/>
        </p:nvSpPr>
        <p:spPr>
          <a:xfrm>
            <a:off x="6126480" y="548640"/>
            <a:ext cx="5669280" cy="365760"/>
          </a:xfrm>
          <a:prstGeom prst="rect">
            <a:avLst/>
          </a:prstGeom>
          <a:noFill/>
          <a:ln/>
        </p:spPr>
        <p:txBody>
          <a:bodyPr wrap="square" lIns="0" tIns="0" rIns="0" bIns="0" rtlCol="0" anchor="ctr"/>
          <a:lstStyle/>
          <a:p>
            <a:pPr indent="0" marL="0">
              <a:buNone/>
            </a:pPr>
            <a:r>
              <a:rPr lang="en-US" sz="1200" b="1" spc="400" kern="0" dirty="0">
                <a:solidFill>
                  <a:srgbClr val="6D2E46"/>
                </a:solidFill>
                <a:latin typeface="Calibri" pitchFamily="34" charset="0"/>
                <a:ea typeface="Calibri" pitchFamily="34" charset="-122"/>
                <a:cs typeface="Calibri" pitchFamily="34" charset="-120"/>
              </a:rPr>
              <a:t>ALTERNATIV A · MEDELTIDSBY OCH FLOD</a:t>
            </a:r>
            <a:endParaRPr lang="en-US" sz="1200" dirty="0"/>
          </a:p>
        </p:txBody>
      </p:sp>
      <p:sp>
        <p:nvSpPr>
          <p:cNvPr id="6" name="Text 3"/>
          <p:cNvSpPr/>
          <p:nvPr/>
        </p:nvSpPr>
        <p:spPr>
          <a:xfrm>
            <a:off x="6126480" y="914400"/>
            <a:ext cx="5669280" cy="1280160"/>
          </a:xfrm>
          <a:prstGeom prst="rect">
            <a:avLst/>
          </a:prstGeom>
          <a:noFill/>
          <a:ln/>
        </p:spPr>
        <p:txBody>
          <a:bodyPr wrap="square" lIns="0" tIns="0" rIns="0" bIns="0" rtlCol="0" anchor="ctr"/>
          <a:lstStyle/>
          <a:p>
            <a:pPr indent="0" marL="0">
              <a:buNone/>
            </a:pPr>
            <a:r>
              <a:rPr lang="en-US" sz="3600" b="1" dirty="0">
                <a:solidFill>
                  <a:srgbClr val="1A2E3B"/>
                </a:solidFill>
                <a:latin typeface="Georgia" pitchFamily="34" charset="0"/>
                <a:ea typeface="Georgia" pitchFamily="34" charset="-122"/>
                <a:cs typeface="Georgia" pitchFamily="34" charset="-120"/>
              </a:rPr>
              <a:t>Saint-Guilhem-le-Désert</a:t>
            </a:r>
            <a:endParaRPr lang="en-US" sz="3600" dirty="0"/>
          </a:p>
        </p:txBody>
      </p:sp>
      <p:sp>
        <p:nvSpPr>
          <p:cNvPr id="7" name="Text 4"/>
          <p:cNvSpPr/>
          <p:nvPr/>
        </p:nvSpPr>
        <p:spPr>
          <a:xfrm>
            <a:off x="6126480" y="2286000"/>
            <a:ext cx="5669280" cy="1371600"/>
          </a:xfrm>
          <a:prstGeom prst="rect">
            <a:avLst/>
          </a:prstGeom>
          <a:noFill/>
          <a:ln/>
        </p:spPr>
        <p:txBody>
          <a:bodyPr wrap="square" lIns="0" tIns="0" rIns="0" bIns="0" rtlCol="0" anchor="t"/>
          <a:lstStyle/>
          <a:p>
            <a:pPr indent="0" marL="0">
              <a:buNone/>
            </a:pPr>
            <a:r>
              <a:rPr lang="en-US" sz="1400" dirty="0">
                <a:solidFill>
                  <a:srgbClr val="5C6B73"/>
                </a:solidFill>
                <a:latin typeface="Calibri" pitchFamily="34" charset="0"/>
                <a:ea typeface="Calibri" pitchFamily="34" charset="-122"/>
                <a:cs typeface="Calibri" pitchFamily="34" charset="-120"/>
              </a:rPr>
              <a:t>Min toppRekommendation för en 50-årsdag. UNESCO-listad medeltida by, klassad som en av Frankrikes vackraste byar. 1000-årigt klosterkomplex (Abbaye de Gellone), platanträd hundra år gamla på torget, smala stenlagda gränder. På vägen passeras Pont du Diable över Hérault-flodens dramatiska kanjon.</a:t>
            </a:r>
            <a:endParaRPr lang="en-US" sz="1400" dirty="0"/>
          </a:p>
        </p:txBody>
      </p:sp>
      <p:sp>
        <p:nvSpPr>
          <p:cNvPr id="8" name="Shape 5"/>
          <p:cNvSpPr/>
          <p:nvPr/>
        </p:nvSpPr>
        <p:spPr>
          <a:xfrm>
            <a:off x="6126480" y="3794760"/>
            <a:ext cx="1783080" cy="777240"/>
          </a:xfrm>
          <a:prstGeom prst="rect">
            <a:avLst/>
          </a:prstGeom>
          <a:solidFill>
            <a:srgbClr val="FFFFFF"/>
          </a:solidFill>
          <a:ln w="12700">
            <a:solidFill>
              <a:srgbClr val="E8DFD0"/>
            </a:solidFill>
            <a:prstDash val="solid"/>
          </a:ln>
        </p:spPr>
      </p:sp>
      <p:pic>
        <p:nvPicPr>
          <p:cNvPr id="9" name="Image 1" descr="preencoded.png">    </p:cNvPr>
          <p:cNvPicPr>
            <a:picLocks noChangeAspect="1"/>
          </p:cNvPicPr>
          <p:nvPr/>
        </p:nvPicPr>
        <p:blipFill>
          <a:blip r:embed="rId2"/>
          <a:stretch>
            <a:fillRect/>
          </a:stretch>
        </p:blipFill>
        <p:spPr>
          <a:xfrm>
            <a:off x="6263640" y="3931920"/>
            <a:ext cx="274320" cy="274320"/>
          </a:xfrm>
          <a:prstGeom prst="rect">
            <a:avLst/>
          </a:prstGeom>
        </p:spPr>
      </p:pic>
      <p:sp>
        <p:nvSpPr>
          <p:cNvPr id="10" name="Text 6"/>
          <p:cNvSpPr/>
          <p:nvPr/>
        </p:nvSpPr>
        <p:spPr>
          <a:xfrm>
            <a:off x="6629400"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RESTID</a:t>
            </a:r>
            <a:endParaRPr lang="en-US" sz="800" dirty="0"/>
          </a:p>
        </p:txBody>
      </p:sp>
      <p:sp>
        <p:nvSpPr>
          <p:cNvPr id="11" name="Text 7"/>
          <p:cNvSpPr/>
          <p:nvPr/>
        </p:nvSpPr>
        <p:spPr>
          <a:xfrm>
            <a:off x="6629400"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45 min med bil</a:t>
            </a:r>
            <a:endParaRPr lang="en-US" sz="1100" dirty="0"/>
          </a:p>
        </p:txBody>
      </p:sp>
      <p:sp>
        <p:nvSpPr>
          <p:cNvPr id="12" name="Shape 8"/>
          <p:cNvSpPr/>
          <p:nvPr/>
        </p:nvSpPr>
        <p:spPr>
          <a:xfrm>
            <a:off x="8074152" y="3794760"/>
            <a:ext cx="1783080" cy="777240"/>
          </a:xfrm>
          <a:prstGeom prst="rect">
            <a:avLst/>
          </a:prstGeom>
          <a:solidFill>
            <a:srgbClr val="FFFFFF"/>
          </a:solidFill>
          <a:ln w="12700">
            <a:solidFill>
              <a:srgbClr val="E8DFD0"/>
            </a:solidFill>
            <a:prstDash val="solid"/>
          </a:ln>
        </p:spPr>
      </p:sp>
      <p:pic>
        <p:nvPicPr>
          <p:cNvPr id="13" name="Image 2" descr="preencoded.png">    </p:cNvPr>
          <p:cNvPicPr>
            <a:picLocks noChangeAspect="1"/>
          </p:cNvPicPr>
          <p:nvPr/>
        </p:nvPicPr>
        <p:blipFill>
          <a:blip r:embed="rId3"/>
          <a:stretch>
            <a:fillRect/>
          </a:stretch>
        </p:blipFill>
        <p:spPr>
          <a:xfrm>
            <a:off x="8211312" y="3931920"/>
            <a:ext cx="274320" cy="274320"/>
          </a:xfrm>
          <a:prstGeom prst="rect">
            <a:avLst/>
          </a:prstGeom>
        </p:spPr>
      </p:pic>
      <p:sp>
        <p:nvSpPr>
          <p:cNvPr id="14" name="Text 9"/>
          <p:cNvSpPr/>
          <p:nvPr/>
        </p:nvSpPr>
        <p:spPr>
          <a:xfrm>
            <a:off x="8577072"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FORM</a:t>
            </a:r>
            <a:endParaRPr lang="en-US" sz="800" dirty="0"/>
          </a:p>
        </p:txBody>
      </p:sp>
      <p:sp>
        <p:nvSpPr>
          <p:cNvPr id="15" name="Text 10"/>
          <p:cNvSpPr/>
          <p:nvPr/>
        </p:nvSpPr>
        <p:spPr>
          <a:xfrm>
            <a:off x="8577072"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Heldag, lugnt tempo</a:t>
            </a:r>
            <a:endParaRPr lang="en-US" sz="1100" dirty="0"/>
          </a:p>
        </p:txBody>
      </p:sp>
      <p:sp>
        <p:nvSpPr>
          <p:cNvPr id="16" name="Shape 11"/>
          <p:cNvSpPr/>
          <p:nvPr/>
        </p:nvSpPr>
        <p:spPr>
          <a:xfrm>
            <a:off x="10021824" y="3794760"/>
            <a:ext cx="1783080" cy="777240"/>
          </a:xfrm>
          <a:prstGeom prst="rect">
            <a:avLst/>
          </a:prstGeom>
          <a:solidFill>
            <a:srgbClr val="FFFFFF"/>
          </a:solidFill>
          <a:ln w="12700">
            <a:solidFill>
              <a:srgbClr val="E8DFD0"/>
            </a:solidFill>
            <a:prstDash val="solid"/>
          </a:ln>
        </p:spPr>
      </p:sp>
      <p:pic>
        <p:nvPicPr>
          <p:cNvPr id="17" name="Image 3" descr="preencoded.png">    </p:cNvPr>
          <p:cNvPicPr>
            <a:picLocks noChangeAspect="1"/>
          </p:cNvPicPr>
          <p:nvPr/>
        </p:nvPicPr>
        <p:blipFill>
          <a:blip r:embed="rId4"/>
          <a:stretch>
            <a:fillRect/>
          </a:stretch>
        </p:blipFill>
        <p:spPr>
          <a:xfrm>
            <a:off x="10158984" y="3931920"/>
            <a:ext cx="274320" cy="274320"/>
          </a:xfrm>
          <a:prstGeom prst="rect">
            <a:avLst/>
          </a:prstGeom>
        </p:spPr>
      </p:pic>
      <p:sp>
        <p:nvSpPr>
          <p:cNvPr id="18" name="Text 12"/>
          <p:cNvSpPr/>
          <p:nvPr/>
        </p:nvSpPr>
        <p:spPr>
          <a:xfrm>
            <a:off x="10524744"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BUDGET</a:t>
            </a:r>
            <a:endParaRPr lang="en-US" sz="800" dirty="0"/>
          </a:p>
        </p:txBody>
      </p:sp>
      <p:sp>
        <p:nvSpPr>
          <p:cNvPr id="19" name="Text 13"/>
          <p:cNvSpPr/>
          <p:nvPr/>
        </p:nvSpPr>
        <p:spPr>
          <a:xfrm>
            <a:off x="10524744"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Ca 150 € totalt</a:t>
            </a:r>
            <a:endParaRPr lang="en-US" sz="1100" dirty="0"/>
          </a:p>
        </p:txBody>
      </p:sp>
      <p:sp>
        <p:nvSpPr>
          <p:cNvPr id="20" name="Text 14"/>
          <p:cNvSpPr/>
          <p:nvPr/>
        </p:nvSpPr>
        <p:spPr>
          <a:xfrm>
            <a:off x="6126480" y="4800600"/>
            <a:ext cx="5669280" cy="274320"/>
          </a:xfrm>
          <a:prstGeom prst="rect">
            <a:avLst/>
          </a:prstGeom>
          <a:noFill/>
          <a:ln/>
        </p:spPr>
        <p:txBody>
          <a:bodyPr wrap="square" lIns="0" tIns="0" rIns="0" bIns="0" rtlCol="0" anchor="ctr"/>
          <a:lstStyle/>
          <a:p>
            <a:pPr indent="0" marL="0">
              <a:buNone/>
            </a:pPr>
            <a:r>
              <a:rPr lang="en-US" sz="1000" b="1" spc="400" kern="0" dirty="0">
                <a:solidFill>
                  <a:srgbClr val="6D2E46"/>
                </a:solidFill>
                <a:latin typeface="Calibri" pitchFamily="34" charset="0"/>
                <a:ea typeface="Calibri" pitchFamily="34" charset="-122"/>
                <a:cs typeface="Calibri" pitchFamily="34" charset="-120"/>
              </a:rPr>
              <a:t>PRAKTISKA TIPS</a:t>
            </a:r>
            <a:endParaRPr lang="en-US" sz="1000" dirty="0"/>
          </a:p>
        </p:txBody>
      </p:sp>
      <p:sp>
        <p:nvSpPr>
          <p:cNvPr id="21" name="Text 15"/>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UNESCO + Plus Beaux Villages, två klassningar samtidigt</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Pont du Diable bara 5 min bort, dopp i Hérault-floden</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Lunch på torget under 100-åriga platanen, perfekt</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Söndagar i juli är populära, lunchen kan vara folkig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640080" y="365760"/>
            <a:ext cx="10972800" cy="320040"/>
          </a:xfrm>
          <a:prstGeom prst="rect">
            <a:avLst/>
          </a:prstGeom>
          <a:noFill/>
          <a:ln/>
        </p:spPr>
        <p:txBody>
          <a:bodyPr wrap="square" lIns="0" tIns="0" rIns="0" bIns="0" rtlCol="0" anchor="ctr"/>
          <a:lstStyle/>
          <a:p>
            <a:pPr indent="0" marL="0">
              <a:buNone/>
            </a:pPr>
            <a:r>
              <a:rPr lang="en-US" sz="1100" b="1" spc="400" kern="0" dirty="0">
                <a:solidFill>
                  <a:srgbClr val="6D2E46"/>
                </a:solidFill>
                <a:latin typeface="Calibri" pitchFamily="34" charset="0"/>
                <a:ea typeface="Calibri" pitchFamily="34" charset="-122"/>
                <a:cs typeface="Calibri" pitchFamily="34" charset="-120"/>
              </a:rPr>
              <a:t>ALTERNATIV A · TIDSPLAN</a:t>
            </a:r>
            <a:endParaRPr lang="en-US" sz="1100" dirty="0"/>
          </a:p>
        </p:txBody>
      </p:sp>
      <p:sp>
        <p:nvSpPr>
          <p:cNvPr id="3" name="Text 1"/>
          <p:cNvSpPr/>
          <p:nvPr/>
        </p:nvSpPr>
        <p:spPr>
          <a:xfrm>
            <a:off x="640080" y="685800"/>
            <a:ext cx="10972800" cy="777240"/>
          </a:xfrm>
          <a:prstGeom prst="rect">
            <a:avLst/>
          </a:prstGeom>
          <a:noFill/>
          <a:ln/>
        </p:spPr>
        <p:txBody>
          <a:bodyPr wrap="square" lIns="0" tIns="0" rIns="0" bIns="0" rtlCol="0" anchor="ctr"/>
          <a:lstStyle/>
          <a:p>
            <a:pPr indent="0" marL="0">
              <a:buNone/>
            </a:pPr>
            <a:r>
              <a:rPr lang="en-US" sz="3000" b="1" dirty="0">
                <a:solidFill>
                  <a:srgbClr val="1A2E3B"/>
                </a:solidFill>
                <a:latin typeface="Georgia" pitchFamily="34" charset="0"/>
                <a:ea typeface="Georgia" pitchFamily="34" charset="-122"/>
                <a:cs typeface="Georgia" pitchFamily="34" charset="-120"/>
              </a:rPr>
              <a:t>Saint-Guilhem dagsschema</a:t>
            </a:r>
            <a:endParaRPr lang="en-US" sz="3000" dirty="0"/>
          </a:p>
        </p:txBody>
      </p:sp>
      <p:sp>
        <p:nvSpPr>
          <p:cNvPr id="4" name="Shape 2"/>
          <p:cNvSpPr/>
          <p:nvPr/>
        </p:nvSpPr>
        <p:spPr>
          <a:xfrm>
            <a:off x="640080" y="1691640"/>
            <a:ext cx="1097280" cy="457200"/>
          </a:xfrm>
          <a:prstGeom prst="ellipse">
            <a:avLst/>
          </a:prstGeom>
          <a:solidFill>
            <a:srgbClr val="6D2E46"/>
          </a:solidFill>
          <a:ln w="12700">
            <a:solidFill>
              <a:srgbClr val="6D2E46"/>
            </a:solidFill>
            <a:prstDash val="solid"/>
          </a:ln>
        </p:spPr>
      </p:sp>
      <p:sp>
        <p:nvSpPr>
          <p:cNvPr id="5" name="Text 3"/>
          <p:cNvSpPr/>
          <p:nvPr/>
        </p:nvSpPr>
        <p:spPr>
          <a:xfrm>
            <a:off x="640080" y="1691640"/>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09.30</a:t>
            </a:r>
            <a:endParaRPr lang="en-US" sz="1200" dirty="0"/>
          </a:p>
        </p:txBody>
      </p:sp>
      <p:sp>
        <p:nvSpPr>
          <p:cNvPr id="6" name="Shape 4"/>
          <p:cNvSpPr/>
          <p:nvPr/>
        </p:nvSpPr>
        <p:spPr>
          <a:xfrm>
            <a:off x="1188720" y="2148840"/>
            <a:ext cx="0" cy="109728"/>
          </a:xfrm>
          <a:prstGeom prst="line">
            <a:avLst/>
          </a:prstGeom>
          <a:noFill/>
          <a:ln w="25400">
            <a:solidFill>
              <a:srgbClr val="6D2E46"/>
            </a:solidFill>
            <a:prstDash val="dash"/>
          </a:ln>
        </p:spPr>
      </p:sp>
      <p:sp>
        <p:nvSpPr>
          <p:cNvPr id="7" name="Text 5"/>
          <p:cNvSpPr/>
          <p:nvPr/>
        </p:nvSpPr>
        <p:spPr>
          <a:xfrm>
            <a:off x="2011680" y="1691640"/>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Sängfrukost klar</a:t>
            </a:r>
            <a:endParaRPr lang="en-US" sz="1400" dirty="0"/>
          </a:p>
        </p:txBody>
      </p:sp>
      <p:sp>
        <p:nvSpPr>
          <p:cNvPr id="8" name="Text 6"/>
          <p:cNvSpPr/>
          <p:nvPr/>
        </p:nvSpPr>
        <p:spPr>
          <a:xfrm>
            <a:off x="2011680" y="1965960"/>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Familjen samlas, kaffe på balkongen</a:t>
            </a:r>
            <a:endParaRPr lang="en-US" sz="1000" dirty="0"/>
          </a:p>
        </p:txBody>
      </p:sp>
      <p:sp>
        <p:nvSpPr>
          <p:cNvPr id="9" name="Text 7"/>
          <p:cNvSpPr/>
          <p:nvPr/>
        </p:nvSpPr>
        <p:spPr>
          <a:xfrm>
            <a:off x="6858000" y="1691640"/>
            <a:ext cx="4572000" cy="457200"/>
          </a:xfrm>
          <a:prstGeom prst="rect">
            <a:avLst/>
          </a:prstGeom>
          <a:noFill/>
          <a:ln/>
        </p:spPr>
        <p:txBody>
          <a:bodyPr wrap="square" lIns="0" tIns="0" rIns="0" bIns="0" rtlCol="0" anchor="ctr"/>
          <a:lstStyle/>
          <a:p>
            <a:pPr indent="0" marL="0">
              <a:buNone/>
            </a:pPr>
            <a:r>
              <a:rPr lang="en-US" sz="1000" i="1" dirty="0">
                <a:solidFill>
                  <a:srgbClr val="6D2E46"/>
                </a:solidFill>
                <a:latin typeface="Calibri" pitchFamily="34" charset="0"/>
                <a:ea typeface="Calibri" pitchFamily="34" charset="-122"/>
                <a:cs typeface="Calibri" pitchFamily="34" charset="-120"/>
              </a:rPr>
              <a:t>Inga stressmoment</a:t>
            </a:r>
            <a:endParaRPr lang="en-US" sz="1000" dirty="0"/>
          </a:p>
        </p:txBody>
      </p:sp>
      <p:sp>
        <p:nvSpPr>
          <p:cNvPr id="10" name="Shape 8"/>
          <p:cNvSpPr/>
          <p:nvPr/>
        </p:nvSpPr>
        <p:spPr>
          <a:xfrm>
            <a:off x="640080" y="2258568"/>
            <a:ext cx="1097280" cy="457200"/>
          </a:xfrm>
          <a:prstGeom prst="ellipse">
            <a:avLst/>
          </a:prstGeom>
          <a:solidFill>
            <a:srgbClr val="6D2E46"/>
          </a:solidFill>
          <a:ln w="12700">
            <a:solidFill>
              <a:srgbClr val="6D2E46"/>
            </a:solidFill>
            <a:prstDash val="solid"/>
          </a:ln>
        </p:spPr>
      </p:sp>
      <p:sp>
        <p:nvSpPr>
          <p:cNvPr id="11" name="Text 9"/>
          <p:cNvSpPr/>
          <p:nvPr/>
        </p:nvSpPr>
        <p:spPr>
          <a:xfrm>
            <a:off x="640080" y="2258568"/>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10.30</a:t>
            </a:r>
            <a:endParaRPr lang="en-US" sz="1200" dirty="0"/>
          </a:p>
        </p:txBody>
      </p:sp>
      <p:sp>
        <p:nvSpPr>
          <p:cNvPr id="12" name="Shape 10"/>
          <p:cNvSpPr/>
          <p:nvPr/>
        </p:nvSpPr>
        <p:spPr>
          <a:xfrm>
            <a:off x="1188720" y="2715768"/>
            <a:ext cx="0" cy="109728"/>
          </a:xfrm>
          <a:prstGeom prst="line">
            <a:avLst/>
          </a:prstGeom>
          <a:noFill/>
          <a:ln w="25400">
            <a:solidFill>
              <a:srgbClr val="6D2E46"/>
            </a:solidFill>
            <a:prstDash val="dash"/>
          </a:ln>
        </p:spPr>
      </p:sp>
      <p:sp>
        <p:nvSpPr>
          <p:cNvPr id="13" name="Text 11"/>
          <p:cNvSpPr/>
          <p:nvPr/>
        </p:nvSpPr>
        <p:spPr>
          <a:xfrm>
            <a:off x="2011680" y="2258568"/>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Avfärd från huset</a:t>
            </a:r>
            <a:endParaRPr lang="en-US" sz="1400" dirty="0"/>
          </a:p>
        </p:txBody>
      </p:sp>
      <p:sp>
        <p:nvSpPr>
          <p:cNvPr id="14" name="Text 12"/>
          <p:cNvSpPr/>
          <p:nvPr/>
        </p:nvSpPr>
        <p:spPr>
          <a:xfrm>
            <a:off x="2011680" y="2532888"/>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Hyrbil 7-sitsare eller bil 5 + 2 med buss 668 från Mosson</a:t>
            </a:r>
            <a:endParaRPr lang="en-US" sz="1000" dirty="0"/>
          </a:p>
        </p:txBody>
      </p:sp>
      <p:sp>
        <p:nvSpPr>
          <p:cNvPr id="15" name="Text 13"/>
          <p:cNvSpPr/>
          <p:nvPr/>
        </p:nvSpPr>
        <p:spPr>
          <a:xfrm>
            <a:off x="6858000" y="2258568"/>
            <a:ext cx="4572000" cy="457200"/>
          </a:xfrm>
          <a:prstGeom prst="rect">
            <a:avLst/>
          </a:prstGeom>
          <a:noFill/>
          <a:ln/>
        </p:spPr>
        <p:txBody>
          <a:bodyPr wrap="square" lIns="0" tIns="0" rIns="0" bIns="0" rtlCol="0" anchor="ctr"/>
          <a:lstStyle/>
          <a:p>
            <a:pPr indent="0" marL="0">
              <a:buNone/>
            </a:pPr>
            <a:r>
              <a:rPr lang="en-US" sz="1000" i="1" dirty="0">
                <a:solidFill>
                  <a:srgbClr val="6D2E46"/>
                </a:solidFill>
                <a:latin typeface="Calibri" pitchFamily="34" charset="0"/>
                <a:ea typeface="Calibri" pitchFamily="34" charset="-122"/>
                <a:cs typeface="Calibri" pitchFamily="34" charset="-120"/>
              </a:rPr>
              <a:t>Boka hyrbil i förväg</a:t>
            </a:r>
            <a:endParaRPr lang="en-US" sz="1000" dirty="0"/>
          </a:p>
        </p:txBody>
      </p:sp>
      <p:sp>
        <p:nvSpPr>
          <p:cNvPr id="16" name="Shape 14"/>
          <p:cNvSpPr/>
          <p:nvPr/>
        </p:nvSpPr>
        <p:spPr>
          <a:xfrm>
            <a:off x="640080" y="2825496"/>
            <a:ext cx="1097280" cy="457200"/>
          </a:xfrm>
          <a:prstGeom prst="ellipse">
            <a:avLst/>
          </a:prstGeom>
          <a:solidFill>
            <a:srgbClr val="6D2E46"/>
          </a:solidFill>
          <a:ln w="12700">
            <a:solidFill>
              <a:srgbClr val="6D2E46"/>
            </a:solidFill>
            <a:prstDash val="solid"/>
          </a:ln>
        </p:spPr>
      </p:sp>
      <p:sp>
        <p:nvSpPr>
          <p:cNvPr id="17" name="Text 15"/>
          <p:cNvSpPr/>
          <p:nvPr/>
        </p:nvSpPr>
        <p:spPr>
          <a:xfrm>
            <a:off x="640080" y="2825496"/>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11.15</a:t>
            </a:r>
            <a:endParaRPr lang="en-US" sz="1200" dirty="0"/>
          </a:p>
        </p:txBody>
      </p:sp>
      <p:sp>
        <p:nvSpPr>
          <p:cNvPr id="18" name="Shape 16"/>
          <p:cNvSpPr/>
          <p:nvPr/>
        </p:nvSpPr>
        <p:spPr>
          <a:xfrm>
            <a:off x="1188720" y="3282696"/>
            <a:ext cx="0" cy="109728"/>
          </a:xfrm>
          <a:prstGeom prst="line">
            <a:avLst/>
          </a:prstGeom>
          <a:noFill/>
          <a:ln w="25400">
            <a:solidFill>
              <a:srgbClr val="6D2E46"/>
            </a:solidFill>
            <a:prstDash val="dash"/>
          </a:ln>
        </p:spPr>
      </p:sp>
      <p:sp>
        <p:nvSpPr>
          <p:cNvPr id="19" name="Text 17"/>
          <p:cNvSpPr/>
          <p:nvPr/>
        </p:nvSpPr>
        <p:spPr>
          <a:xfrm>
            <a:off x="2011680" y="2825496"/>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Stopp vid Pont du Diable</a:t>
            </a:r>
            <a:endParaRPr lang="en-US" sz="1400" dirty="0"/>
          </a:p>
        </p:txBody>
      </p:sp>
      <p:sp>
        <p:nvSpPr>
          <p:cNvPr id="20" name="Text 18"/>
          <p:cNvSpPr/>
          <p:nvPr/>
        </p:nvSpPr>
        <p:spPr>
          <a:xfrm>
            <a:off x="2011680" y="3099816"/>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Korta promenaden, foton vid den UNESCO-listade bron</a:t>
            </a:r>
            <a:endParaRPr lang="en-US" sz="1000" dirty="0"/>
          </a:p>
        </p:txBody>
      </p:sp>
      <p:sp>
        <p:nvSpPr>
          <p:cNvPr id="21" name="Text 19"/>
          <p:cNvSpPr/>
          <p:nvPr/>
        </p:nvSpPr>
        <p:spPr>
          <a:xfrm>
            <a:off x="6858000" y="2825496"/>
            <a:ext cx="4572000" cy="457200"/>
          </a:xfrm>
          <a:prstGeom prst="rect">
            <a:avLst/>
          </a:prstGeom>
          <a:noFill/>
          <a:ln/>
        </p:spPr>
        <p:txBody>
          <a:bodyPr wrap="square" lIns="0" tIns="0" rIns="0" bIns="0" rtlCol="0" anchor="ctr"/>
          <a:lstStyle/>
          <a:p>
            <a:pPr indent="0" marL="0">
              <a:buNone/>
            </a:pPr>
            <a:r>
              <a:rPr lang="en-US" sz="1000" i="1" dirty="0">
                <a:solidFill>
                  <a:srgbClr val="6D2E46"/>
                </a:solidFill>
                <a:latin typeface="Calibri" pitchFamily="34" charset="0"/>
                <a:ea typeface="Calibri" pitchFamily="34" charset="-122"/>
                <a:cs typeface="Calibri" pitchFamily="34" charset="-120"/>
              </a:rPr>
              <a:t>20 min räcker</a:t>
            </a:r>
            <a:endParaRPr lang="en-US" sz="1000" dirty="0"/>
          </a:p>
        </p:txBody>
      </p:sp>
      <p:sp>
        <p:nvSpPr>
          <p:cNvPr id="22" name="Shape 20"/>
          <p:cNvSpPr/>
          <p:nvPr/>
        </p:nvSpPr>
        <p:spPr>
          <a:xfrm>
            <a:off x="640080" y="3392424"/>
            <a:ext cx="1097280" cy="457200"/>
          </a:xfrm>
          <a:prstGeom prst="ellipse">
            <a:avLst/>
          </a:prstGeom>
          <a:solidFill>
            <a:srgbClr val="6D2E46"/>
          </a:solidFill>
          <a:ln w="12700">
            <a:solidFill>
              <a:srgbClr val="6D2E46"/>
            </a:solidFill>
            <a:prstDash val="solid"/>
          </a:ln>
        </p:spPr>
      </p:sp>
      <p:sp>
        <p:nvSpPr>
          <p:cNvPr id="23" name="Text 21"/>
          <p:cNvSpPr/>
          <p:nvPr/>
        </p:nvSpPr>
        <p:spPr>
          <a:xfrm>
            <a:off x="640080" y="3392424"/>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12.00</a:t>
            </a:r>
            <a:endParaRPr lang="en-US" sz="1200" dirty="0"/>
          </a:p>
        </p:txBody>
      </p:sp>
      <p:sp>
        <p:nvSpPr>
          <p:cNvPr id="24" name="Shape 22"/>
          <p:cNvSpPr/>
          <p:nvPr/>
        </p:nvSpPr>
        <p:spPr>
          <a:xfrm>
            <a:off x="1188720" y="3849624"/>
            <a:ext cx="0" cy="109728"/>
          </a:xfrm>
          <a:prstGeom prst="line">
            <a:avLst/>
          </a:prstGeom>
          <a:noFill/>
          <a:ln w="25400">
            <a:solidFill>
              <a:srgbClr val="6D2E46"/>
            </a:solidFill>
            <a:prstDash val="dash"/>
          </a:ln>
        </p:spPr>
      </p:sp>
      <p:sp>
        <p:nvSpPr>
          <p:cNvPr id="25" name="Text 23"/>
          <p:cNvSpPr/>
          <p:nvPr/>
        </p:nvSpPr>
        <p:spPr>
          <a:xfrm>
            <a:off x="2011680" y="3392424"/>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Ankomst Saint-Guilhem</a:t>
            </a:r>
            <a:endParaRPr lang="en-US" sz="1400" dirty="0"/>
          </a:p>
        </p:txBody>
      </p:sp>
      <p:sp>
        <p:nvSpPr>
          <p:cNvPr id="26" name="Text 24"/>
          <p:cNvSpPr/>
          <p:nvPr/>
        </p:nvSpPr>
        <p:spPr>
          <a:xfrm>
            <a:off x="2011680" y="3666744"/>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Strosa i de medeltida gränderna innan lunch</a:t>
            </a:r>
            <a:endParaRPr lang="en-US" sz="1000" dirty="0"/>
          </a:p>
        </p:txBody>
      </p:sp>
      <p:sp>
        <p:nvSpPr>
          <p:cNvPr id="27" name="Text 25"/>
          <p:cNvSpPr/>
          <p:nvPr/>
        </p:nvSpPr>
        <p:spPr>
          <a:xfrm>
            <a:off x="6858000" y="3392424"/>
            <a:ext cx="4572000" cy="457200"/>
          </a:xfrm>
          <a:prstGeom prst="rect">
            <a:avLst/>
          </a:prstGeom>
          <a:noFill/>
          <a:ln/>
        </p:spPr>
        <p:txBody>
          <a:bodyPr wrap="square" lIns="0" tIns="0" rIns="0" bIns="0" rtlCol="0" anchor="ctr"/>
          <a:lstStyle/>
          <a:p>
            <a:pPr indent="0" marL="0">
              <a:buNone/>
            </a:pPr>
            <a:r>
              <a:rPr lang="en-US" sz="1000" i="1" dirty="0">
                <a:solidFill>
                  <a:srgbClr val="6D2E46"/>
                </a:solidFill>
                <a:latin typeface="Calibri" pitchFamily="34" charset="0"/>
                <a:ea typeface="Calibri" pitchFamily="34" charset="-122"/>
                <a:cs typeface="Calibri" pitchFamily="34" charset="-120"/>
              </a:rPr>
              <a:t>Skuggrika gator</a:t>
            </a:r>
            <a:endParaRPr lang="en-US" sz="1000" dirty="0"/>
          </a:p>
        </p:txBody>
      </p:sp>
      <p:sp>
        <p:nvSpPr>
          <p:cNvPr id="28" name="Shape 26"/>
          <p:cNvSpPr/>
          <p:nvPr/>
        </p:nvSpPr>
        <p:spPr>
          <a:xfrm>
            <a:off x="640080" y="3959352"/>
            <a:ext cx="1097280" cy="457200"/>
          </a:xfrm>
          <a:prstGeom prst="ellipse">
            <a:avLst/>
          </a:prstGeom>
          <a:solidFill>
            <a:srgbClr val="6D2E46"/>
          </a:solidFill>
          <a:ln w="12700">
            <a:solidFill>
              <a:srgbClr val="6D2E46"/>
            </a:solidFill>
            <a:prstDash val="solid"/>
          </a:ln>
        </p:spPr>
      </p:sp>
      <p:sp>
        <p:nvSpPr>
          <p:cNvPr id="29" name="Text 27"/>
          <p:cNvSpPr/>
          <p:nvPr/>
        </p:nvSpPr>
        <p:spPr>
          <a:xfrm>
            <a:off x="640080" y="3959352"/>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13.00</a:t>
            </a:r>
            <a:endParaRPr lang="en-US" sz="1200" dirty="0"/>
          </a:p>
        </p:txBody>
      </p:sp>
      <p:sp>
        <p:nvSpPr>
          <p:cNvPr id="30" name="Shape 28"/>
          <p:cNvSpPr/>
          <p:nvPr/>
        </p:nvSpPr>
        <p:spPr>
          <a:xfrm>
            <a:off x="1188720" y="4416552"/>
            <a:ext cx="0" cy="109728"/>
          </a:xfrm>
          <a:prstGeom prst="line">
            <a:avLst/>
          </a:prstGeom>
          <a:noFill/>
          <a:ln w="25400">
            <a:solidFill>
              <a:srgbClr val="6D2E46"/>
            </a:solidFill>
            <a:prstDash val="dash"/>
          </a:ln>
        </p:spPr>
      </p:sp>
      <p:sp>
        <p:nvSpPr>
          <p:cNvPr id="31" name="Text 29"/>
          <p:cNvSpPr/>
          <p:nvPr/>
        </p:nvSpPr>
        <p:spPr>
          <a:xfrm>
            <a:off x="2011680" y="3959352"/>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Lunch på Place de la Liberté</a:t>
            </a:r>
            <a:endParaRPr lang="en-US" sz="1400" dirty="0"/>
          </a:p>
        </p:txBody>
      </p:sp>
      <p:sp>
        <p:nvSpPr>
          <p:cNvPr id="32" name="Text 30"/>
          <p:cNvSpPr/>
          <p:nvPr/>
        </p:nvSpPr>
        <p:spPr>
          <a:xfrm>
            <a:off x="2011680" y="4233672"/>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Le Restaurant de l'Abbaye eller Le Guilhaume d'Orange</a:t>
            </a:r>
            <a:endParaRPr lang="en-US" sz="1000" dirty="0"/>
          </a:p>
        </p:txBody>
      </p:sp>
      <p:sp>
        <p:nvSpPr>
          <p:cNvPr id="33" name="Text 31"/>
          <p:cNvSpPr/>
          <p:nvPr/>
        </p:nvSpPr>
        <p:spPr>
          <a:xfrm>
            <a:off x="6858000" y="3959352"/>
            <a:ext cx="4572000" cy="457200"/>
          </a:xfrm>
          <a:prstGeom prst="rect">
            <a:avLst/>
          </a:prstGeom>
          <a:noFill/>
          <a:ln/>
        </p:spPr>
        <p:txBody>
          <a:bodyPr wrap="square" lIns="0" tIns="0" rIns="0" bIns="0" rtlCol="0" anchor="ctr"/>
          <a:lstStyle/>
          <a:p>
            <a:pPr indent="0" marL="0">
              <a:buNone/>
            </a:pPr>
            <a:r>
              <a:rPr lang="en-US" sz="1000" i="1" dirty="0">
                <a:solidFill>
                  <a:srgbClr val="6D2E46"/>
                </a:solidFill>
                <a:latin typeface="Calibri" pitchFamily="34" charset="0"/>
                <a:ea typeface="Calibri" pitchFamily="34" charset="-122"/>
                <a:cs typeface="Calibri" pitchFamily="34" charset="-120"/>
              </a:rPr>
              <a:t>Boka bord 24h innan</a:t>
            </a:r>
            <a:endParaRPr lang="en-US" sz="1000" dirty="0"/>
          </a:p>
        </p:txBody>
      </p:sp>
      <p:sp>
        <p:nvSpPr>
          <p:cNvPr id="34" name="Shape 32"/>
          <p:cNvSpPr/>
          <p:nvPr/>
        </p:nvSpPr>
        <p:spPr>
          <a:xfrm>
            <a:off x="640080" y="4526280"/>
            <a:ext cx="1097280" cy="457200"/>
          </a:xfrm>
          <a:prstGeom prst="ellipse">
            <a:avLst/>
          </a:prstGeom>
          <a:solidFill>
            <a:srgbClr val="6D2E46"/>
          </a:solidFill>
          <a:ln w="12700">
            <a:solidFill>
              <a:srgbClr val="6D2E46"/>
            </a:solidFill>
            <a:prstDash val="solid"/>
          </a:ln>
        </p:spPr>
      </p:sp>
      <p:sp>
        <p:nvSpPr>
          <p:cNvPr id="35" name="Text 33"/>
          <p:cNvSpPr/>
          <p:nvPr/>
        </p:nvSpPr>
        <p:spPr>
          <a:xfrm>
            <a:off x="640080" y="4526280"/>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15.00</a:t>
            </a:r>
            <a:endParaRPr lang="en-US" sz="1200" dirty="0"/>
          </a:p>
        </p:txBody>
      </p:sp>
      <p:sp>
        <p:nvSpPr>
          <p:cNvPr id="36" name="Shape 34"/>
          <p:cNvSpPr/>
          <p:nvPr/>
        </p:nvSpPr>
        <p:spPr>
          <a:xfrm>
            <a:off x="1188720" y="4983480"/>
            <a:ext cx="0" cy="109728"/>
          </a:xfrm>
          <a:prstGeom prst="line">
            <a:avLst/>
          </a:prstGeom>
          <a:noFill/>
          <a:ln w="25400">
            <a:solidFill>
              <a:srgbClr val="6D2E46"/>
            </a:solidFill>
            <a:prstDash val="dash"/>
          </a:ln>
        </p:spPr>
      </p:sp>
      <p:sp>
        <p:nvSpPr>
          <p:cNvPr id="37" name="Text 35"/>
          <p:cNvSpPr/>
          <p:nvPr/>
        </p:nvSpPr>
        <p:spPr>
          <a:xfrm>
            <a:off x="2011680" y="4526280"/>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Abbaye de Gellone</a:t>
            </a:r>
            <a:endParaRPr lang="en-US" sz="1400" dirty="0"/>
          </a:p>
        </p:txBody>
      </p:sp>
      <p:sp>
        <p:nvSpPr>
          <p:cNvPr id="38" name="Text 36"/>
          <p:cNvSpPr/>
          <p:nvPr/>
        </p:nvSpPr>
        <p:spPr>
          <a:xfrm>
            <a:off x="2011680" y="4800600"/>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Sval interiör, fantastisk akustik, gratis entré</a:t>
            </a:r>
            <a:endParaRPr lang="en-US" sz="1000" dirty="0"/>
          </a:p>
        </p:txBody>
      </p:sp>
      <p:sp>
        <p:nvSpPr>
          <p:cNvPr id="39" name="Text 37"/>
          <p:cNvSpPr/>
          <p:nvPr/>
        </p:nvSpPr>
        <p:spPr>
          <a:xfrm>
            <a:off x="6858000" y="4526280"/>
            <a:ext cx="4572000" cy="457200"/>
          </a:xfrm>
          <a:prstGeom prst="rect">
            <a:avLst/>
          </a:prstGeom>
          <a:noFill/>
          <a:ln/>
        </p:spPr>
        <p:txBody>
          <a:bodyPr wrap="square" lIns="0" tIns="0" rIns="0" bIns="0" rtlCol="0" anchor="ctr"/>
          <a:lstStyle/>
          <a:p>
            <a:pPr indent="0" marL="0">
              <a:buNone/>
            </a:pPr>
            <a:r>
              <a:rPr lang="en-US" sz="1000" i="1" dirty="0">
                <a:solidFill>
                  <a:srgbClr val="6D2E46"/>
                </a:solidFill>
                <a:latin typeface="Calibri" pitchFamily="34" charset="0"/>
                <a:ea typeface="Calibri" pitchFamily="34" charset="-122"/>
                <a:cs typeface="Calibri" pitchFamily="34" charset="-120"/>
              </a:rPr>
              <a:t>Värmens räddning</a:t>
            </a:r>
            <a:endParaRPr lang="en-US" sz="1000" dirty="0"/>
          </a:p>
        </p:txBody>
      </p:sp>
      <p:sp>
        <p:nvSpPr>
          <p:cNvPr id="40" name="Shape 38"/>
          <p:cNvSpPr/>
          <p:nvPr/>
        </p:nvSpPr>
        <p:spPr>
          <a:xfrm>
            <a:off x="640080" y="5093208"/>
            <a:ext cx="1097280" cy="457200"/>
          </a:xfrm>
          <a:prstGeom prst="ellipse">
            <a:avLst/>
          </a:prstGeom>
          <a:solidFill>
            <a:srgbClr val="6D2E46"/>
          </a:solidFill>
          <a:ln w="12700">
            <a:solidFill>
              <a:srgbClr val="6D2E46"/>
            </a:solidFill>
            <a:prstDash val="solid"/>
          </a:ln>
        </p:spPr>
      </p:sp>
      <p:sp>
        <p:nvSpPr>
          <p:cNvPr id="41" name="Text 39"/>
          <p:cNvSpPr/>
          <p:nvPr/>
        </p:nvSpPr>
        <p:spPr>
          <a:xfrm>
            <a:off x="640080" y="5093208"/>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16.30</a:t>
            </a:r>
            <a:endParaRPr lang="en-US" sz="1200" dirty="0"/>
          </a:p>
        </p:txBody>
      </p:sp>
      <p:sp>
        <p:nvSpPr>
          <p:cNvPr id="42" name="Shape 40"/>
          <p:cNvSpPr/>
          <p:nvPr/>
        </p:nvSpPr>
        <p:spPr>
          <a:xfrm>
            <a:off x="1188720" y="5550408"/>
            <a:ext cx="0" cy="109728"/>
          </a:xfrm>
          <a:prstGeom prst="line">
            <a:avLst/>
          </a:prstGeom>
          <a:noFill/>
          <a:ln w="25400">
            <a:solidFill>
              <a:srgbClr val="6D2E46"/>
            </a:solidFill>
            <a:prstDash val="dash"/>
          </a:ln>
        </p:spPr>
      </p:sp>
      <p:sp>
        <p:nvSpPr>
          <p:cNvPr id="43" name="Text 41"/>
          <p:cNvSpPr/>
          <p:nvPr/>
        </p:nvSpPr>
        <p:spPr>
          <a:xfrm>
            <a:off x="2011680" y="5093208"/>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Tillbaka till Pont du Diable</a:t>
            </a:r>
            <a:endParaRPr lang="en-US" sz="1400" dirty="0"/>
          </a:p>
        </p:txBody>
      </p:sp>
      <p:sp>
        <p:nvSpPr>
          <p:cNvPr id="44" name="Text 42"/>
          <p:cNvSpPr/>
          <p:nvPr/>
        </p:nvSpPr>
        <p:spPr>
          <a:xfrm>
            <a:off x="2011680" y="5367528"/>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Bad i Hérault-floden för Elton, Leo och de som vill</a:t>
            </a:r>
            <a:endParaRPr lang="en-US" sz="1000" dirty="0"/>
          </a:p>
        </p:txBody>
      </p:sp>
      <p:sp>
        <p:nvSpPr>
          <p:cNvPr id="45" name="Text 43"/>
          <p:cNvSpPr/>
          <p:nvPr/>
        </p:nvSpPr>
        <p:spPr>
          <a:xfrm>
            <a:off x="6858000" y="5093208"/>
            <a:ext cx="4572000" cy="457200"/>
          </a:xfrm>
          <a:prstGeom prst="rect">
            <a:avLst/>
          </a:prstGeom>
          <a:noFill/>
          <a:ln/>
        </p:spPr>
        <p:txBody>
          <a:bodyPr wrap="square" lIns="0" tIns="0" rIns="0" bIns="0" rtlCol="0" anchor="ctr"/>
          <a:lstStyle/>
          <a:p>
            <a:pPr indent="0" marL="0">
              <a:buNone/>
            </a:pPr>
            <a:r>
              <a:rPr lang="en-US" sz="1000" i="1" dirty="0">
                <a:solidFill>
                  <a:srgbClr val="6D2E46"/>
                </a:solidFill>
                <a:latin typeface="Calibri" pitchFamily="34" charset="0"/>
                <a:ea typeface="Calibri" pitchFamily="34" charset="-122"/>
                <a:cs typeface="Calibri" pitchFamily="34" charset="-120"/>
              </a:rPr>
              <a:t>Ta med handduk</a:t>
            </a:r>
            <a:endParaRPr lang="en-US" sz="1000" dirty="0"/>
          </a:p>
        </p:txBody>
      </p:sp>
      <p:sp>
        <p:nvSpPr>
          <p:cNvPr id="46" name="Shape 44"/>
          <p:cNvSpPr/>
          <p:nvPr/>
        </p:nvSpPr>
        <p:spPr>
          <a:xfrm>
            <a:off x="640080" y="5660136"/>
            <a:ext cx="1097280" cy="457200"/>
          </a:xfrm>
          <a:prstGeom prst="ellipse">
            <a:avLst/>
          </a:prstGeom>
          <a:solidFill>
            <a:srgbClr val="6D2E46"/>
          </a:solidFill>
          <a:ln w="12700">
            <a:solidFill>
              <a:srgbClr val="6D2E46"/>
            </a:solidFill>
            <a:prstDash val="solid"/>
          </a:ln>
        </p:spPr>
      </p:sp>
      <p:sp>
        <p:nvSpPr>
          <p:cNvPr id="47" name="Text 45"/>
          <p:cNvSpPr/>
          <p:nvPr/>
        </p:nvSpPr>
        <p:spPr>
          <a:xfrm>
            <a:off x="640080" y="5660136"/>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18.00</a:t>
            </a:r>
            <a:endParaRPr lang="en-US" sz="1200" dirty="0"/>
          </a:p>
        </p:txBody>
      </p:sp>
      <p:sp>
        <p:nvSpPr>
          <p:cNvPr id="48" name="Text 46"/>
          <p:cNvSpPr/>
          <p:nvPr/>
        </p:nvSpPr>
        <p:spPr>
          <a:xfrm>
            <a:off x="2011680" y="5660136"/>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Hemfärd</a:t>
            </a:r>
            <a:endParaRPr lang="en-US" sz="1400" dirty="0"/>
          </a:p>
        </p:txBody>
      </p:sp>
      <p:sp>
        <p:nvSpPr>
          <p:cNvPr id="49" name="Text 47"/>
          <p:cNvSpPr/>
          <p:nvPr/>
        </p:nvSpPr>
        <p:spPr>
          <a:xfrm>
            <a:off x="2011680" y="5934456"/>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Tillbaka i Montpellier ca 19.00, lagom till middag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D4A23A"/>
          </a:solidFill>
          <a:ln w="12700">
            <a:solidFill>
              <a:srgbClr val="D4A23A"/>
            </a:solidFill>
            <a:prstDash val="solid"/>
          </a:ln>
        </p:spPr>
      </p:sp>
      <p:pic>
        <p:nvPicPr>
          <p:cNvPr id="3" name="Image 0" descr="preencoded.png">    </p:cNvPr>
          <p:cNvPicPr>
            <a:picLocks noChangeAspect="1"/>
          </p:cNvPicPr>
          <p:nvPr/>
        </p:nvPicPr>
        <p:blipFill>
          <a:blip r:embed="rId1"/>
          <a:stretch>
            <a:fillRect/>
          </a:stretch>
        </p:blipFill>
        <p:spPr>
          <a:xfrm>
            <a:off x="2194560" y="210312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indent="0" marL="0">
              <a:buNone/>
            </a:pPr>
            <a:r>
              <a:rPr lang="en-US" sz="1600" i="1" spc="400" kern="0" dirty="0">
                <a:solidFill>
                  <a:srgbClr val="FFFFFF"/>
                </a:solidFill>
                <a:latin typeface="Georgia" pitchFamily="34" charset="0"/>
                <a:ea typeface="Georgia" pitchFamily="34" charset="-122"/>
                <a:cs typeface="Georgia" pitchFamily="34" charset="-120"/>
              </a:rPr>
              <a:t>#B</a:t>
            </a:r>
            <a:endParaRPr lang="en-US" sz="1600" dirty="0"/>
          </a:p>
        </p:txBody>
      </p:sp>
      <p:sp>
        <p:nvSpPr>
          <p:cNvPr id="5" name="Text 2"/>
          <p:cNvSpPr/>
          <p:nvPr/>
        </p:nvSpPr>
        <p:spPr>
          <a:xfrm>
            <a:off x="6126480" y="548640"/>
            <a:ext cx="5669280" cy="365760"/>
          </a:xfrm>
          <a:prstGeom prst="rect">
            <a:avLst/>
          </a:prstGeom>
          <a:noFill/>
          <a:ln/>
        </p:spPr>
        <p:txBody>
          <a:bodyPr wrap="square" lIns="0" tIns="0" rIns="0" bIns="0" rtlCol="0" anchor="ctr"/>
          <a:lstStyle/>
          <a:p>
            <a:pPr indent="0" marL="0">
              <a:buNone/>
            </a:pPr>
            <a:r>
              <a:rPr lang="en-US" sz="1200" b="1" spc="400" kern="0" dirty="0">
                <a:solidFill>
                  <a:srgbClr val="D4A23A"/>
                </a:solidFill>
                <a:latin typeface="Calibri" pitchFamily="34" charset="0"/>
                <a:ea typeface="Calibri" pitchFamily="34" charset="-122"/>
                <a:cs typeface="Calibri" pitchFamily="34" charset="-120"/>
              </a:rPr>
              <a:t>ALTERNATIV B · VIN OCH LANDSKAP</a:t>
            </a:r>
            <a:endParaRPr lang="en-US" sz="1200" dirty="0"/>
          </a:p>
        </p:txBody>
      </p:sp>
      <p:sp>
        <p:nvSpPr>
          <p:cNvPr id="6" name="Text 3"/>
          <p:cNvSpPr/>
          <p:nvPr/>
        </p:nvSpPr>
        <p:spPr>
          <a:xfrm>
            <a:off x="6126480" y="914400"/>
            <a:ext cx="5669280" cy="1280160"/>
          </a:xfrm>
          <a:prstGeom prst="rect">
            <a:avLst/>
          </a:prstGeom>
          <a:noFill/>
          <a:ln/>
        </p:spPr>
        <p:txBody>
          <a:bodyPr wrap="square" lIns="0" tIns="0" rIns="0" bIns="0" rtlCol="0" anchor="ctr"/>
          <a:lstStyle/>
          <a:p>
            <a:pPr indent="0" marL="0">
              <a:buNone/>
            </a:pPr>
            <a:r>
              <a:rPr lang="en-US" sz="3600" b="1" dirty="0">
                <a:solidFill>
                  <a:srgbClr val="1A2E3B"/>
                </a:solidFill>
                <a:latin typeface="Georgia" pitchFamily="34" charset="0"/>
                <a:ea typeface="Georgia" pitchFamily="34" charset="-122"/>
                <a:cs typeface="Georgia" pitchFamily="34" charset="-120"/>
              </a:rPr>
              <a:t>Pic Saint-Loup</a:t>
            </a:r>
            <a:endParaRPr lang="en-US" sz="3600" dirty="0"/>
          </a:p>
        </p:txBody>
      </p:sp>
      <p:sp>
        <p:nvSpPr>
          <p:cNvPr id="7" name="Text 4"/>
          <p:cNvSpPr/>
          <p:nvPr/>
        </p:nvSpPr>
        <p:spPr>
          <a:xfrm>
            <a:off x="6126480" y="2286000"/>
            <a:ext cx="5669280" cy="1371600"/>
          </a:xfrm>
          <a:prstGeom prst="rect">
            <a:avLst/>
          </a:prstGeom>
          <a:noFill/>
          <a:ln/>
        </p:spPr>
        <p:txBody>
          <a:bodyPr wrap="square" lIns="0" tIns="0" rIns="0" bIns="0" rtlCol="0" anchor="t"/>
          <a:lstStyle/>
          <a:p>
            <a:pPr indent="0" marL="0">
              <a:buNone/>
            </a:pPr>
            <a:r>
              <a:rPr lang="en-US" sz="1400" dirty="0">
                <a:solidFill>
                  <a:srgbClr val="5C6B73"/>
                </a:solidFill>
                <a:latin typeface="Calibri" pitchFamily="34" charset="0"/>
                <a:ea typeface="Calibri" pitchFamily="34" charset="-122"/>
                <a:cs typeface="Calibri" pitchFamily="34" charset="-120"/>
              </a:rPr>
              <a:t>Languedocs mest dynamiska och respekterade vinregion, 25 km norr om Montpellier. Bergstoppen Pic Saint-Loup reser sig dramatiskt över vingårdar och garrigue. Familjeägda domäner, mycket lite turism, känns lyxigt och vuxet. Söndagar är vissa vingårdar stängda så bokning krävs.</a:t>
            </a:r>
            <a:endParaRPr lang="en-US" sz="1400" dirty="0"/>
          </a:p>
        </p:txBody>
      </p:sp>
      <p:sp>
        <p:nvSpPr>
          <p:cNvPr id="8" name="Shape 5"/>
          <p:cNvSpPr/>
          <p:nvPr/>
        </p:nvSpPr>
        <p:spPr>
          <a:xfrm>
            <a:off x="6126480" y="3794760"/>
            <a:ext cx="1783080" cy="777240"/>
          </a:xfrm>
          <a:prstGeom prst="rect">
            <a:avLst/>
          </a:prstGeom>
          <a:solidFill>
            <a:srgbClr val="FFFFFF"/>
          </a:solidFill>
          <a:ln w="12700">
            <a:solidFill>
              <a:srgbClr val="E8DFD0"/>
            </a:solidFill>
            <a:prstDash val="solid"/>
          </a:ln>
        </p:spPr>
      </p:sp>
      <p:pic>
        <p:nvPicPr>
          <p:cNvPr id="9" name="Image 1" descr="preencoded.png">    </p:cNvPr>
          <p:cNvPicPr>
            <a:picLocks noChangeAspect="1"/>
          </p:cNvPicPr>
          <p:nvPr/>
        </p:nvPicPr>
        <p:blipFill>
          <a:blip r:embed="rId2"/>
          <a:stretch>
            <a:fillRect/>
          </a:stretch>
        </p:blipFill>
        <p:spPr>
          <a:xfrm>
            <a:off x="6263640" y="3931920"/>
            <a:ext cx="274320" cy="274320"/>
          </a:xfrm>
          <a:prstGeom prst="rect">
            <a:avLst/>
          </a:prstGeom>
        </p:spPr>
      </p:pic>
      <p:sp>
        <p:nvSpPr>
          <p:cNvPr id="10" name="Text 6"/>
          <p:cNvSpPr/>
          <p:nvPr/>
        </p:nvSpPr>
        <p:spPr>
          <a:xfrm>
            <a:off x="6629400"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RESTID</a:t>
            </a:r>
            <a:endParaRPr lang="en-US" sz="800" dirty="0"/>
          </a:p>
        </p:txBody>
      </p:sp>
      <p:sp>
        <p:nvSpPr>
          <p:cNvPr id="11" name="Text 7"/>
          <p:cNvSpPr/>
          <p:nvPr/>
        </p:nvSpPr>
        <p:spPr>
          <a:xfrm>
            <a:off x="6629400"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30 min med bil</a:t>
            </a:r>
            <a:endParaRPr lang="en-US" sz="1100" dirty="0"/>
          </a:p>
        </p:txBody>
      </p:sp>
      <p:sp>
        <p:nvSpPr>
          <p:cNvPr id="12" name="Shape 8"/>
          <p:cNvSpPr/>
          <p:nvPr/>
        </p:nvSpPr>
        <p:spPr>
          <a:xfrm>
            <a:off x="8074152" y="3794760"/>
            <a:ext cx="1783080" cy="777240"/>
          </a:xfrm>
          <a:prstGeom prst="rect">
            <a:avLst/>
          </a:prstGeom>
          <a:solidFill>
            <a:srgbClr val="FFFFFF"/>
          </a:solidFill>
          <a:ln w="12700">
            <a:solidFill>
              <a:srgbClr val="E8DFD0"/>
            </a:solidFill>
            <a:prstDash val="solid"/>
          </a:ln>
        </p:spPr>
      </p:sp>
      <p:pic>
        <p:nvPicPr>
          <p:cNvPr id="13" name="Image 2" descr="preencoded.png">    </p:cNvPr>
          <p:cNvPicPr>
            <a:picLocks noChangeAspect="1"/>
          </p:cNvPicPr>
          <p:nvPr/>
        </p:nvPicPr>
        <p:blipFill>
          <a:blip r:embed="rId3"/>
          <a:stretch>
            <a:fillRect/>
          </a:stretch>
        </p:blipFill>
        <p:spPr>
          <a:xfrm>
            <a:off x="8211312" y="3931920"/>
            <a:ext cx="274320" cy="274320"/>
          </a:xfrm>
          <a:prstGeom prst="rect">
            <a:avLst/>
          </a:prstGeom>
        </p:spPr>
      </p:pic>
      <p:sp>
        <p:nvSpPr>
          <p:cNvPr id="14" name="Text 9"/>
          <p:cNvSpPr/>
          <p:nvPr/>
        </p:nvSpPr>
        <p:spPr>
          <a:xfrm>
            <a:off x="8577072"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FORM</a:t>
            </a:r>
            <a:endParaRPr lang="en-US" sz="800" dirty="0"/>
          </a:p>
        </p:txBody>
      </p:sp>
      <p:sp>
        <p:nvSpPr>
          <p:cNvPr id="15" name="Text 10"/>
          <p:cNvSpPr/>
          <p:nvPr/>
        </p:nvSpPr>
        <p:spPr>
          <a:xfrm>
            <a:off x="8577072"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Vinprovning + lunch</a:t>
            </a:r>
            <a:endParaRPr lang="en-US" sz="1100" dirty="0"/>
          </a:p>
        </p:txBody>
      </p:sp>
      <p:sp>
        <p:nvSpPr>
          <p:cNvPr id="16" name="Shape 11"/>
          <p:cNvSpPr/>
          <p:nvPr/>
        </p:nvSpPr>
        <p:spPr>
          <a:xfrm>
            <a:off x="10021824" y="3794760"/>
            <a:ext cx="1783080" cy="777240"/>
          </a:xfrm>
          <a:prstGeom prst="rect">
            <a:avLst/>
          </a:prstGeom>
          <a:solidFill>
            <a:srgbClr val="FFFFFF"/>
          </a:solidFill>
          <a:ln w="12700">
            <a:solidFill>
              <a:srgbClr val="E8DFD0"/>
            </a:solidFill>
            <a:prstDash val="solid"/>
          </a:ln>
        </p:spPr>
      </p:sp>
      <p:pic>
        <p:nvPicPr>
          <p:cNvPr id="17" name="Image 3" descr="preencoded.png">    </p:cNvPr>
          <p:cNvPicPr>
            <a:picLocks noChangeAspect="1"/>
          </p:cNvPicPr>
          <p:nvPr/>
        </p:nvPicPr>
        <p:blipFill>
          <a:blip r:embed="rId4"/>
          <a:stretch>
            <a:fillRect/>
          </a:stretch>
        </p:blipFill>
        <p:spPr>
          <a:xfrm>
            <a:off x="10158984" y="3931920"/>
            <a:ext cx="274320" cy="274320"/>
          </a:xfrm>
          <a:prstGeom prst="rect">
            <a:avLst/>
          </a:prstGeom>
        </p:spPr>
      </p:pic>
      <p:sp>
        <p:nvSpPr>
          <p:cNvPr id="18" name="Text 12"/>
          <p:cNvSpPr/>
          <p:nvPr/>
        </p:nvSpPr>
        <p:spPr>
          <a:xfrm>
            <a:off x="10524744"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BUDGET</a:t>
            </a:r>
            <a:endParaRPr lang="en-US" sz="800" dirty="0"/>
          </a:p>
        </p:txBody>
      </p:sp>
      <p:sp>
        <p:nvSpPr>
          <p:cNvPr id="19" name="Text 13"/>
          <p:cNvSpPr/>
          <p:nvPr/>
        </p:nvSpPr>
        <p:spPr>
          <a:xfrm>
            <a:off x="10524744"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Ca 250-400 € totalt</a:t>
            </a:r>
            <a:endParaRPr lang="en-US" sz="1100" dirty="0"/>
          </a:p>
        </p:txBody>
      </p:sp>
      <p:sp>
        <p:nvSpPr>
          <p:cNvPr id="20" name="Text 14"/>
          <p:cNvSpPr/>
          <p:nvPr/>
        </p:nvSpPr>
        <p:spPr>
          <a:xfrm>
            <a:off x="6126480" y="4800600"/>
            <a:ext cx="5669280" cy="274320"/>
          </a:xfrm>
          <a:prstGeom prst="rect">
            <a:avLst/>
          </a:prstGeom>
          <a:noFill/>
          <a:ln/>
        </p:spPr>
        <p:txBody>
          <a:bodyPr wrap="square" lIns="0" tIns="0" rIns="0" bIns="0" rtlCol="0" anchor="ctr"/>
          <a:lstStyle/>
          <a:p>
            <a:pPr indent="0" marL="0">
              <a:buNone/>
            </a:pPr>
            <a:r>
              <a:rPr lang="en-US" sz="1000" b="1" spc="400" kern="0" dirty="0">
                <a:solidFill>
                  <a:srgbClr val="D4A23A"/>
                </a:solidFill>
                <a:latin typeface="Calibri" pitchFamily="34" charset="0"/>
                <a:ea typeface="Calibri" pitchFamily="34" charset="-122"/>
                <a:cs typeface="Calibri" pitchFamily="34" charset="-120"/>
              </a:rPr>
              <a:t>PRAKTISKA TIPS</a:t>
            </a:r>
            <a:endParaRPr lang="en-US" sz="1000" dirty="0"/>
          </a:p>
        </p:txBody>
      </p:sp>
      <p:sp>
        <p:nvSpPr>
          <p:cNvPr id="21" name="Text 15"/>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Domaine de l'Hortus, Mas Bruguière, Château de Lascaux toppdomäner</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Bertrand Bosc kör guidad tur på söndagar med 1 vingård + lunch hemma</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Mindre passande för Elton 9 år som tröttnar på vinprovning</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Mer Elin-fokuserat, mindre folk, känns lyxigt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640080" y="365760"/>
            <a:ext cx="10972800" cy="320040"/>
          </a:xfrm>
          <a:prstGeom prst="rect">
            <a:avLst/>
          </a:prstGeom>
          <a:noFill/>
          <a:ln/>
        </p:spPr>
        <p:txBody>
          <a:bodyPr wrap="square" lIns="0" tIns="0" rIns="0" bIns="0" rtlCol="0" anchor="ctr"/>
          <a:lstStyle/>
          <a:p>
            <a:pPr indent="0" marL="0">
              <a:buNone/>
            </a:pPr>
            <a:r>
              <a:rPr lang="en-US" sz="1100" b="1" spc="400" kern="0" dirty="0">
                <a:solidFill>
                  <a:srgbClr val="D4A23A"/>
                </a:solidFill>
                <a:latin typeface="Calibri" pitchFamily="34" charset="0"/>
                <a:ea typeface="Calibri" pitchFamily="34" charset="-122"/>
                <a:cs typeface="Calibri" pitchFamily="34" charset="-120"/>
              </a:rPr>
              <a:t>ALTERNATIV B · TIDSPLAN</a:t>
            </a:r>
            <a:endParaRPr lang="en-US" sz="1100" dirty="0"/>
          </a:p>
        </p:txBody>
      </p:sp>
      <p:sp>
        <p:nvSpPr>
          <p:cNvPr id="3" name="Text 1"/>
          <p:cNvSpPr/>
          <p:nvPr/>
        </p:nvSpPr>
        <p:spPr>
          <a:xfrm>
            <a:off x="640080" y="685800"/>
            <a:ext cx="10972800" cy="777240"/>
          </a:xfrm>
          <a:prstGeom prst="rect">
            <a:avLst/>
          </a:prstGeom>
          <a:noFill/>
          <a:ln/>
        </p:spPr>
        <p:txBody>
          <a:bodyPr wrap="square" lIns="0" tIns="0" rIns="0" bIns="0" rtlCol="0" anchor="ctr"/>
          <a:lstStyle/>
          <a:p>
            <a:pPr indent="0" marL="0">
              <a:buNone/>
            </a:pPr>
            <a:r>
              <a:rPr lang="en-US" sz="3000" b="1" dirty="0">
                <a:solidFill>
                  <a:srgbClr val="1A2E3B"/>
                </a:solidFill>
                <a:latin typeface="Georgia" pitchFamily="34" charset="0"/>
                <a:ea typeface="Georgia" pitchFamily="34" charset="-122"/>
                <a:cs typeface="Georgia" pitchFamily="34" charset="-120"/>
              </a:rPr>
              <a:t>Pic Saint-Loup dagsschema</a:t>
            </a:r>
            <a:endParaRPr lang="en-US" sz="3000" dirty="0"/>
          </a:p>
        </p:txBody>
      </p:sp>
      <p:sp>
        <p:nvSpPr>
          <p:cNvPr id="4" name="Shape 2"/>
          <p:cNvSpPr/>
          <p:nvPr/>
        </p:nvSpPr>
        <p:spPr>
          <a:xfrm>
            <a:off x="640080" y="1691640"/>
            <a:ext cx="1097280" cy="457200"/>
          </a:xfrm>
          <a:prstGeom prst="ellipse">
            <a:avLst/>
          </a:prstGeom>
          <a:solidFill>
            <a:srgbClr val="D4A23A"/>
          </a:solidFill>
          <a:ln w="12700">
            <a:solidFill>
              <a:srgbClr val="D4A23A"/>
            </a:solidFill>
            <a:prstDash val="solid"/>
          </a:ln>
        </p:spPr>
      </p:sp>
      <p:sp>
        <p:nvSpPr>
          <p:cNvPr id="5" name="Text 3"/>
          <p:cNvSpPr/>
          <p:nvPr/>
        </p:nvSpPr>
        <p:spPr>
          <a:xfrm>
            <a:off x="640080" y="1691640"/>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09.30</a:t>
            </a:r>
            <a:endParaRPr lang="en-US" sz="1200" dirty="0"/>
          </a:p>
        </p:txBody>
      </p:sp>
      <p:sp>
        <p:nvSpPr>
          <p:cNvPr id="6" name="Shape 4"/>
          <p:cNvSpPr/>
          <p:nvPr/>
        </p:nvSpPr>
        <p:spPr>
          <a:xfrm>
            <a:off x="1188720" y="2148840"/>
            <a:ext cx="0" cy="109728"/>
          </a:xfrm>
          <a:prstGeom prst="line">
            <a:avLst/>
          </a:prstGeom>
          <a:noFill/>
          <a:ln w="25400">
            <a:solidFill>
              <a:srgbClr val="D4A23A"/>
            </a:solidFill>
            <a:prstDash val="dash"/>
          </a:ln>
        </p:spPr>
      </p:sp>
      <p:sp>
        <p:nvSpPr>
          <p:cNvPr id="7" name="Text 5"/>
          <p:cNvSpPr/>
          <p:nvPr/>
        </p:nvSpPr>
        <p:spPr>
          <a:xfrm>
            <a:off x="2011680" y="1691640"/>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Sängfrukost klar</a:t>
            </a:r>
            <a:endParaRPr lang="en-US" sz="1400" dirty="0"/>
          </a:p>
        </p:txBody>
      </p:sp>
      <p:sp>
        <p:nvSpPr>
          <p:cNvPr id="8" name="Text 6"/>
          <p:cNvSpPr/>
          <p:nvPr/>
        </p:nvSpPr>
        <p:spPr>
          <a:xfrm>
            <a:off x="2011680" y="1965960"/>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Lugn morgon, kaffe på balkongen</a:t>
            </a:r>
            <a:endParaRPr lang="en-US" sz="1000" dirty="0"/>
          </a:p>
        </p:txBody>
      </p:sp>
      <p:sp>
        <p:nvSpPr>
          <p:cNvPr id="9" name="Shape 7"/>
          <p:cNvSpPr/>
          <p:nvPr/>
        </p:nvSpPr>
        <p:spPr>
          <a:xfrm>
            <a:off x="640080" y="2258568"/>
            <a:ext cx="1097280" cy="457200"/>
          </a:xfrm>
          <a:prstGeom prst="ellipse">
            <a:avLst/>
          </a:prstGeom>
          <a:solidFill>
            <a:srgbClr val="D4A23A"/>
          </a:solidFill>
          <a:ln w="12700">
            <a:solidFill>
              <a:srgbClr val="D4A23A"/>
            </a:solidFill>
            <a:prstDash val="solid"/>
          </a:ln>
        </p:spPr>
      </p:sp>
      <p:sp>
        <p:nvSpPr>
          <p:cNvPr id="10" name="Text 8"/>
          <p:cNvSpPr/>
          <p:nvPr/>
        </p:nvSpPr>
        <p:spPr>
          <a:xfrm>
            <a:off x="640080" y="2258568"/>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10.30</a:t>
            </a:r>
            <a:endParaRPr lang="en-US" sz="1200" dirty="0"/>
          </a:p>
        </p:txBody>
      </p:sp>
      <p:sp>
        <p:nvSpPr>
          <p:cNvPr id="11" name="Shape 9"/>
          <p:cNvSpPr/>
          <p:nvPr/>
        </p:nvSpPr>
        <p:spPr>
          <a:xfrm>
            <a:off x="1188720" y="2715768"/>
            <a:ext cx="0" cy="109728"/>
          </a:xfrm>
          <a:prstGeom prst="line">
            <a:avLst/>
          </a:prstGeom>
          <a:noFill/>
          <a:ln w="25400">
            <a:solidFill>
              <a:srgbClr val="D4A23A"/>
            </a:solidFill>
            <a:prstDash val="dash"/>
          </a:ln>
        </p:spPr>
      </p:sp>
      <p:sp>
        <p:nvSpPr>
          <p:cNvPr id="12" name="Text 10"/>
          <p:cNvSpPr/>
          <p:nvPr/>
        </p:nvSpPr>
        <p:spPr>
          <a:xfrm>
            <a:off x="2011680" y="2258568"/>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Avfärd</a:t>
            </a:r>
            <a:endParaRPr lang="en-US" sz="1400" dirty="0"/>
          </a:p>
        </p:txBody>
      </p:sp>
      <p:sp>
        <p:nvSpPr>
          <p:cNvPr id="13" name="Text 11"/>
          <p:cNvSpPr/>
          <p:nvPr/>
        </p:nvSpPr>
        <p:spPr>
          <a:xfrm>
            <a:off x="2011680" y="2532888"/>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Hyrbil 7-sitsare eller två bilar (en hyrd för dagen)</a:t>
            </a:r>
            <a:endParaRPr lang="en-US" sz="1000" dirty="0"/>
          </a:p>
        </p:txBody>
      </p:sp>
      <p:sp>
        <p:nvSpPr>
          <p:cNvPr id="14" name="Text 12"/>
          <p:cNvSpPr/>
          <p:nvPr/>
        </p:nvSpPr>
        <p:spPr>
          <a:xfrm>
            <a:off x="6858000" y="2258568"/>
            <a:ext cx="4572000" cy="457200"/>
          </a:xfrm>
          <a:prstGeom prst="rect">
            <a:avLst/>
          </a:prstGeom>
          <a:noFill/>
          <a:ln/>
        </p:spPr>
        <p:txBody>
          <a:bodyPr wrap="square" lIns="0" tIns="0" rIns="0" bIns="0" rtlCol="0" anchor="ctr"/>
          <a:lstStyle/>
          <a:p>
            <a:pPr indent="0" marL="0">
              <a:buNone/>
            </a:pPr>
            <a:r>
              <a:rPr lang="en-US" sz="1000" i="1" dirty="0">
                <a:solidFill>
                  <a:srgbClr val="D4A23A"/>
                </a:solidFill>
                <a:latin typeface="Calibri" pitchFamily="34" charset="0"/>
                <a:ea typeface="Calibri" pitchFamily="34" charset="-122"/>
                <a:cs typeface="Calibri" pitchFamily="34" charset="-120"/>
              </a:rPr>
              <a:t>Eller bokad guidad tur</a:t>
            </a:r>
            <a:endParaRPr lang="en-US" sz="1000" dirty="0"/>
          </a:p>
        </p:txBody>
      </p:sp>
      <p:sp>
        <p:nvSpPr>
          <p:cNvPr id="15" name="Shape 13"/>
          <p:cNvSpPr/>
          <p:nvPr/>
        </p:nvSpPr>
        <p:spPr>
          <a:xfrm>
            <a:off x="640080" y="2825496"/>
            <a:ext cx="1097280" cy="457200"/>
          </a:xfrm>
          <a:prstGeom prst="ellipse">
            <a:avLst/>
          </a:prstGeom>
          <a:solidFill>
            <a:srgbClr val="D4A23A"/>
          </a:solidFill>
          <a:ln w="12700">
            <a:solidFill>
              <a:srgbClr val="D4A23A"/>
            </a:solidFill>
            <a:prstDash val="solid"/>
          </a:ln>
        </p:spPr>
      </p:sp>
      <p:sp>
        <p:nvSpPr>
          <p:cNvPr id="16" name="Text 14"/>
          <p:cNvSpPr/>
          <p:nvPr/>
        </p:nvSpPr>
        <p:spPr>
          <a:xfrm>
            <a:off x="640080" y="2825496"/>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11.00</a:t>
            </a:r>
            <a:endParaRPr lang="en-US" sz="1200" dirty="0"/>
          </a:p>
        </p:txBody>
      </p:sp>
      <p:sp>
        <p:nvSpPr>
          <p:cNvPr id="17" name="Shape 15"/>
          <p:cNvSpPr/>
          <p:nvPr/>
        </p:nvSpPr>
        <p:spPr>
          <a:xfrm>
            <a:off x="1188720" y="3282696"/>
            <a:ext cx="0" cy="109728"/>
          </a:xfrm>
          <a:prstGeom prst="line">
            <a:avLst/>
          </a:prstGeom>
          <a:noFill/>
          <a:ln w="25400">
            <a:solidFill>
              <a:srgbClr val="D4A23A"/>
            </a:solidFill>
            <a:prstDash val="dash"/>
          </a:ln>
        </p:spPr>
      </p:sp>
      <p:sp>
        <p:nvSpPr>
          <p:cNvPr id="18" name="Text 16"/>
          <p:cNvSpPr/>
          <p:nvPr/>
        </p:nvSpPr>
        <p:spPr>
          <a:xfrm>
            <a:off x="2011680" y="2825496"/>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Domaine de l'Hortus</a:t>
            </a:r>
            <a:endParaRPr lang="en-US" sz="1400" dirty="0"/>
          </a:p>
        </p:txBody>
      </p:sp>
      <p:sp>
        <p:nvSpPr>
          <p:cNvPr id="19" name="Text 17"/>
          <p:cNvSpPr/>
          <p:nvPr/>
        </p:nvSpPr>
        <p:spPr>
          <a:xfrm>
            <a:off x="2011680" y="3099816"/>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Vinprovning, rundtur i källaren, promenad i vingården</a:t>
            </a:r>
            <a:endParaRPr lang="en-US" sz="1000" dirty="0"/>
          </a:p>
        </p:txBody>
      </p:sp>
      <p:sp>
        <p:nvSpPr>
          <p:cNvPr id="20" name="Text 18"/>
          <p:cNvSpPr/>
          <p:nvPr/>
        </p:nvSpPr>
        <p:spPr>
          <a:xfrm>
            <a:off x="6858000" y="2825496"/>
            <a:ext cx="4572000" cy="457200"/>
          </a:xfrm>
          <a:prstGeom prst="rect">
            <a:avLst/>
          </a:prstGeom>
          <a:noFill/>
          <a:ln/>
        </p:spPr>
        <p:txBody>
          <a:bodyPr wrap="square" lIns="0" tIns="0" rIns="0" bIns="0" rtlCol="0" anchor="ctr"/>
          <a:lstStyle/>
          <a:p>
            <a:pPr indent="0" marL="0">
              <a:buNone/>
            </a:pPr>
            <a:r>
              <a:rPr lang="en-US" sz="1000" i="1" dirty="0">
                <a:solidFill>
                  <a:srgbClr val="D4A23A"/>
                </a:solidFill>
                <a:latin typeface="Calibri" pitchFamily="34" charset="0"/>
                <a:ea typeface="Calibri" pitchFamily="34" charset="-122"/>
                <a:cs typeface="Calibri" pitchFamily="34" charset="-120"/>
              </a:rPr>
              <a:t>Boka i förväg</a:t>
            </a:r>
            <a:endParaRPr lang="en-US" sz="1000" dirty="0"/>
          </a:p>
        </p:txBody>
      </p:sp>
      <p:sp>
        <p:nvSpPr>
          <p:cNvPr id="21" name="Shape 19"/>
          <p:cNvSpPr/>
          <p:nvPr/>
        </p:nvSpPr>
        <p:spPr>
          <a:xfrm>
            <a:off x="640080" y="3392424"/>
            <a:ext cx="1097280" cy="457200"/>
          </a:xfrm>
          <a:prstGeom prst="ellipse">
            <a:avLst/>
          </a:prstGeom>
          <a:solidFill>
            <a:srgbClr val="D4A23A"/>
          </a:solidFill>
          <a:ln w="12700">
            <a:solidFill>
              <a:srgbClr val="D4A23A"/>
            </a:solidFill>
            <a:prstDash val="solid"/>
          </a:ln>
        </p:spPr>
      </p:sp>
      <p:sp>
        <p:nvSpPr>
          <p:cNvPr id="22" name="Text 20"/>
          <p:cNvSpPr/>
          <p:nvPr/>
        </p:nvSpPr>
        <p:spPr>
          <a:xfrm>
            <a:off x="640080" y="3392424"/>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13.00</a:t>
            </a:r>
            <a:endParaRPr lang="en-US" sz="1200" dirty="0"/>
          </a:p>
        </p:txBody>
      </p:sp>
      <p:sp>
        <p:nvSpPr>
          <p:cNvPr id="23" name="Shape 21"/>
          <p:cNvSpPr/>
          <p:nvPr/>
        </p:nvSpPr>
        <p:spPr>
          <a:xfrm>
            <a:off x="1188720" y="3849624"/>
            <a:ext cx="0" cy="109728"/>
          </a:xfrm>
          <a:prstGeom prst="line">
            <a:avLst/>
          </a:prstGeom>
          <a:noFill/>
          <a:ln w="25400">
            <a:solidFill>
              <a:srgbClr val="D4A23A"/>
            </a:solidFill>
            <a:prstDash val="dash"/>
          </a:ln>
        </p:spPr>
      </p:sp>
      <p:sp>
        <p:nvSpPr>
          <p:cNvPr id="24" name="Text 22"/>
          <p:cNvSpPr/>
          <p:nvPr/>
        </p:nvSpPr>
        <p:spPr>
          <a:xfrm>
            <a:off x="2011680" y="3392424"/>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Lunch i bergsbyn</a:t>
            </a:r>
            <a:endParaRPr lang="en-US" sz="1400" dirty="0"/>
          </a:p>
        </p:txBody>
      </p:sp>
      <p:sp>
        <p:nvSpPr>
          <p:cNvPr id="25" name="Text 23"/>
          <p:cNvSpPr/>
          <p:nvPr/>
        </p:nvSpPr>
        <p:spPr>
          <a:xfrm>
            <a:off x="2011680" y="3666744"/>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Saint-Mathieu-de-Tréviers eller Lauret, rustika bistroer</a:t>
            </a:r>
            <a:endParaRPr lang="en-US" sz="1000" dirty="0"/>
          </a:p>
        </p:txBody>
      </p:sp>
      <p:sp>
        <p:nvSpPr>
          <p:cNvPr id="26" name="Text 24"/>
          <p:cNvSpPr/>
          <p:nvPr/>
        </p:nvSpPr>
        <p:spPr>
          <a:xfrm>
            <a:off x="6858000" y="3392424"/>
            <a:ext cx="4572000" cy="457200"/>
          </a:xfrm>
          <a:prstGeom prst="rect">
            <a:avLst/>
          </a:prstGeom>
          <a:noFill/>
          <a:ln/>
        </p:spPr>
        <p:txBody>
          <a:bodyPr wrap="square" lIns="0" tIns="0" rIns="0" bIns="0" rtlCol="0" anchor="ctr"/>
          <a:lstStyle/>
          <a:p>
            <a:pPr indent="0" marL="0">
              <a:buNone/>
            </a:pPr>
            <a:r>
              <a:rPr lang="en-US" sz="1000" i="1" dirty="0">
                <a:solidFill>
                  <a:srgbClr val="D4A23A"/>
                </a:solidFill>
                <a:latin typeface="Calibri" pitchFamily="34" charset="0"/>
                <a:ea typeface="Calibri" pitchFamily="34" charset="-122"/>
                <a:cs typeface="Calibri" pitchFamily="34" charset="-120"/>
              </a:rPr>
              <a:t>Boka bord</a:t>
            </a:r>
            <a:endParaRPr lang="en-US" sz="1000" dirty="0"/>
          </a:p>
        </p:txBody>
      </p:sp>
      <p:sp>
        <p:nvSpPr>
          <p:cNvPr id="27" name="Shape 25"/>
          <p:cNvSpPr/>
          <p:nvPr/>
        </p:nvSpPr>
        <p:spPr>
          <a:xfrm>
            <a:off x="640080" y="3959352"/>
            <a:ext cx="1097280" cy="457200"/>
          </a:xfrm>
          <a:prstGeom prst="ellipse">
            <a:avLst/>
          </a:prstGeom>
          <a:solidFill>
            <a:srgbClr val="D4A23A"/>
          </a:solidFill>
          <a:ln w="12700">
            <a:solidFill>
              <a:srgbClr val="D4A23A"/>
            </a:solidFill>
            <a:prstDash val="solid"/>
          </a:ln>
        </p:spPr>
      </p:sp>
      <p:sp>
        <p:nvSpPr>
          <p:cNvPr id="28" name="Text 26"/>
          <p:cNvSpPr/>
          <p:nvPr/>
        </p:nvSpPr>
        <p:spPr>
          <a:xfrm>
            <a:off x="640080" y="3959352"/>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15.00</a:t>
            </a:r>
            <a:endParaRPr lang="en-US" sz="1200" dirty="0"/>
          </a:p>
        </p:txBody>
      </p:sp>
      <p:sp>
        <p:nvSpPr>
          <p:cNvPr id="29" name="Shape 27"/>
          <p:cNvSpPr/>
          <p:nvPr/>
        </p:nvSpPr>
        <p:spPr>
          <a:xfrm>
            <a:off x="1188720" y="4416552"/>
            <a:ext cx="0" cy="109728"/>
          </a:xfrm>
          <a:prstGeom prst="line">
            <a:avLst/>
          </a:prstGeom>
          <a:noFill/>
          <a:ln w="25400">
            <a:solidFill>
              <a:srgbClr val="D4A23A"/>
            </a:solidFill>
            <a:prstDash val="dash"/>
          </a:ln>
        </p:spPr>
      </p:sp>
      <p:sp>
        <p:nvSpPr>
          <p:cNvPr id="30" name="Text 28"/>
          <p:cNvSpPr/>
          <p:nvPr/>
        </p:nvSpPr>
        <p:spPr>
          <a:xfrm>
            <a:off x="2011680" y="3959352"/>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Promenad eller bestigning</a:t>
            </a:r>
            <a:endParaRPr lang="en-US" sz="1400" dirty="0"/>
          </a:p>
        </p:txBody>
      </p:sp>
      <p:sp>
        <p:nvSpPr>
          <p:cNvPr id="31" name="Text 29"/>
          <p:cNvSpPr/>
          <p:nvPr/>
        </p:nvSpPr>
        <p:spPr>
          <a:xfrm>
            <a:off x="2011680" y="4233672"/>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Pic Saint-Loup-toppen för Andreas och Leo (5 km, 250 m)</a:t>
            </a:r>
            <a:endParaRPr lang="en-US" sz="1000" dirty="0"/>
          </a:p>
        </p:txBody>
      </p:sp>
      <p:sp>
        <p:nvSpPr>
          <p:cNvPr id="32" name="Text 30"/>
          <p:cNvSpPr/>
          <p:nvPr/>
        </p:nvSpPr>
        <p:spPr>
          <a:xfrm>
            <a:off x="6858000" y="3959352"/>
            <a:ext cx="4572000" cy="457200"/>
          </a:xfrm>
          <a:prstGeom prst="rect">
            <a:avLst/>
          </a:prstGeom>
          <a:noFill/>
          <a:ln/>
        </p:spPr>
        <p:txBody>
          <a:bodyPr wrap="square" lIns="0" tIns="0" rIns="0" bIns="0" rtlCol="0" anchor="ctr"/>
          <a:lstStyle/>
          <a:p>
            <a:pPr indent="0" marL="0">
              <a:buNone/>
            </a:pPr>
            <a:r>
              <a:rPr lang="en-US" sz="1000" i="1" dirty="0">
                <a:solidFill>
                  <a:srgbClr val="D4A23A"/>
                </a:solidFill>
                <a:latin typeface="Calibri" pitchFamily="34" charset="0"/>
                <a:ea typeface="Calibri" pitchFamily="34" charset="-122"/>
                <a:cs typeface="Calibri" pitchFamily="34" charset="-120"/>
              </a:rPr>
              <a:t>Resten till en vingård</a:t>
            </a:r>
            <a:endParaRPr lang="en-US" sz="1000" dirty="0"/>
          </a:p>
        </p:txBody>
      </p:sp>
      <p:sp>
        <p:nvSpPr>
          <p:cNvPr id="33" name="Shape 31"/>
          <p:cNvSpPr/>
          <p:nvPr/>
        </p:nvSpPr>
        <p:spPr>
          <a:xfrm>
            <a:off x="640080" y="4526280"/>
            <a:ext cx="1097280" cy="457200"/>
          </a:xfrm>
          <a:prstGeom prst="ellipse">
            <a:avLst/>
          </a:prstGeom>
          <a:solidFill>
            <a:srgbClr val="D4A23A"/>
          </a:solidFill>
          <a:ln w="12700">
            <a:solidFill>
              <a:srgbClr val="D4A23A"/>
            </a:solidFill>
            <a:prstDash val="solid"/>
          </a:ln>
        </p:spPr>
      </p:sp>
      <p:sp>
        <p:nvSpPr>
          <p:cNvPr id="34" name="Text 32"/>
          <p:cNvSpPr/>
          <p:nvPr/>
        </p:nvSpPr>
        <p:spPr>
          <a:xfrm>
            <a:off x="640080" y="4526280"/>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15.00</a:t>
            </a:r>
            <a:endParaRPr lang="en-US" sz="1200" dirty="0"/>
          </a:p>
        </p:txBody>
      </p:sp>
      <p:sp>
        <p:nvSpPr>
          <p:cNvPr id="35" name="Shape 33"/>
          <p:cNvSpPr/>
          <p:nvPr/>
        </p:nvSpPr>
        <p:spPr>
          <a:xfrm>
            <a:off x="1188720" y="4983480"/>
            <a:ext cx="0" cy="109728"/>
          </a:xfrm>
          <a:prstGeom prst="line">
            <a:avLst/>
          </a:prstGeom>
          <a:noFill/>
          <a:ln w="25400">
            <a:solidFill>
              <a:srgbClr val="D4A23A"/>
            </a:solidFill>
            <a:prstDash val="dash"/>
          </a:ln>
        </p:spPr>
      </p:sp>
      <p:sp>
        <p:nvSpPr>
          <p:cNvPr id="36" name="Text 34"/>
          <p:cNvSpPr/>
          <p:nvPr/>
        </p:nvSpPr>
        <p:spPr>
          <a:xfrm>
            <a:off x="2011680" y="4526280"/>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Alternativ för resten</a:t>
            </a:r>
            <a:endParaRPr lang="en-US" sz="1400" dirty="0"/>
          </a:p>
        </p:txBody>
      </p:sp>
      <p:sp>
        <p:nvSpPr>
          <p:cNvPr id="37" name="Text 35"/>
          <p:cNvSpPr/>
          <p:nvPr/>
        </p:nvSpPr>
        <p:spPr>
          <a:xfrm>
            <a:off x="2011680" y="4800600"/>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Mas Bruguière eller liknande för andra provning</a:t>
            </a:r>
            <a:endParaRPr lang="en-US" sz="1000" dirty="0"/>
          </a:p>
        </p:txBody>
      </p:sp>
      <p:sp>
        <p:nvSpPr>
          <p:cNvPr id="38" name="Text 36"/>
          <p:cNvSpPr/>
          <p:nvPr/>
        </p:nvSpPr>
        <p:spPr>
          <a:xfrm>
            <a:off x="6858000" y="4526280"/>
            <a:ext cx="4572000" cy="457200"/>
          </a:xfrm>
          <a:prstGeom prst="rect">
            <a:avLst/>
          </a:prstGeom>
          <a:noFill/>
          <a:ln/>
        </p:spPr>
        <p:txBody>
          <a:bodyPr wrap="square" lIns="0" tIns="0" rIns="0" bIns="0" rtlCol="0" anchor="ctr"/>
          <a:lstStyle/>
          <a:p>
            <a:pPr indent="0" marL="0">
              <a:buNone/>
            </a:pPr>
            <a:r>
              <a:rPr lang="en-US" sz="1000" i="1" dirty="0">
                <a:solidFill>
                  <a:srgbClr val="D4A23A"/>
                </a:solidFill>
                <a:latin typeface="Calibri" pitchFamily="34" charset="0"/>
                <a:ea typeface="Calibri" pitchFamily="34" charset="-122"/>
                <a:cs typeface="Calibri" pitchFamily="34" charset="-120"/>
              </a:rPr>
              <a:t>Lugnare alternativ</a:t>
            </a:r>
            <a:endParaRPr lang="en-US" sz="1000" dirty="0"/>
          </a:p>
        </p:txBody>
      </p:sp>
      <p:sp>
        <p:nvSpPr>
          <p:cNvPr id="39" name="Shape 37"/>
          <p:cNvSpPr/>
          <p:nvPr/>
        </p:nvSpPr>
        <p:spPr>
          <a:xfrm>
            <a:off x="640080" y="5093208"/>
            <a:ext cx="1097280" cy="457200"/>
          </a:xfrm>
          <a:prstGeom prst="ellipse">
            <a:avLst/>
          </a:prstGeom>
          <a:solidFill>
            <a:srgbClr val="D4A23A"/>
          </a:solidFill>
          <a:ln w="12700">
            <a:solidFill>
              <a:srgbClr val="D4A23A"/>
            </a:solidFill>
            <a:prstDash val="solid"/>
          </a:ln>
        </p:spPr>
      </p:sp>
      <p:sp>
        <p:nvSpPr>
          <p:cNvPr id="40" name="Text 38"/>
          <p:cNvSpPr/>
          <p:nvPr/>
        </p:nvSpPr>
        <p:spPr>
          <a:xfrm>
            <a:off x="640080" y="5093208"/>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17.00</a:t>
            </a:r>
            <a:endParaRPr lang="en-US" sz="1200" dirty="0"/>
          </a:p>
        </p:txBody>
      </p:sp>
      <p:sp>
        <p:nvSpPr>
          <p:cNvPr id="41" name="Shape 39"/>
          <p:cNvSpPr/>
          <p:nvPr/>
        </p:nvSpPr>
        <p:spPr>
          <a:xfrm>
            <a:off x="1188720" y="5550408"/>
            <a:ext cx="0" cy="109728"/>
          </a:xfrm>
          <a:prstGeom prst="line">
            <a:avLst/>
          </a:prstGeom>
          <a:noFill/>
          <a:ln w="25400">
            <a:solidFill>
              <a:srgbClr val="D4A23A"/>
            </a:solidFill>
            <a:prstDash val="dash"/>
          </a:ln>
        </p:spPr>
      </p:sp>
      <p:sp>
        <p:nvSpPr>
          <p:cNvPr id="42" name="Text 40"/>
          <p:cNvSpPr/>
          <p:nvPr/>
        </p:nvSpPr>
        <p:spPr>
          <a:xfrm>
            <a:off x="2011680" y="5093208"/>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Återsamling</a:t>
            </a:r>
            <a:endParaRPr lang="en-US" sz="1400" dirty="0"/>
          </a:p>
        </p:txBody>
      </p:sp>
      <p:sp>
        <p:nvSpPr>
          <p:cNvPr id="43" name="Text 41"/>
          <p:cNvSpPr/>
          <p:nvPr/>
        </p:nvSpPr>
        <p:spPr>
          <a:xfrm>
            <a:off x="2011680" y="5367528"/>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Möts upp efter promenad och vinprovning</a:t>
            </a:r>
            <a:endParaRPr lang="en-US" sz="1000" dirty="0"/>
          </a:p>
        </p:txBody>
      </p:sp>
      <p:sp>
        <p:nvSpPr>
          <p:cNvPr id="44" name="Shape 42"/>
          <p:cNvSpPr/>
          <p:nvPr/>
        </p:nvSpPr>
        <p:spPr>
          <a:xfrm>
            <a:off x="640080" y="5660136"/>
            <a:ext cx="1097280" cy="457200"/>
          </a:xfrm>
          <a:prstGeom prst="ellipse">
            <a:avLst/>
          </a:prstGeom>
          <a:solidFill>
            <a:srgbClr val="D4A23A"/>
          </a:solidFill>
          <a:ln w="12700">
            <a:solidFill>
              <a:srgbClr val="D4A23A"/>
            </a:solidFill>
            <a:prstDash val="solid"/>
          </a:ln>
        </p:spPr>
      </p:sp>
      <p:sp>
        <p:nvSpPr>
          <p:cNvPr id="45" name="Text 43"/>
          <p:cNvSpPr/>
          <p:nvPr/>
        </p:nvSpPr>
        <p:spPr>
          <a:xfrm>
            <a:off x="640080" y="5660136"/>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18.00</a:t>
            </a:r>
            <a:endParaRPr lang="en-US" sz="1200" dirty="0"/>
          </a:p>
        </p:txBody>
      </p:sp>
      <p:sp>
        <p:nvSpPr>
          <p:cNvPr id="46" name="Text 44"/>
          <p:cNvSpPr/>
          <p:nvPr/>
        </p:nvSpPr>
        <p:spPr>
          <a:xfrm>
            <a:off x="2011680" y="5660136"/>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Hemfärd</a:t>
            </a:r>
            <a:endParaRPr lang="en-US" sz="1400" dirty="0"/>
          </a:p>
        </p:txBody>
      </p:sp>
      <p:sp>
        <p:nvSpPr>
          <p:cNvPr id="47" name="Text 45"/>
          <p:cNvSpPr/>
          <p:nvPr/>
        </p:nvSpPr>
        <p:spPr>
          <a:xfrm>
            <a:off x="2011680" y="5934456"/>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Tillbaka i Montpellier ca 18.45</a:t>
            </a:r>
            <a:endParaRPr lang="en-US" sz="1000" dirty="0"/>
          </a:p>
        </p:txBody>
      </p:sp>
      <p:sp>
        <p:nvSpPr>
          <p:cNvPr id="48" name="Text 46"/>
          <p:cNvSpPr/>
          <p:nvPr/>
        </p:nvSpPr>
        <p:spPr>
          <a:xfrm>
            <a:off x="6858000" y="5660136"/>
            <a:ext cx="4572000" cy="457200"/>
          </a:xfrm>
          <a:prstGeom prst="rect">
            <a:avLst/>
          </a:prstGeom>
          <a:noFill/>
          <a:ln/>
        </p:spPr>
        <p:txBody>
          <a:bodyPr wrap="square" lIns="0" tIns="0" rIns="0" bIns="0" rtlCol="0" anchor="ctr"/>
          <a:lstStyle/>
          <a:p>
            <a:pPr indent="0" marL="0">
              <a:buNone/>
            </a:pPr>
            <a:r>
              <a:rPr lang="en-US" sz="1000" i="1" dirty="0">
                <a:solidFill>
                  <a:srgbClr val="D4A23A"/>
                </a:solidFill>
                <a:latin typeface="Calibri" pitchFamily="34" charset="0"/>
                <a:ea typeface="Calibri" pitchFamily="34" charset="-122"/>
                <a:cs typeface="Calibri" pitchFamily="34" charset="-120"/>
              </a:rPr>
              <a:t>Kort restid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2E7793"/>
          </a:solidFill>
          <a:ln w="12700">
            <a:solidFill>
              <a:srgbClr val="2E7793"/>
            </a:solidFill>
            <a:prstDash val="solid"/>
          </a:ln>
        </p:spPr>
      </p:sp>
      <p:pic>
        <p:nvPicPr>
          <p:cNvPr id="3" name="Image 0" descr="preencoded.png">    </p:cNvPr>
          <p:cNvPicPr>
            <a:picLocks noChangeAspect="1"/>
          </p:cNvPicPr>
          <p:nvPr/>
        </p:nvPicPr>
        <p:blipFill>
          <a:blip r:embed="rId1"/>
          <a:stretch>
            <a:fillRect/>
          </a:stretch>
        </p:blipFill>
        <p:spPr>
          <a:xfrm>
            <a:off x="2194560" y="2103120"/>
            <a:ext cx="1828800" cy="1828800"/>
          </a:xfrm>
          <a:prstGeom prst="rect">
            <a:avLst/>
          </a:prstGeom>
        </p:spPr>
      </p:pic>
      <p:sp>
        <p:nvSpPr>
          <p:cNvPr id="4" name="Text 1"/>
          <p:cNvSpPr/>
          <p:nvPr/>
        </p:nvSpPr>
        <p:spPr>
          <a:xfrm>
            <a:off x="731520" y="640080"/>
            <a:ext cx="1371600" cy="548640"/>
          </a:xfrm>
          <a:prstGeom prst="rect">
            <a:avLst/>
          </a:prstGeom>
          <a:noFill/>
          <a:ln/>
        </p:spPr>
        <p:txBody>
          <a:bodyPr wrap="square" lIns="0" tIns="0" rIns="0" bIns="0" rtlCol="0" anchor="ctr"/>
          <a:lstStyle/>
          <a:p>
            <a:pPr indent="0" marL="0">
              <a:buNone/>
            </a:pPr>
            <a:r>
              <a:rPr lang="en-US" sz="1600" i="1" spc="400" kern="0" dirty="0">
                <a:solidFill>
                  <a:srgbClr val="FFFFFF"/>
                </a:solidFill>
                <a:latin typeface="Georgia" pitchFamily="34" charset="0"/>
                <a:ea typeface="Georgia" pitchFamily="34" charset="-122"/>
                <a:cs typeface="Georgia" pitchFamily="34" charset="-120"/>
              </a:rPr>
              <a:t>#C</a:t>
            </a:r>
            <a:endParaRPr lang="en-US" sz="1600" dirty="0"/>
          </a:p>
        </p:txBody>
      </p:sp>
      <p:sp>
        <p:nvSpPr>
          <p:cNvPr id="5" name="Text 2"/>
          <p:cNvSpPr/>
          <p:nvPr/>
        </p:nvSpPr>
        <p:spPr>
          <a:xfrm>
            <a:off x="6126480" y="548640"/>
            <a:ext cx="5669280" cy="365760"/>
          </a:xfrm>
          <a:prstGeom prst="rect">
            <a:avLst/>
          </a:prstGeom>
          <a:noFill/>
          <a:ln/>
        </p:spPr>
        <p:txBody>
          <a:bodyPr wrap="square" lIns="0" tIns="0" rIns="0" bIns="0" rtlCol="0" anchor="ctr"/>
          <a:lstStyle/>
          <a:p>
            <a:pPr indent="0" marL="0">
              <a:buNone/>
            </a:pPr>
            <a:r>
              <a:rPr lang="en-US" sz="1200" b="1" spc="400" kern="0" dirty="0">
                <a:solidFill>
                  <a:srgbClr val="2E7793"/>
                </a:solidFill>
                <a:latin typeface="Calibri" pitchFamily="34" charset="0"/>
                <a:ea typeface="Calibri" pitchFamily="34" charset="-122"/>
                <a:cs typeface="Calibri" pitchFamily="34" charset="-120"/>
              </a:rPr>
              <a:t>ALTERNATIV C · KANALER OCH HAV</a:t>
            </a:r>
            <a:endParaRPr lang="en-US" sz="1200" dirty="0"/>
          </a:p>
        </p:txBody>
      </p:sp>
      <p:sp>
        <p:nvSpPr>
          <p:cNvPr id="6" name="Text 3"/>
          <p:cNvSpPr/>
          <p:nvPr/>
        </p:nvSpPr>
        <p:spPr>
          <a:xfrm>
            <a:off x="6126480" y="914400"/>
            <a:ext cx="5669280" cy="1280160"/>
          </a:xfrm>
          <a:prstGeom prst="rect">
            <a:avLst/>
          </a:prstGeom>
          <a:noFill/>
          <a:ln/>
        </p:spPr>
        <p:txBody>
          <a:bodyPr wrap="square" lIns="0" tIns="0" rIns="0" bIns="0" rtlCol="0" anchor="ctr"/>
          <a:lstStyle/>
          <a:p>
            <a:pPr indent="0" marL="0">
              <a:buNone/>
            </a:pPr>
            <a:r>
              <a:rPr lang="en-US" sz="3600" b="1" dirty="0">
                <a:solidFill>
                  <a:srgbClr val="1A2E3B"/>
                </a:solidFill>
                <a:latin typeface="Georgia" pitchFamily="34" charset="0"/>
                <a:ea typeface="Georgia" pitchFamily="34" charset="-122"/>
                <a:cs typeface="Georgia" pitchFamily="34" charset="-120"/>
              </a:rPr>
              <a:t>Sète</a:t>
            </a:r>
            <a:endParaRPr lang="en-US" sz="3600" dirty="0"/>
          </a:p>
        </p:txBody>
      </p:sp>
      <p:sp>
        <p:nvSpPr>
          <p:cNvPr id="7" name="Text 4"/>
          <p:cNvSpPr/>
          <p:nvPr/>
        </p:nvSpPr>
        <p:spPr>
          <a:xfrm>
            <a:off x="6126480" y="2286000"/>
            <a:ext cx="5669280" cy="1371600"/>
          </a:xfrm>
          <a:prstGeom prst="rect">
            <a:avLst/>
          </a:prstGeom>
          <a:noFill/>
          <a:ln/>
        </p:spPr>
        <p:txBody>
          <a:bodyPr wrap="square" lIns="0" tIns="0" rIns="0" bIns="0" rtlCol="0" anchor="t"/>
          <a:lstStyle/>
          <a:p>
            <a:pPr indent="0" marL="0">
              <a:buNone/>
            </a:pPr>
            <a:r>
              <a:rPr lang="en-US" sz="1400" dirty="0">
                <a:solidFill>
                  <a:srgbClr val="5C6B73"/>
                </a:solidFill>
                <a:latin typeface="Calibri" pitchFamily="34" charset="0"/>
                <a:ea typeface="Calibri" pitchFamily="34" charset="-122"/>
                <a:cs typeface="Calibri" pitchFamily="34" charset="-120"/>
              </a:rPr>
              <a:t>Levande fiskehamn vid Medelhavet, kallas Languedocs Venedig. 20 minuter med tåg från Saint-Roch, går varje halvtimme även söndagar. Hela familjen får plats i samma vagn, ingen bilstress. Kanaler, fiskmarknad i Les Halles, panoramautsikt från Mont Saint-Clair, fiskrestauranger längs hamnen.</a:t>
            </a:r>
            <a:endParaRPr lang="en-US" sz="1400" dirty="0"/>
          </a:p>
        </p:txBody>
      </p:sp>
      <p:sp>
        <p:nvSpPr>
          <p:cNvPr id="8" name="Shape 5"/>
          <p:cNvSpPr/>
          <p:nvPr/>
        </p:nvSpPr>
        <p:spPr>
          <a:xfrm>
            <a:off x="6126480" y="3794760"/>
            <a:ext cx="1783080" cy="777240"/>
          </a:xfrm>
          <a:prstGeom prst="rect">
            <a:avLst/>
          </a:prstGeom>
          <a:solidFill>
            <a:srgbClr val="FFFFFF"/>
          </a:solidFill>
          <a:ln w="12700">
            <a:solidFill>
              <a:srgbClr val="E8DFD0"/>
            </a:solidFill>
            <a:prstDash val="solid"/>
          </a:ln>
        </p:spPr>
      </p:sp>
      <p:pic>
        <p:nvPicPr>
          <p:cNvPr id="9" name="Image 1" descr="preencoded.png">    </p:cNvPr>
          <p:cNvPicPr>
            <a:picLocks noChangeAspect="1"/>
          </p:cNvPicPr>
          <p:nvPr/>
        </p:nvPicPr>
        <p:blipFill>
          <a:blip r:embed="rId2"/>
          <a:stretch>
            <a:fillRect/>
          </a:stretch>
        </p:blipFill>
        <p:spPr>
          <a:xfrm>
            <a:off x="6263640" y="3931920"/>
            <a:ext cx="274320" cy="274320"/>
          </a:xfrm>
          <a:prstGeom prst="rect">
            <a:avLst/>
          </a:prstGeom>
        </p:spPr>
      </p:pic>
      <p:sp>
        <p:nvSpPr>
          <p:cNvPr id="10" name="Text 6"/>
          <p:cNvSpPr/>
          <p:nvPr/>
        </p:nvSpPr>
        <p:spPr>
          <a:xfrm>
            <a:off x="6629400"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RESTID</a:t>
            </a:r>
            <a:endParaRPr lang="en-US" sz="800" dirty="0"/>
          </a:p>
        </p:txBody>
      </p:sp>
      <p:sp>
        <p:nvSpPr>
          <p:cNvPr id="11" name="Text 7"/>
          <p:cNvSpPr/>
          <p:nvPr/>
        </p:nvSpPr>
        <p:spPr>
          <a:xfrm>
            <a:off x="6629400"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20 min med tåg</a:t>
            </a:r>
            <a:endParaRPr lang="en-US" sz="1100" dirty="0"/>
          </a:p>
        </p:txBody>
      </p:sp>
      <p:sp>
        <p:nvSpPr>
          <p:cNvPr id="12" name="Shape 8"/>
          <p:cNvSpPr/>
          <p:nvPr/>
        </p:nvSpPr>
        <p:spPr>
          <a:xfrm>
            <a:off x="8074152" y="3794760"/>
            <a:ext cx="1783080" cy="777240"/>
          </a:xfrm>
          <a:prstGeom prst="rect">
            <a:avLst/>
          </a:prstGeom>
          <a:solidFill>
            <a:srgbClr val="FFFFFF"/>
          </a:solidFill>
          <a:ln w="12700">
            <a:solidFill>
              <a:srgbClr val="E8DFD0"/>
            </a:solidFill>
            <a:prstDash val="solid"/>
          </a:ln>
        </p:spPr>
      </p:sp>
      <p:pic>
        <p:nvPicPr>
          <p:cNvPr id="13" name="Image 2" descr="preencoded.png">    </p:cNvPr>
          <p:cNvPicPr>
            <a:picLocks noChangeAspect="1"/>
          </p:cNvPicPr>
          <p:nvPr/>
        </p:nvPicPr>
        <p:blipFill>
          <a:blip r:embed="rId3"/>
          <a:stretch>
            <a:fillRect/>
          </a:stretch>
        </p:blipFill>
        <p:spPr>
          <a:xfrm>
            <a:off x="8211312" y="3931920"/>
            <a:ext cx="274320" cy="274320"/>
          </a:xfrm>
          <a:prstGeom prst="rect">
            <a:avLst/>
          </a:prstGeom>
        </p:spPr>
      </p:pic>
      <p:sp>
        <p:nvSpPr>
          <p:cNvPr id="14" name="Text 9"/>
          <p:cNvSpPr/>
          <p:nvPr/>
        </p:nvSpPr>
        <p:spPr>
          <a:xfrm>
            <a:off x="8577072"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FORM</a:t>
            </a:r>
            <a:endParaRPr lang="en-US" sz="800" dirty="0"/>
          </a:p>
        </p:txBody>
      </p:sp>
      <p:sp>
        <p:nvSpPr>
          <p:cNvPr id="15" name="Text 10"/>
          <p:cNvSpPr/>
          <p:nvPr/>
        </p:nvSpPr>
        <p:spPr>
          <a:xfrm>
            <a:off x="8577072"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Avslappnat och lättsamt</a:t>
            </a:r>
            <a:endParaRPr lang="en-US" sz="1100" dirty="0"/>
          </a:p>
        </p:txBody>
      </p:sp>
      <p:sp>
        <p:nvSpPr>
          <p:cNvPr id="16" name="Shape 11"/>
          <p:cNvSpPr/>
          <p:nvPr/>
        </p:nvSpPr>
        <p:spPr>
          <a:xfrm>
            <a:off x="10021824" y="3794760"/>
            <a:ext cx="1783080" cy="777240"/>
          </a:xfrm>
          <a:prstGeom prst="rect">
            <a:avLst/>
          </a:prstGeom>
          <a:solidFill>
            <a:srgbClr val="FFFFFF"/>
          </a:solidFill>
          <a:ln w="12700">
            <a:solidFill>
              <a:srgbClr val="E8DFD0"/>
            </a:solidFill>
            <a:prstDash val="solid"/>
          </a:ln>
        </p:spPr>
      </p:sp>
      <p:pic>
        <p:nvPicPr>
          <p:cNvPr id="17" name="Image 3" descr="preencoded.png">    </p:cNvPr>
          <p:cNvPicPr>
            <a:picLocks noChangeAspect="1"/>
          </p:cNvPicPr>
          <p:nvPr/>
        </p:nvPicPr>
        <p:blipFill>
          <a:blip r:embed="rId4"/>
          <a:stretch>
            <a:fillRect/>
          </a:stretch>
        </p:blipFill>
        <p:spPr>
          <a:xfrm>
            <a:off x="10158984" y="3931920"/>
            <a:ext cx="274320" cy="274320"/>
          </a:xfrm>
          <a:prstGeom prst="rect">
            <a:avLst/>
          </a:prstGeom>
        </p:spPr>
      </p:pic>
      <p:sp>
        <p:nvSpPr>
          <p:cNvPr id="18" name="Text 12"/>
          <p:cNvSpPr/>
          <p:nvPr/>
        </p:nvSpPr>
        <p:spPr>
          <a:xfrm>
            <a:off x="10524744"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BUDGET</a:t>
            </a:r>
            <a:endParaRPr lang="en-US" sz="800" dirty="0"/>
          </a:p>
        </p:txBody>
      </p:sp>
      <p:sp>
        <p:nvSpPr>
          <p:cNvPr id="19" name="Text 13"/>
          <p:cNvSpPr/>
          <p:nvPr/>
        </p:nvSpPr>
        <p:spPr>
          <a:xfrm>
            <a:off x="10524744"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Ca 200 € totalt</a:t>
            </a:r>
            <a:endParaRPr lang="en-US" sz="1100" dirty="0"/>
          </a:p>
        </p:txBody>
      </p:sp>
      <p:sp>
        <p:nvSpPr>
          <p:cNvPr id="20" name="Text 14"/>
          <p:cNvSpPr/>
          <p:nvPr/>
        </p:nvSpPr>
        <p:spPr>
          <a:xfrm>
            <a:off x="6126480" y="4800600"/>
            <a:ext cx="5669280" cy="274320"/>
          </a:xfrm>
          <a:prstGeom prst="rect">
            <a:avLst/>
          </a:prstGeom>
          <a:noFill/>
          <a:ln/>
        </p:spPr>
        <p:txBody>
          <a:bodyPr wrap="square" lIns="0" tIns="0" rIns="0" bIns="0" rtlCol="0" anchor="ctr"/>
          <a:lstStyle/>
          <a:p>
            <a:pPr indent="0" marL="0">
              <a:buNone/>
            </a:pPr>
            <a:r>
              <a:rPr lang="en-US" sz="1000" b="1" spc="400" kern="0" dirty="0">
                <a:solidFill>
                  <a:srgbClr val="2E7793"/>
                </a:solidFill>
                <a:latin typeface="Calibri" pitchFamily="34" charset="0"/>
                <a:ea typeface="Calibri" pitchFamily="34" charset="-122"/>
                <a:cs typeface="Calibri" pitchFamily="34" charset="-120"/>
              </a:rPr>
              <a:t>PRAKTISKA TIPS</a:t>
            </a:r>
            <a:endParaRPr lang="en-US" sz="1000" dirty="0"/>
          </a:p>
        </p:txBody>
      </p:sp>
      <p:sp>
        <p:nvSpPr>
          <p:cNvPr id="21" name="Text 15"/>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Enklast logistik för 7 personer, alla i samma tåg</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Tielle är Sètes lokala bläckfiskpaj, måste provas</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Mont Saint-Clair har stadens bästa utsikt, taxi eller buss upp</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Mer avslappnad än Saint-Guilhem, mindre wow för 50-årsdag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640080" y="365760"/>
            <a:ext cx="10972800" cy="320040"/>
          </a:xfrm>
          <a:prstGeom prst="rect">
            <a:avLst/>
          </a:prstGeom>
          <a:noFill/>
          <a:ln/>
        </p:spPr>
        <p:txBody>
          <a:bodyPr wrap="square" lIns="0" tIns="0" rIns="0" bIns="0" rtlCol="0" anchor="ctr"/>
          <a:lstStyle/>
          <a:p>
            <a:pPr indent="0" marL="0">
              <a:buNone/>
            </a:pPr>
            <a:r>
              <a:rPr lang="en-US" sz="1100" b="1" spc="400" kern="0" dirty="0">
                <a:solidFill>
                  <a:srgbClr val="2E7793"/>
                </a:solidFill>
                <a:latin typeface="Calibri" pitchFamily="34" charset="0"/>
                <a:ea typeface="Calibri" pitchFamily="34" charset="-122"/>
                <a:cs typeface="Calibri" pitchFamily="34" charset="-120"/>
              </a:rPr>
              <a:t>ALTERNATIV C · TIDSPLAN</a:t>
            </a:r>
            <a:endParaRPr lang="en-US" sz="1100" dirty="0"/>
          </a:p>
        </p:txBody>
      </p:sp>
      <p:sp>
        <p:nvSpPr>
          <p:cNvPr id="3" name="Text 1"/>
          <p:cNvSpPr/>
          <p:nvPr/>
        </p:nvSpPr>
        <p:spPr>
          <a:xfrm>
            <a:off x="640080" y="685800"/>
            <a:ext cx="10972800" cy="777240"/>
          </a:xfrm>
          <a:prstGeom prst="rect">
            <a:avLst/>
          </a:prstGeom>
          <a:noFill/>
          <a:ln/>
        </p:spPr>
        <p:txBody>
          <a:bodyPr wrap="square" lIns="0" tIns="0" rIns="0" bIns="0" rtlCol="0" anchor="ctr"/>
          <a:lstStyle/>
          <a:p>
            <a:pPr indent="0" marL="0">
              <a:buNone/>
            </a:pPr>
            <a:r>
              <a:rPr lang="en-US" sz="3000" b="1" dirty="0">
                <a:solidFill>
                  <a:srgbClr val="1A2E3B"/>
                </a:solidFill>
                <a:latin typeface="Georgia" pitchFamily="34" charset="0"/>
                <a:ea typeface="Georgia" pitchFamily="34" charset="-122"/>
                <a:cs typeface="Georgia" pitchFamily="34" charset="-120"/>
              </a:rPr>
              <a:t>Sète dagsschema</a:t>
            </a:r>
            <a:endParaRPr lang="en-US" sz="3000" dirty="0"/>
          </a:p>
        </p:txBody>
      </p:sp>
      <p:sp>
        <p:nvSpPr>
          <p:cNvPr id="4" name="Shape 2"/>
          <p:cNvSpPr/>
          <p:nvPr/>
        </p:nvSpPr>
        <p:spPr>
          <a:xfrm>
            <a:off x="640080" y="1691640"/>
            <a:ext cx="1097280" cy="457200"/>
          </a:xfrm>
          <a:prstGeom prst="ellipse">
            <a:avLst/>
          </a:prstGeom>
          <a:solidFill>
            <a:srgbClr val="2E7793"/>
          </a:solidFill>
          <a:ln w="12700">
            <a:solidFill>
              <a:srgbClr val="2E7793"/>
            </a:solidFill>
            <a:prstDash val="solid"/>
          </a:ln>
        </p:spPr>
      </p:sp>
      <p:sp>
        <p:nvSpPr>
          <p:cNvPr id="5" name="Text 3"/>
          <p:cNvSpPr/>
          <p:nvPr/>
        </p:nvSpPr>
        <p:spPr>
          <a:xfrm>
            <a:off x="640080" y="1691640"/>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09.30</a:t>
            </a:r>
            <a:endParaRPr lang="en-US" sz="1200" dirty="0"/>
          </a:p>
        </p:txBody>
      </p:sp>
      <p:sp>
        <p:nvSpPr>
          <p:cNvPr id="6" name="Shape 4"/>
          <p:cNvSpPr/>
          <p:nvPr/>
        </p:nvSpPr>
        <p:spPr>
          <a:xfrm>
            <a:off x="1188720" y="2148840"/>
            <a:ext cx="0" cy="109728"/>
          </a:xfrm>
          <a:prstGeom prst="line">
            <a:avLst/>
          </a:prstGeom>
          <a:noFill/>
          <a:ln w="25400">
            <a:solidFill>
              <a:srgbClr val="2E7793"/>
            </a:solidFill>
            <a:prstDash val="dash"/>
          </a:ln>
        </p:spPr>
      </p:sp>
      <p:sp>
        <p:nvSpPr>
          <p:cNvPr id="7" name="Text 5"/>
          <p:cNvSpPr/>
          <p:nvPr/>
        </p:nvSpPr>
        <p:spPr>
          <a:xfrm>
            <a:off x="2011680" y="1691640"/>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Sängfrukost klar</a:t>
            </a:r>
            <a:endParaRPr lang="en-US" sz="1400" dirty="0"/>
          </a:p>
        </p:txBody>
      </p:sp>
      <p:sp>
        <p:nvSpPr>
          <p:cNvPr id="8" name="Text 6"/>
          <p:cNvSpPr/>
          <p:nvPr/>
        </p:nvSpPr>
        <p:spPr>
          <a:xfrm>
            <a:off x="2011680" y="1965960"/>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Lugn morgon, ingen stress</a:t>
            </a:r>
            <a:endParaRPr lang="en-US" sz="1000" dirty="0"/>
          </a:p>
        </p:txBody>
      </p:sp>
      <p:sp>
        <p:nvSpPr>
          <p:cNvPr id="9" name="Shape 7"/>
          <p:cNvSpPr/>
          <p:nvPr/>
        </p:nvSpPr>
        <p:spPr>
          <a:xfrm>
            <a:off x="640080" y="2258568"/>
            <a:ext cx="1097280" cy="457200"/>
          </a:xfrm>
          <a:prstGeom prst="ellipse">
            <a:avLst/>
          </a:prstGeom>
          <a:solidFill>
            <a:srgbClr val="2E7793"/>
          </a:solidFill>
          <a:ln w="12700">
            <a:solidFill>
              <a:srgbClr val="2E7793"/>
            </a:solidFill>
            <a:prstDash val="solid"/>
          </a:ln>
        </p:spPr>
      </p:sp>
      <p:sp>
        <p:nvSpPr>
          <p:cNvPr id="10" name="Text 8"/>
          <p:cNvSpPr/>
          <p:nvPr/>
        </p:nvSpPr>
        <p:spPr>
          <a:xfrm>
            <a:off x="640080" y="2258568"/>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10.15</a:t>
            </a:r>
            <a:endParaRPr lang="en-US" sz="1200" dirty="0"/>
          </a:p>
        </p:txBody>
      </p:sp>
      <p:sp>
        <p:nvSpPr>
          <p:cNvPr id="11" name="Shape 9"/>
          <p:cNvSpPr/>
          <p:nvPr/>
        </p:nvSpPr>
        <p:spPr>
          <a:xfrm>
            <a:off x="1188720" y="2715768"/>
            <a:ext cx="0" cy="109728"/>
          </a:xfrm>
          <a:prstGeom prst="line">
            <a:avLst/>
          </a:prstGeom>
          <a:noFill/>
          <a:ln w="25400">
            <a:solidFill>
              <a:srgbClr val="2E7793"/>
            </a:solidFill>
            <a:prstDash val="dash"/>
          </a:ln>
        </p:spPr>
      </p:sp>
      <p:sp>
        <p:nvSpPr>
          <p:cNvPr id="12" name="Text 10"/>
          <p:cNvSpPr/>
          <p:nvPr/>
        </p:nvSpPr>
        <p:spPr>
          <a:xfrm>
            <a:off x="2011680" y="2258568"/>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Tram 1 till Saint-Roch</a:t>
            </a:r>
            <a:endParaRPr lang="en-US" sz="1400" dirty="0"/>
          </a:p>
        </p:txBody>
      </p:sp>
      <p:sp>
        <p:nvSpPr>
          <p:cNvPr id="13" name="Text 11"/>
          <p:cNvSpPr/>
          <p:nvPr/>
        </p:nvSpPr>
        <p:spPr>
          <a:xfrm>
            <a:off x="2011680" y="2532888"/>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Från Hôpitaux-Facultés ca 20 min</a:t>
            </a:r>
            <a:endParaRPr lang="en-US" sz="1000" dirty="0"/>
          </a:p>
        </p:txBody>
      </p:sp>
      <p:sp>
        <p:nvSpPr>
          <p:cNvPr id="14" name="Text 12"/>
          <p:cNvSpPr/>
          <p:nvPr/>
        </p:nvSpPr>
        <p:spPr>
          <a:xfrm>
            <a:off x="6858000" y="2258568"/>
            <a:ext cx="4572000" cy="457200"/>
          </a:xfrm>
          <a:prstGeom prst="rect">
            <a:avLst/>
          </a:prstGeom>
          <a:noFill/>
          <a:ln/>
        </p:spPr>
        <p:txBody>
          <a:bodyPr wrap="square" lIns="0" tIns="0" rIns="0" bIns="0" rtlCol="0" anchor="ctr"/>
          <a:lstStyle/>
          <a:p>
            <a:pPr indent="0" marL="0">
              <a:buNone/>
            </a:pPr>
            <a:r>
              <a:rPr lang="en-US" sz="1000" i="1" dirty="0">
                <a:solidFill>
                  <a:srgbClr val="2E7793"/>
                </a:solidFill>
                <a:latin typeface="Calibri" pitchFamily="34" charset="0"/>
                <a:ea typeface="Calibri" pitchFamily="34" charset="-122"/>
                <a:cs typeface="Calibri" pitchFamily="34" charset="-120"/>
              </a:rPr>
              <a:t>Bilettjocke räcker</a:t>
            </a:r>
            <a:endParaRPr lang="en-US" sz="1000" dirty="0"/>
          </a:p>
        </p:txBody>
      </p:sp>
      <p:sp>
        <p:nvSpPr>
          <p:cNvPr id="15" name="Shape 13"/>
          <p:cNvSpPr/>
          <p:nvPr/>
        </p:nvSpPr>
        <p:spPr>
          <a:xfrm>
            <a:off x="640080" y="2825496"/>
            <a:ext cx="1097280" cy="457200"/>
          </a:xfrm>
          <a:prstGeom prst="ellipse">
            <a:avLst/>
          </a:prstGeom>
          <a:solidFill>
            <a:srgbClr val="2E7793"/>
          </a:solidFill>
          <a:ln w="12700">
            <a:solidFill>
              <a:srgbClr val="2E7793"/>
            </a:solidFill>
            <a:prstDash val="solid"/>
          </a:ln>
        </p:spPr>
      </p:sp>
      <p:sp>
        <p:nvSpPr>
          <p:cNvPr id="16" name="Text 14"/>
          <p:cNvSpPr/>
          <p:nvPr/>
        </p:nvSpPr>
        <p:spPr>
          <a:xfrm>
            <a:off x="640080" y="2825496"/>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10.45</a:t>
            </a:r>
            <a:endParaRPr lang="en-US" sz="1200" dirty="0"/>
          </a:p>
        </p:txBody>
      </p:sp>
      <p:sp>
        <p:nvSpPr>
          <p:cNvPr id="17" name="Shape 15"/>
          <p:cNvSpPr/>
          <p:nvPr/>
        </p:nvSpPr>
        <p:spPr>
          <a:xfrm>
            <a:off x="1188720" y="3282696"/>
            <a:ext cx="0" cy="109728"/>
          </a:xfrm>
          <a:prstGeom prst="line">
            <a:avLst/>
          </a:prstGeom>
          <a:noFill/>
          <a:ln w="25400">
            <a:solidFill>
              <a:srgbClr val="2E7793"/>
            </a:solidFill>
            <a:prstDash val="dash"/>
          </a:ln>
        </p:spPr>
      </p:sp>
      <p:sp>
        <p:nvSpPr>
          <p:cNvPr id="18" name="Text 16"/>
          <p:cNvSpPr/>
          <p:nvPr/>
        </p:nvSpPr>
        <p:spPr>
          <a:xfrm>
            <a:off x="2011680" y="2825496"/>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Tåg till Sète</a:t>
            </a:r>
            <a:endParaRPr lang="en-US" sz="1400" dirty="0"/>
          </a:p>
        </p:txBody>
      </p:sp>
      <p:sp>
        <p:nvSpPr>
          <p:cNvPr id="19" name="Text 17"/>
          <p:cNvSpPr/>
          <p:nvPr/>
        </p:nvSpPr>
        <p:spPr>
          <a:xfrm>
            <a:off x="2011680" y="3099816"/>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TER, ca 20 min, går varje halvtimme</a:t>
            </a:r>
            <a:endParaRPr lang="en-US" sz="1000" dirty="0"/>
          </a:p>
        </p:txBody>
      </p:sp>
      <p:sp>
        <p:nvSpPr>
          <p:cNvPr id="20" name="Text 18"/>
          <p:cNvSpPr/>
          <p:nvPr/>
        </p:nvSpPr>
        <p:spPr>
          <a:xfrm>
            <a:off x="6858000" y="2825496"/>
            <a:ext cx="4572000" cy="457200"/>
          </a:xfrm>
          <a:prstGeom prst="rect">
            <a:avLst/>
          </a:prstGeom>
          <a:noFill/>
          <a:ln/>
        </p:spPr>
        <p:txBody>
          <a:bodyPr wrap="square" lIns="0" tIns="0" rIns="0" bIns="0" rtlCol="0" anchor="ctr"/>
          <a:lstStyle/>
          <a:p>
            <a:pPr indent="0" marL="0">
              <a:buNone/>
            </a:pPr>
            <a:r>
              <a:rPr lang="en-US" sz="1000" i="1" dirty="0">
                <a:solidFill>
                  <a:srgbClr val="2E7793"/>
                </a:solidFill>
                <a:latin typeface="Calibri" pitchFamily="34" charset="0"/>
                <a:ea typeface="Calibri" pitchFamily="34" charset="-122"/>
                <a:cs typeface="Calibri" pitchFamily="34" charset="-120"/>
              </a:rPr>
              <a:t>Inga bokningar</a:t>
            </a:r>
            <a:endParaRPr lang="en-US" sz="1000" dirty="0"/>
          </a:p>
        </p:txBody>
      </p:sp>
      <p:sp>
        <p:nvSpPr>
          <p:cNvPr id="21" name="Shape 19"/>
          <p:cNvSpPr/>
          <p:nvPr/>
        </p:nvSpPr>
        <p:spPr>
          <a:xfrm>
            <a:off x="640080" y="3392424"/>
            <a:ext cx="1097280" cy="457200"/>
          </a:xfrm>
          <a:prstGeom prst="ellipse">
            <a:avLst/>
          </a:prstGeom>
          <a:solidFill>
            <a:srgbClr val="2E7793"/>
          </a:solidFill>
          <a:ln w="12700">
            <a:solidFill>
              <a:srgbClr val="2E7793"/>
            </a:solidFill>
            <a:prstDash val="solid"/>
          </a:ln>
        </p:spPr>
      </p:sp>
      <p:sp>
        <p:nvSpPr>
          <p:cNvPr id="22" name="Text 20"/>
          <p:cNvSpPr/>
          <p:nvPr/>
        </p:nvSpPr>
        <p:spPr>
          <a:xfrm>
            <a:off x="640080" y="3392424"/>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11.15</a:t>
            </a:r>
            <a:endParaRPr lang="en-US" sz="1200" dirty="0"/>
          </a:p>
        </p:txBody>
      </p:sp>
      <p:sp>
        <p:nvSpPr>
          <p:cNvPr id="23" name="Shape 21"/>
          <p:cNvSpPr/>
          <p:nvPr/>
        </p:nvSpPr>
        <p:spPr>
          <a:xfrm>
            <a:off x="1188720" y="3849624"/>
            <a:ext cx="0" cy="109728"/>
          </a:xfrm>
          <a:prstGeom prst="line">
            <a:avLst/>
          </a:prstGeom>
          <a:noFill/>
          <a:ln w="25400">
            <a:solidFill>
              <a:srgbClr val="2E7793"/>
            </a:solidFill>
            <a:prstDash val="dash"/>
          </a:ln>
        </p:spPr>
      </p:sp>
      <p:sp>
        <p:nvSpPr>
          <p:cNvPr id="24" name="Text 22"/>
          <p:cNvSpPr/>
          <p:nvPr/>
        </p:nvSpPr>
        <p:spPr>
          <a:xfrm>
            <a:off x="2011680" y="3392424"/>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Promenad längs Canal Royal</a:t>
            </a:r>
            <a:endParaRPr lang="en-US" sz="1400" dirty="0"/>
          </a:p>
        </p:txBody>
      </p:sp>
      <p:sp>
        <p:nvSpPr>
          <p:cNvPr id="25" name="Text 23"/>
          <p:cNvSpPr/>
          <p:nvPr/>
        </p:nvSpPr>
        <p:spPr>
          <a:xfrm>
            <a:off x="2011680" y="3666744"/>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Sètes huvudkanal, fiskebåtar, broar</a:t>
            </a:r>
            <a:endParaRPr lang="en-US" sz="1000" dirty="0"/>
          </a:p>
        </p:txBody>
      </p:sp>
      <p:sp>
        <p:nvSpPr>
          <p:cNvPr id="26" name="Text 24"/>
          <p:cNvSpPr/>
          <p:nvPr/>
        </p:nvSpPr>
        <p:spPr>
          <a:xfrm>
            <a:off x="6858000" y="3392424"/>
            <a:ext cx="4572000" cy="457200"/>
          </a:xfrm>
          <a:prstGeom prst="rect">
            <a:avLst/>
          </a:prstGeom>
          <a:noFill/>
          <a:ln/>
        </p:spPr>
        <p:txBody>
          <a:bodyPr wrap="square" lIns="0" tIns="0" rIns="0" bIns="0" rtlCol="0" anchor="ctr"/>
          <a:lstStyle/>
          <a:p>
            <a:pPr indent="0" marL="0">
              <a:buNone/>
            </a:pPr>
            <a:r>
              <a:rPr lang="en-US" sz="1000" i="1" dirty="0">
                <a:solidFill>
                  <a:srgbClr val="2E7793"/>
                </a:solidFill>
                <a:latin typeface="Calibri" pitchFamily="34" charset="0"/>
                <a:ea typeface="Calibri" pitchFamily="34" charset="-122"/>
                <a:cs typeface="Calibri" pitchFamily="34" charset="-120"/>
              </a:rPr>
              <a:t>Bra fotostopp</a:t>
            </a:r>
            <a:endParaRPr lang="en-US" sz="1000" dirty="0"/>
          </a:p>
        </p:txBody>
      </p:sp>
      <p:sp>
        <p:nvSpPr>
          <p:cNvPr id="27" name="Shape 25"/>
          <p:cNvSpPr/>
          <p:nvPr/>
        </p:nvSpPr>
        <p:spPr>
          <a:xfrm>
            <a:off x="640080" y="3959352"/>
            <a:ext cx="1097280" cy="457200"/>
          </a:xfrm>
          <a:prstGeom prst="ellipse">
            <a:avLst/>
          </a:prstGeom>
          <a:solidFill>
            <a:srgbClr val="2E7793"/>
          </a:solidFill>
          <a:ln w="12700">
            <a:solidFill>
              <a:srgbClr val="2E7793"/>
            </a:solidFill>
            <a:prstDash val="solid"/>
          </a:ln>
        </p:spPr>
      </p:sp>
      <p:sp>
        <p:nvSpPr>
          <p:cNvPr id="28" name="Text 26"/>
          <p:cNvSpPr/>
          <p:nvPr/>
        </p:nvSpPr>
        <p:spPr>
          <a:xfrm>
            <a:off x="640080" y="3959352"/>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12.30</a:t>
            </a:r>
            <a:endParaRPr lang="en-US" sz="1200" dirty="0"/>
          </a:p>
        </p:txBody>
      </p:sp>
      <p:sp>
        <p:nvSpPr>
          <p:cNvPr id="29" name="Shape 27"/>
          <p:cNvSpPr/>
          <p:nvPr/>
        </p:nvSpPr>
        <p:spPr>
          <a:xfrm>
            <a:off x="1188720" y="4416552"/>
            <a:ext cx="0" cy="109728"/>
          </a:xfrm>
          <a:prstGeom prst="line">
            <a:avLst/>
          </a:prstGeom>
          <a:noFill/>
          <a:ln w="25400">
            <a:solidFill>
              <a:srgbClr val="2E7793"/>
            </a:solidFill>
            <a:prstDash val="dash"/>
          </a:ln>
        </p:spPr>
      </p:sp>
      <p:sp>
        <p:nvSpPr>
          <p:cNvPr id="30" name="Text 28"/>
          <p:cNvSpPr/>
          <p:nvPr/>
        </p:nvSpPr>
        <p:spPr>
          <a:xfrm>
            <a:off x="2011680" y="3959352"/>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Les Halles (saluhallen)</a:t>
            </a:r>
            <a:endParaRPr lang="en-US" sz="1400" dirty="0"/>
          </a:p>
        </p:txBody>
      </p:sp>
      <p:sp>
        <p:nvSpPr>
          <p:cNvPr id="31" name="Text 29"/>
          <p:cNvSpPr/>
          <p:nvPr/>
        </p:nvSpPr>
        <p:spPr>
          <a:xfrm>
            <a:off x="2011680" y="4233672"/>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Provsmaka tielle, ostron, lokala specialiteter</a:t>
            </a:r>
            <a:endParaRPr lang="en-US" sz="1000" dirty="0"/>
          </a:p>
        </p:txBody>
      </p:sp>
      <p:sp>
        <p:nvSpPr>
          <p:cNvPr id="32" name="Text 30"/>
          <p:cNvSpPr/>
          <p:nvPr/>
        </p:nvSpPr>
        <p:spPr>
          <a:xfrm>
            <a:off x="6858000" y="3959352"/>
            <a:ext cx="4572000" cy="457200"/>
          </a:xfrm>
          <a:prstGeom prst="rect">
            <a:avLst/>
          </a:prstGeom>
          <a:noFill/>
          <a:ln/>
        </p:spPr>
        <p:txBody>
          <a:bodyPr wrap="square" lIns="0" tIns="0" rIns="0" bIns="0" rtlCol="0" anchor="ctr"/>
          <a:lstStyle/>
          <a:p>
            <a:pPr indent="0" marL="0">
              <a:buNone/>
            </a:pPr>
            <a:r>
              <a:rPr lang="en-US" sz="1000" i="1" dirty="0">
                <a:solidFill>
                  <a:srgbClr val="2E7793"/>
                </a:solidFill>
                <a:latin typeface="Calibri" pitchFamily="34" charset="0"/>
                <a:ea typeface="Calibri" pitchFamily="34" charset="-122"/>
                <a:cs typeface="Calibri" pitchFamily="34" charset="-120"/>
              </a:rPr>
              <a:t>Köp lite till middagen</a:t>
            </a:r>
            <a:endParaRPr lang="en-US" sz="1000" dirty="0"/>
          </a:p>
        </p:txBody>
      </p:sp>
      <p:sp>
        <p:nvSpPr>
          <p:cNvPr id="33" name="Shape 31"/>
          <p:cNvSpPr/>
          <p:nvPr/>
        </p:nvSpPr>
        <p:spPr>
          <a:xfrm>
            <a:off x="640080" y="4526280"/>
            <a:ext cx="1097280" cy="457200"/>
          </a:xfrm>
          <a:prstGeom prst="ellipse">
            <a:avLst/>
          </a:prstGeom>
          <a:solidFill>
            <a:srgbClr val="2E7793"/>
          </a:solidFill>
          <a:ln w="12700">
            <a:solidFill>
              <a:srgbClr val="2E7793"/>
            </a:solidFill>
            <a:prstDash val="solid"/>
          </a:ln>
        </p:spPr>
      </p:sp>
      <p:sp>
        <p:nvSpPr>
          <p:cNvPr id="34" name="Text 32"/>
          <p:cNvSpPr/>
          <p:nvPr/>
        </p:nvSpPr>
        <p:spPr>
          <a:xfrm>
            <a:off x="640080" y="4526280"/>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13.30</a:t>
            </a:r>
            <a:endParaRPr lang="en-US" sz="1200" dirty="0"/>
          </a:p>
        </p:txBody>
      </p:sp>
      <p:sp>
        <p:nvSpPr>
          <p:cNvPr id="35" name="Shape 33"/>
          <p:cNvSpPr/>
          <p:nvPr/>
        </p:nvSpPr>
        <p:spPr>
          <a:xfrm>
            <a:off x="1188720" y="4983480"/>
            <a:ext cx="0" cy="109728"/>
          </a:xfrm>
          <a:prstGeom prst="line">
            <a:avLst/>
          </a:prstGeom>
          <a:noFill/>
          <a:ln w="25400">
            <a:solidFill>
              <a:srgbClr val="2E7793"/>
            </a:solidFill>
            <a:prstDash val="dash"/>
          </a:ln>
        </p:spPr>
      </p:sp>
      <p:sp>
        <p:nvSpPr>
          <p:cNvPr id="36" name="Text 34"/>
          <p:cNvSpPr/>
          <p:nvPr/>
        </p:nvSpPr>
        <p:spPr>
          <a:xfrm>
            <a:off x="2011680" y="4526280"/>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Lunch vid hamnen</a:t>
            </a:r>
            <a:endParaRPr lang="en-US" sz="1400" dirty="0"/>
          </a:p>
        </p:txBody>
      </p:sp>
      <p:sp>
        <p:nvSpPr>
          <p:cNvPr id="37" name="Text 35"/>
          <p:cNvSpPr/>
          <p:nvPr/>
        </p:nvSpPr>
        <p:spPr>
          <a:xfrm>
            <a:off x="2011680" y="4800600"/>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Le Quai 17 eller La Coquerie, fiskklassiker</a:t>
            </a:r>
            <a:endParaRPr lang="en-US" sz="1000" dirty="0"/>
          </a:p>
        </p:txBody>
      </p:sp>
      <p:sp>
        <p:nvSpPr>
          <p:cNvPr id="38" name="Text 36"/>
          <p:cNvSpPr/>
          <p:nvPr/>
        </p:nvSpPr>
        <p:spPr>
          <a:xfrm>
            <a:off x="6858000" y="4526280"/>
            <a:ext cx="4572000" cy="457200"/>
          </a:xfrm>
          <a:prstGeom prst="rect">
            <a:avLst/>
          </a:prstGeom>
          <a:noFill/>
          <a:ln/>
        </p:spPr>
        <p:txBody>
          <a:bodyPr wrap="square" lIns="0" tIns="0" rIns="0" bIns="0" rtlCol="0" anchor="ctr"/>
          <a:lstStyle/>
          <a:p>
            <a:pPr indent="0" marL="0">
              <a:buNone/>
            </a:pPr>
            <a:r>
              <a:rPr lang="en-US" sz="1000" i="1" dirty="0">
                <a:solidFill>
                  <a:srgbClr val="2E7793"/>
                </a:solidFill>
                <a:latin typeface="Calibri" pitchFamily="34" charset="0"/>
                <a:ea typeface="Calibri" pitchFamily="34" charset="-122"/>
                <a:cs typeface="Calibri" pitchFamily="34" charset="-120"/>
              </a:rPr>
              <a:t>Boka bord</a:t>
            </a:r>
            <a:endParaRPr lang="en-US" sz="1000" dirty="0"/>
          </a:p>
        </p:txBody>
      </p:sp>
      <p:sp>
        <p:nvSpPr>
          <p:cNvPr id="39" name="Shape 37"/>
          <p:cNvSpPr/>
          <p:nvPr/>
        </p:nvSpPr>
        <p:spPr>
          <a:xfrm>
            <a:off x="640080" y="5093208"/>
            <a:ext cx="1097280" cy="457200"/>
          </a:xfrm>
          <a:prstGeom prst="ellipse">
            <a:avLst/>
          </a:prstGeom>
          <a:solidFill>
            <a:srgbClr val="2E7793"/>
          </a:solidFill>
          <a:ln w="12700">
            <a:solidFill>
              <a:srgbClr val="2E7793"/>
            </a:solidFill>
            <a:prstDash val="solid"/>
          </a:ln>
        </p:spPr>
      </p:sp>
      <p:sp>
        <p:nvSpPr>
          <p:cNvPr id="40" name="Text 38"/>
          <p:cNvSpPr/>
          <p:nvPr/>
        </p:nvSpPr>
        <p:spPr>
          <a:xfrm>
            <a:off x="640080" y="5093208"/>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15.30</a:t>
            </a:r>
            <a:endParaRPr lang="en-US" sz="1200" dirty="0"/>
          </a:p>
        </p:txBody>
      </p:sp>
      <p:sp>
        <p:nvSpPr>
          <p:cNvPr id="41" name="Shape 39"/>
          <p:cNvSpPr/>
          <p:nvPr/>
        </p:nvSpPr>
        <p:spPr>
          <a:xfrm>
            <a:off x="1188720" y="5550408"/>
            <a:ext cx="0" cy="109728"/>
          </a:xfrm>
          <a:prstGeom prst="line">
            <a:avLst/>
          </a:prstGeom>
          <a:noFill/>
          <a:ln w="25400">
            <a:solidFill>
              <a:srgbClr val="2E7793"/>
            </a:solidFill>
            <a:prstDash val="dash"/>
          </a:ln>
        </p:spPr>
      </p:sp>
      <p:sp>
        <p:nvSpPr>
          <p:cNvPr id="42" name="Text 40"/>
          <p:cNvSpPr/>
          <p:nvPr/>
        </p:nvSpPr>
        <p:spPr>
          <a:xfrm>
            <a:off x="2011680" y="5093208"/>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Mont Saint-Clair</a:t>
            </a:r>
            <a:endParaRPr lang="en-US" sz="1400" dirty="0"/>
          </a:p>
        </p:txBody>
      </p:sp>
      <p:sp>
        <p:nvSpPr>
          <p:cNvPr id="43" name="Text 41"/>
          <p:cNvSpPr/>
          <p:nvPr/>
        </p:nvSpPr>
        <p:spPr>
          <a:xfrm>
            <a:off x="2011680" y="5367528"/>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Taxi eller buss upp, panoramautsikt över kusten</a:t>
            </a:r>
            <a:endParaRPr lang="en-US" sz="1000" dirty="0"/>
          </a:p>
        </p:txBody>
      </p:sp>
      <p:sp>
        <p:nvSpPr>
          <p:cNvPr id="44" name="Text 42"/>
          <p:cNvSpPr/>
          <p:nvPr/>
        </p:nvSpPr>
        <p:spPr>
          <a:xfrm>
            <a:off x="6858000" y="5093208"/>
            <a:ext cx="4572000" cy="457200"/>
          </a:xfrm>
          <a:prstGeom prst="rect">
            <a:avLst/>
          </a:prstGeom>
          <a:noFill/>
          <a:ln/>
        </p:spPr>
        <p:txBody>
          <a:bodyPr wrap="square" lIns="0" tIns="0" rIns="0" bIns="0" rtlCol="0" anchor="ctr"/>
          <a:lstStyle/>
          <a:p>
            <a:pPr indent="0" marL="0">
              <a:buNone/>
            </a:pPr>
            <a:r>
              <a:rPr lang="en-US" sz="1000" i="1" dirty="0">
                <a:solidFill>
                  <a:srgbClr val="2E7793"/>
                </a:solidFill>
                <a:latin typeface="Calibri" pitchFamily="34" charset="0"/>
                <a:ea typeface="Calibri" pitchFamily="34" charset="-122"/>
                <a:cs typeface="Calibri" pitchFamily="34" charset="-120"/>
              </a:rPr>
              <a:t>Toppen är 175 m</a:t>
            </a:r>
            <a:endParaRPr lang="en-US" sz="1000" dirty="0"/>
          </a:p>
        </p:txBody>
      </p:sp>
      <p:sp>
        <p:nvSpPr>
          <p:cNvPr id="45" name="Shape 43"/>
          <p:cNvSpPr/>
          <p:nvPr/>
        </p:nvSpPr>
        <p:spPr>
          <a:xfrm>
            <a:off x="640080" y="5660136"/>
            <a:ext cx="1097280" cy="457200"/>
          </a:xfrm>
          <a:prstGeom prst="ellipse">
            <a:avLst/>
          </a:prstGeom>
          <a:solidFill>
            <a:srgbClr val="2E7793"/>
          </a:solidFill>
          <a:ln w="12700">
            <a:solidFill>
              <a:srgbClr val="2E7793"/>
            </a:solidFill>
            <a:prstDash val="solid"/>
          </a:ln>
        </p:spPr>
      </p:sp>
      <p:sp>
        <p:nvSpPr>
          <p:cNvPr id="46" name="Text 44"/>
          <p:cNvSpPr/>
          <p:nvPr/>
        </p:nvSpPr>
        <p:spPr>
          <a:xfrm>
            <a:off x="640080" y="5660136"/>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17.00</a:t>
            </a:r>
            <a:endParaRPr lang="en-US" sz="1200" dirty="0"/>
          </a:p>
        </p:txBody>
      </p:sp>
      <p:sp>
        <p:nvSpPr>
          <p:cNvPr id="47" name="Shape 45"/>
          <p:cNvSpPr/>
          <p:nvPr/>
        </p:nvSpPr>
        <p:spPr>
          <a:xfrm>
            <a:off x="1188720" y="6117336"/>
            <a:ext cx="0" cy="109728"/>
          </a:xfrm>
          <a:prstGeom prst="line">
            <a:avLst/>
          </a:prstGeom>
          <a:noFill/>
          <a:ln w="25400">
            <a:solidFill>
              <a:srgbClr val="2E7793"/>
            </a:solidFill>
            <a:prstDash val="dash"/>
          </a:ln>
        </p:spPr>
      </p:sp>
      <p:sp>
        <p:nvSpPr>
          <p:cNvPr id="48" name="Text 46"/>
          <p:cNvSpPr/>
          <p:nvPr/>
        </p:nvSpPr>
        <p:spPr>
          <a:xfrm>
            <a:off x="2011680" y="5660136"/>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Plage de la Corniche</a:t>
            </a:r>
            <a:endParaRPr lang="en-US" sz="1400" dirty="0"/>
          </a:p>
        </p:txBody>
      </p:sp>
      <p:sp>
        <p:nvSpPr>
          <p:cNvPr id="49" name="Text 47"/>
          <p:cNvSpPr/>
          <p:nvPr/>
        </p:nvSpPr>
        <p:spPr>
          <a:xfrm>
            <a:off x="2011680" y="5934456"/>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Sen-eftermiddagspromenad eller dopp</a:t>
            </a:r>
            <a:endParaRPr lang="en-US" sz="1000" dirty="0"/>
          </a:p>
        </p:txBody>
      </p:sp>
      <p:sp>
        <p:nvSpPr>
          <p:cNvPr id="50" name="Text 48"/>
          <p:cNvSpPr/>
          <p:nvPr/>
        </p:nvSpPr>
        <p:spPr>
          <a:xfrm>
            <a:off x="6858000" y="5660136"/>
            <a:ext cx="4572000" cy="457200"/>
          </a:xfrm>
          <a:prstGeom prst="rect">
            <a:avLst/>
          </a:prstGeom>
          <a:noFill/>
          <a:ln/>
        </p:spPr>
        <p:txBody>
          <a:bodyPr wrap="square" lIns="0" tIns="0" rIns="0" bIns="0" rtlCol="0" anchor="ctr"/>
          <a:lstStyle/>
          <a:p>
            <a:pPr indent="0" marL="0">
              <a:buNone/>
            </a:pPr>
            <a:r>
              <a:rPr lang="en-US" sz="1000" i="1" dirty="0">
                <a:solidFill>
                  <a:srgbClr val="2E7793"/>
                </a:solidFill>
                <a:latin typeface="Calibri" pitchFamily="34" charset="0"/>
                <a:ea typeface="Calibri" pitchFamily="34" charset="-122"/>
                <a:cs typeface="Calibri" pitchFamily="34" charset="-120"/>
              </a:rPr>
              <a:t>Valfritt</a:t>
            </a:r>
            <a:endParaRPr lang="en-US" sz="1000" dirty="0"/>
          </a:p>
        </p:txBody>
      </p:sp>
      <p:sp>
        <p:nvSpPr>
          <p:cNvPr id="51" name="Shape 49"/>
          <p:cNvSpPr/>
          <p:nvPr/>
        </p:nvSpPr>
        <p:spPr>
          <a:xfrm>
            <a:off x="640080" y="6227064"/>
            <a:ext cx="1097280" cy="457200"/>
          </a:xfrm>
          <a:prstGeom prst="ellipse">
            <a:avLst/>
          </a:prstGeom>
          <a:solidFill>
            <a:srgbClr val="2E7793"/>
          </a:solidFill>
          <a:ln w="12700">
            <a:solidFill>
              <a:srgbClr val="2E7793"/>
            </a:solidFill>
            <a:prstDash val="solid"/>
          </a:ln>
        </p:spPr>
      </p:sp>
      <p:sp>
        <p:nvSpPr>
          <p:cNvPr id="52" name="Text 50"/>
          <p:cNvSpPr/>
          <p:nvPr/>
        </p:nvSpPr>
        <p:spPr>
          <a:xfrm>
            <a:off x="640080" y="6227064"/>
            <a:ext cx="109728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18.30</a:t>
            </a:r>
            <a:endParaRPr lang="en-US" sz="1200" dirty="0"/>
          </a:p>
        </p:txBody>
      </p:sp>
      <p:sp>
        <p:nvSpPr>
          <p:cNvPr id="53" name="Text 51"/>
          <p:cNvSpPr/>
          <p:nvPr/>
        </p:nvSpPr>
        <p:spPr>
          <a:xfrm>
            <a:off x="2011680" y="6227064"/>
            <a:ext cx="4572000" cy="292608"/>
          </a:xfrm>
          <a:prstGeom prst="rect">
            <a:avLst/>
          </a:prstGeom>
          <a:noFill/>
          <a:ln/>
        </p:spPr>
        <p:txBody>
          <a:bodyPr wrap="square" lIns="0" tIns="0" rIns="0" bIns="0" rtlCol="0" anchor="ctr"/>
          <a:lstStyle/>
          <a:p>
            <a:pPr indent="0" marL="0">
              <a:buNone/>
            </a:pPr>
            <a:r>
              <a:rPr lang="en-US" sz="1400" b="1" dirty="0">
                <a:solidFill>
                  <a:srgbClr val="1A2E3B"/>
                </a:solidFill>
                <a:latin typeface="Georgia" pitchFamily="34" charset="0"/>
                <a:ea typeface="Georgia" pitchFamily="34" charset="-122"/>
                <a:cs typeface="Georgia" pitchFamily="34" charset="-120"/>
              </a:rPr>
              <a:t>Tåg hem</a:t>
            </a:r>
            <a:endParaRPr lang="en-US" sz="1400" dirty="0"/>
          </a:p>
        </p:txBody>
      </p:sp>
      <p:sp>
        <p:nvSpPr>
          <p:cNvPr id="54" name="Text 52"/>
          <p:cNvSpPr/>
          <p:nvPr/>
        </p:nvSpPr>
        <p:spPr>
          <a:xfrm>
            <a:off x="2011680" y="6501384"/>
            <a:ext cx="9509760" cy="256032"/>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Tillbaka i Montpellier ca 19.00</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C26B4D"/>
        </a:solidFill>
      </p:bgPr>
    </p:bg>
    <p:spTree>
      <p:nvGrpSpPr>
        <p:cNvPr id="1" name=""/>
        <p:cNvGrpSpPr/>
        <p:nvPr/>
      </p:nvGrpSpPr>
      <p:grpSpPr>
        <a:xfrm>
          <a:off x="0" y="0"/>
          <a:ext cx="0" cy="0"/>
          <a:chOff x="0" y="0"/>
          <a:chExt cx="0" cy="0"/>
        </a:xfrm>
      </p:grpSpPr>
      <p:sp>
        <p:nvSpPr>
          <p:cNvPr id="2" name="Text 0"/>
          <p:cNvSpPr/>
          <p:nvPr/>
        </p:nvSpPr>
        <p:spPr>
          <a:xfrm>
            <a:off x="640080" y="2286000"/>
            <a:ext cx="10972800" cy="548640"/>
          </a:xfrm>
          <a:prstGeom prst="rect">
            <a:avLst/>
          </a:prstGeom>
          <a:noFill/>
          <a:ln/>
        </p:spPr>
        <p:txBody>
          <a:bodyPr wrap="square" lIns="0" tIns="0" rIns="0" bIns="0" rtlCol="0" anchor="ctr"/>
          <a:lstStyle/>
          <a:p>
            <a:pPr indent="0" marL="0">
              <a:buNone/>
            </a:pPr>
            <a:r>
              <a:rPr lang="en-US" sz="1800" i="1" spc="600" kern="0" dirty="0">
                <a:solidFill>
                  <a:srgbClr val="FFFFFF"/>
                </a:solidFill>
                <a:latin typeface="Georgia" pitchFamily="34" charset="0"/>
                <a:ea typeface="Georgia" pitchFamily="34" charset="-122"/>
                <a:cs typeface="Georgia" pitchFamily="34" charset="-120"/>
              </a:rPr>
              <a:t>Sektion 3</a:t>
            </a:r>
            <a:endParaRPr lang="en-US" sz="1800" dirty="0"/>
          </a:p>
        </p:txBody>
      </p:sp>
      <p:sp>
        <p:nvSpPr>
          <p:cNvPr id="3" name="Text 1"/>
          <p:cNvSpPr/>
          <p:nvPr/>
        </p:nvSpPr>
        <p:spPr>
          <a:xfrm>
            <a:off x="640080" y="2743200"/>
            <a:ext cx="10972800" cy="1371600"/>
          </a:xfrm>
          <a:prstGeom prst="rect">
            <a:avLst/>
          </a:prstGeom>
          <a:noFill/>
          <a:ln/>
        </p:spPr>
        <p:txBody>
          <a:bodyPr wrap="square" lIns="0" tIns="0" rIns="0" bIns="0" rtlCol="0" anchor="ctr"/>
          <a:lstStyle/>
          <a:p>
            <a:pPr indent="0" marL="0">
              <a:buNone/>
            </a:pPr>
            <a:r>
              <a:rPr lang="en-US" sz="6400" b="1" dirty="0">
                <a:solidFill>
                  <a:srgbClr val="FFFFFF"/>
                </a:solidFill>
                <a:latin typeface="Georgia" pitchFamily="34" charset="0"/>
                <a:ea typeface="Georgia" pitchFamily="34" charset="-122"/>
                <a:cs typeface="Georgia" pitchFamily="34" charset="-120"/>
              </a:rPr>
              <a:t>Middag</a:t>
            </a:r>
            <a:endParaRPr lang="en-US" sz="6400" dirty="0"/>
          </a:p>
        </p:txBody>
      </p:sp>
      <p:sp>
        <p:nvSpPr>
          <p:cNvPr id="4" name="Text 2"/>
          <p:cNvSpPr/>
          <p:nvPr/>
        </p:nvSpPr>
        <p:spPr>
          <a:xfrm>
            <a:off x="640080" y="4023360"/>
            <a:ext cx="10972800" cy="548640"/>
          </a:xfrm>
          <a:prstGeom prst="rect">
            <a:avLst/>
          </a:prstGeom>
          <a:noFill/>
          <a:ln/>
        </p:spPr>
        <p:txBody>
          <a:bodyPr wrap="square" lIns="0" tIns="0" rIns="0" bIns="0" rtlCol="0" anchor="ctr"/>
          <a:lstStyle/>
          <a:p>
            <a:pPr indent="0" marL="0">
              <a:buNone/>
            </a:pPr>
            <a:r>
              <a:rPr lang="en-US" sz="2200" i="1" dirty="0">
                <a:solidFill>
                  <a:srgbClr val="FBF7F0"/>
                </a:solidFill>
                <a:latin typeface="Georgia" pitchFamily="34" charset="0"/>
                <a:ea typeface="Georgia" pitchFamily="34" charset="-122"/>
                <a:cs typeface="Georgia" pitchFamily="34" charset="-120"/>
              </a:rPr>
              <a:t>Trerätters utan att binda någon vid spisen</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C26B4D"/>
          </a:solidFill>
          <a:ln w="12700">
            <a:solidFill>
              <a:srgbClr val="C26B4D"/>
            </a:solidFill>
            <a:prstDash val="solid"/>
          </a:ln>
        </p:spPr>
      </p:sp>
      <p:pic>
        <p:nvPicPr>
          <p:cNvPr id="3" name="Image 0" descr="preencoded.png">    </p:cNvPr>
          <p:cNvPicPr>
            <a:picLocks noChangeAspect="1"/>
          </p:cNvPicPr>
          <p:nvPr/>
        </p:nvPicPr>
        <p:blipFill>
          <a:blip r:embed="rId1"/>
          <a:stretch>
            <a:fillRect/>
          </a:stretch>
        </p:blipFill>
        <p:spPr>
          <a:xfrm>
            <a:off x="2194560" y="2103120"/>
            <a:ext cx="1828800" cy="1828800"/>
          </a:xfrm>
          <a:prstGeom prst="rect">
            <a:avLst/>
          </a:prstGeom>
        </p:spPr>
      </p:pic>
      <p:sp>
        <p:nvSpPr>
          <p:cNvPr id="4" name="Text 1"/>
          <p:cNvSpPr/>
          <p:nvPr/>
        </p:nvSpPr>
        <p:spPr>
          <a:xfrm>
            <a:off x="6126480" y="548640"/>
            <a:ext cx="5669280" cy="365760"/>
          </a:xfrm>
          <a:prstGeom prst="rect">
            <a:avLst/>
          </a:prstGeom>
          <a:noFill/>
          <a:ln/>
        </p:spPr>
        <p:txBody>
          <a:bodyPr wrap="square" lIns="0" tIns="0" rIns="0" bIns="0" rtlCol="0" anchor="ctr"/>
          <a:lstStyle/>
          <a:p>
            <a:pPr indent="0" marL="0">
              <a:buNone/>
            </a:pPr>
            <a:r>
              <a:rPr lang="en-US" sz="1200" b="1" spc="400" kern="0" dirty="0">
                <a:solidFill>
                  <a:srgbClr val="C26B4D"/>
                </a:solidFill>
                <a:latin typeface="Calibri" pitchFamily="34" charset="0"/>
                <a:ea typeface="Calibri" pitchFamily="34" charset="-122"/>
                <a:cs typeface="Calibri" pitchFamily="34" charset="-120"/>
              </a:rPr>
              <a:t>MAT SOM LAGAR SIG SJÄLV</a:t>
            </a:r>
            <a:endParaRPr lang="en-US" sz="1200" dirty="0"/>
          </a:p>
        </p:txBody>
      </p:sp>
      <p:sp>
        <p:nvSpPr>
          <p:cNvPr id="5" name="Text 2"/>
          <p:cNvSpPr/>
          <p:nvPr/>
        </p:nvSpPr>
        <p:spPr>
          <a:xfrm>
            <a:off x="6126480" y="914400"/>
            <a:ext cx="5669280" cy="1280160"/>
          </a:xfrm>
          <a:prstGeom prst="rect">
            <a:avLst/>
          </a:prstGeom>
          <a:noFill/>
          <a:ln/>
        </p:spPr>
        <p:txBody>
          <a:bodyPr wrap="square" lIns="0" tIns="0" rIns="0" bIns="0" rtlCol="0" anchor="ctr"/>
          <a:lstStyle/>
          <a:p>
            <a:pPr indent="0" marL="0">
              <a:buNone/>
            </a:pPr>
            <a:r>
              <a:rPr lang="en-US" sz="3600" b="1" dirty="0">
                <a:solidFill>
                  <a:srgbClr val="1A2E3B"/>
                </a:solidFill>
                <a:latin typeface="Georgia" pitchFamily="34" charset="0"/>
                <a:ea typeface="Georgia" pitchFamily="34" charset="-122"/>
                <a:cs typeface="Georgia" pitchFamily="34" charset="-120"/>
              </a:rPr>
              <a:t>Principen</a:t>
            </a:r>
            <a:endParaRPr lang="en-US" sz="3600" dirty="0"/>
          </a:p>
        </p:txBody>
      </p:sp>
      <p:sp>
        <p:nvSpPr>
          <p:cNvPr id="6" name="Text 3"/>
          <p:cNvSpPr/>
          <p:nvPr/>
        </p:nvSpPr>
        <p:spPr>
          <a:xfrm>
            <a:off x="6126480" y="2286000"/>
            <a:ext cx="5669280" cy="1371600"/>
          </a:xfrm>
          <a:prstGeom prst="rect">
            <a:avLst/>
          </a:prstGeom>
          <a:noFill/>
          <a:ln/>
        </p:spPr>
        <p:txBody>
          <a:bodyPr wrap="square" lIns="0" tIns="0" rIns="0" bIns="0" rtlCol="0" anchor="t"/>
          <a:lstStyle/>
          <a:p>
            <a:pPr indent="0" marL="0">
              <a:buNone/>
            </a:pPr>
            <a:r>
              <a:rPr lang="en-US" sz="1400" dirty="0">
                <a:solidFill>
                  <a:srgbClr val="5C6B73"/>
                </a:solidFill>
                <a:latin typeface="Calibri" pitchFamily="34" charset="0"/>
                <a:ea typeface="Calibri" pitchFamily="34" charset="-122"/>
                <a:cs typeface="Calibri" pitchFamily="34" charset="-120"/>
              </a:rPr>
              <a:t>Hela poängen är att ingen ska missa middagen genom att stå i köket. Allt förbereds dagen innan eller på morgonen. Kalla rätter monteras 5 min innan servering. Den varma huvudrätten står i ugnen och blir bättre av tiden. Desserten har frusit klar sedan kvällen innan.</a:t>
            </a:r>
            <a:endParaRPr lang="en-US" sz="1400" dirty="0"/>
          </a:p>
        </p:txBody>
      </p:sp>
      <p:sp>
        <p:nvSpPr>
          <p:cNvPr id="7" name="Shape 4"/>
          <p:cNvSpPr/>
          <p:nvPr/>
        </p:nvSpPr>
        <p:spPr>
          <a:xfrm>
            <a:off x="6126480" y="3794760"/>
            <a:ext cx="1783080" cy="777240"/>
          </a:xfrm>
          <a:prstGeom prst="rect">
            <a:avLst/>
          </a:prstGeom>
          <a:solidFill>
            <a:srgbClr val="FFFFFF"/>
          </a:solidFill>
          <a:ln w="12700">
            <a:solidFill>
              <a:srgbClr val="E8DFD0"/>
            </a:solidFill>
            <a:prstDash val="solid"/>
          </a:ln>
        </p:spPr>
      </p:sp>
      <p:pic>
        <p:nvPicPr>
          <p:cNvPr id="8" name="Image 1" descr="preencoded.png">    </p:cNvPr>
          <p:cNvPicPr>
            <a:picLocks noChangeAspect="1"/>
          </p:cNvPicPr>
          <p:nvPr/>
        </p:nvPicPr>
        <p:blipFill>
          <a:blip r:embed="rId2"/>
          <a:stretch>
            <a:fillRect/>
          </a:stretch>
        </p:blipFill>
        <p:spPr>
          <a:xfrm>
            <a:off x="6263640" y="3931920"/>
            <a:ext cx="274320" cy="274320"/>
          </a:xfrm>
          <a:prstGeom prst="rect">
            <a:avLst/>
          </a:prstGeom>
        </p:spPr>
      </p:pic>
      <p:sp>
        <p:nvSpPr>
          <p:cNvPr id="9" name="Text 5"/>
          <p:cNvSpPr/>
          <p:nvPr/>
        </p:nvSpPr>
        <p:spPr>
          <a:xfrm>
            <a:off x="6629400"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FÖRBEREDELSE</a:t>
            </a:r>
            <a:endParaRPr lang="en-US" sz="800" dirty="0"/>
          </a:p>
        </p:txBody>
      </p:sp>
      <p:sp>
        <p:nvSpPr>
          <p:cNvPr id="10" name="Text 6"/>
          <p:cNvSpPr/>
          <p:nvPr/>
        </p:nvSpPr>
        <p:spPr>
          <a:xfrm>
            <a:off x="6629400"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Mest dagen innan</a:t>
            </a:r>
            <a:endParaRPr lang="en-US" sz="1100" dirty="0"/>
          </a:p>
        </p:txBody>
      </p:sp>
      <p:sp>
        <p:nvSpPr>
          <p:cNvPr id="11" name="Shape 7"/>
          <p:cNvSpPr/>
          <p:nvPr/>
        </p:nvSpPr>
        <p:spPr>
          <a:xfrm>
            <a:off x="8074152" y="3794760"/>
            <a:ext cx="1783080" cy="777240"/>
          </a:xfrm>
          <a:prstGeom prst="rect">
            <a:avLst/>
          </a:prstGeom>
          <a:solidFill>
            <a:srgbClr val="FFFFFF"/>
          </a:solidFill>
          <a:ln w="12700">
            <a:solidFill>
              <a:srgbClr val="E8DFD0"/>
            </a:solidFill>
            <a:prstDash val="solid"/>
          </a:ln>
        </p:spPr>
      </p:sp>
      <p:pic>
        <p:nvPicPr>
          <p:cNvPr id="12" name="Image 2" descr="preencoded.png">    </p:cNvPr>
          <p:cNvPicPr>
            <a:picLocks noChangeAspect="1"/>
          </p:cNvPicPr>
          <p:nvPr/>
        </p:nvPicPr>
        <p:blipFill>
          <a:blip r:embed="rId3"/>
          <a:stretch>
            <a:fillRect/>
          </a:stretch>
        </p:blipFill>
        <p:spPr>
          <a:xfrm>
            <a:off x="8211312" y="3931920"/>
            <a:ext cx="274320" cy="274320"/>
          </a:xfrm>
          <a:prstGeom prst="rect">
            <a:avLst/>
          </a:prstGeom>
        </p:spPr>
      </p:pic>
      <p:sp>
        <p:nvSpPr>
          <p:cNvPr id="13" name="Text 8"/>
          <p:cNvSpPr/>
          <p:nvPr/>
        </p:nvSpPr>
        <p:spPr>
          <a:xfrm>
            <a:off x="8577072"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VID BORDET</a:t>
            </a:r>
            <a:endParaRPr lang="en-US" sz="800" dirty="0"/>
          </a:p>
        </p:txBody>
      </p:sp>
      <p:sp>
        <p:nvSpPr>
          <p:cNvPr id="14" name="Text 9"/>
          <p:cNvSpPr/>
          <p:nvPr/>
        </p:nvSpPr>
        <p:spPr>
          <a:xfrm>
            <a:off x="8577072"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Alla 7, hela tiden</a:t>
            </a:r>
            <a:endParaRPr lang="en-US" sz="1100" dirty="0"/>
          </a:p>
        </p:txBody>
      </p:sp>
      <p:sp>
        <p:nvSpPr>
          <p:cNvPr id="15" name="Shape 10"/>
          <p:cNvSpPr/>
          <p:nvPr/>
        </p:nvSpPr>
        <p:spPr>
          <a:xfrm>
            <a:off x="10021824" y="3794760"/>
            <a:ext cx="1783080" cy="777240"/>
          </a:xfrm>
          <a:prstGeom prst="rect">
            <a:avLst/>
          </a:prstGeom>
          <a:solidFill>
            <a:srgbClr val="FFFFFF"/>
          </a:solidFill>
          <a:ln w="12700">
            <a:solidFill>
              <a:srgbClr val="E8DFD0"/>
            </a:solidFill>
            <a:prstDash val="solid"/>
          </a:ln>
        </p:spPr>
      </p:sp>
      <p:pic>
        <p:nvPicPr>
          <p:cNvPr id="16" name="Image 3" descr="preencoded.png">    </p:cNvPr>
          <p:cNvPicPr>
            <a:picLocks noChangeAspect="1"/>
          </p:cNvPicPr>
          <p:nvPr/>
        </p:nvPicPr>
        <p:blipFill>
          <a:blip r:embed="rId4"/>
          <a:stretch>
            <a:fillRect/>
          </a:stretch>
        </p:blipFill>
        <p:spPr>
          <a:xfrm>
            <a:off x="10158984" y="3931920"/>
            <a:ext cx="274320" cy="274320"/>
          </a:xfrm>
          <a:prstGeom prst="rect">
            <a:avLst/>
          </a:prstGeom>
        </p:spPr>
      </p:pic>
      <p:sp>
        <p:nvSpPr>
          <p:cNvPr id="17" name="Text 11"/>
          <p:cNvSpPr/>
          <p:nvPr/>
        </p:nvSpPr>
        <p:spPr>
          <a:xfrm>
            <a:off x="10524744"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TID I KÖK 19-21</a:t>
            </a:r>
            <a:endParaRPr lang="en-US" sz="800" dirty="0"/>
          </a:p>
        </p:txBody>
      </p:sp>
      <p:sp>
        <p:nvSpPr>
          <p:cNvPr id="18" name="Text 12"/>
          <p:cNvSpPr/>
          <p:nvPr/>
        </p:nvSpPr>
        <p:spPr>
          <a:xfrm>
            <a:off x="10524744"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Max 15 min</a:t>
            </a:r>
            <a:endParaRPr lang="en-US" sz="1100" dirty="0"/>
          </a:p>
        </p:txBody>
      </p:sp>
      <p:sp>
        <p:nvSpPr>
          <p:cNvPr id="19" name="Text 13"/>
          <p:cNvSpPr/>
          <p:nvPr/>
        </p:nvSpPr>
        <p:spPr>
          <a:xfrm>
            <a:off x="6126480" y="4800600"/>
            <a:ext cx="5669280" cy="274320"/>
          </a:xfrm>
          <a:prstGeom prst="rect">
            <a:avLst/>
          </a:prstGeom>
          <a:noFill/>
          <a:ln/>
        </p:spPr>
        <p:txBody>
          <a:bodyPr wrap="square" lIns="0" tIns="0" rIns="0" bIns="0" rtlCol="0" anchor="ctr"/>
          <a:lstStyle/>
          <a:p>
            <a:pPr indent="0" marL="0">
              <a:buNone/>
            </a:pPr>
            <a:r>
              <a:rPr lang="en-US" sz="1000" b="1" spc="400" kern="0" dirty="0">
                <a:solidFill>
                  <a:srgbClr val="C26B4D"/>
                </a:solidFill>
                <a:latin typeface="Calibri" pitchFamily="34" charset="0"/>
                <a:ea typeface="Calibri" pitchFamily="34" charset="-122"/>
                <a:cs typeface="Calibri" pitchFamily="34" charset="-120"/>
              </a:rPr>
              <a:t>PRAKTISKA TIPS</a:t>
            </a:r>
            <a:endParaRPr lang="en-US" sz="1000" dirty="0"/>
          </a:p>
        </p:txBody>
      </p:sp>
      <p:sp>
        <p:nvSpPr>
          <p:cNvPr id="20" name="Text 14"/>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Allt som kan förberedas dagen innan, gör då</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Inget som kräver finputs i sista sekund</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Ugnen är din vän, sätt mitt på dagen och glöm</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Varma tillbehör räcker, ingen het sås att vakta</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7A9471"/>
          </a:solidFill>
          <a:ln w="12700">
            <a:solidFill>
              <a:srgbClr val="7A9471"/>
            </a:solidFill>
            <a:prstDash val="solid"/>
          </a:ln>
        </p:spPr>
      </p:sp>
      <p:pic>
        <p:nvPicPr>
          <p:cNvPr id="3" name="Image 0" descr="preencoded.png">    </p:cNvPr>
          <p:cNvPicPr>
            <a:picLocks noChangeAspect="1"/>
          </p:cNvPicPr>
          <p:nvPr/>
        </p:nvPicPr>
        <p:blipFill>
          <a:blip r:embed="rId1"/>
          <a:stretch>
            <a:fillRect/>
          </a:stretch>
        </p:blipFill>
        <p:spPr>
          <a:xfrm>
            <a:off x="2194560" y="2103120"/>
            <a:ext cx="1828800" cy="1828800"/>
          </a:xfrm>
          <a:prstGeom prst="rect">
            <a:avLst/>
          </a:prstGeom>
        </p:spPr>
      </p:pic>
      <p:sp>
        <p:nvSpPr>
          <p:cNvPr id="4" name="Text 1"/>
          <p:cNvSpPr/>
          <p:nvPr/>
        </p:nvSpPr>
        <p:spPr>
          <a:xfrm>
            <a:off x="6126480" y="548640"/>
            <a:ext cx="5669280" cy="365760"/>
          </a:xfrm>
          <a:prstGeom prst="rect">
            <a:avLst/>
          </a:prstGeom>
          <a:noFill/>
          <a:ln/>
        </p:spPr>
        <p:txBody>
          <a:bodyPr wrap="square" lIns="0" tIns="0" rIns="0" bIns="0" rtlCol="0" anchor="ctr"/>
          <a:lstStyle/>
          <a:p>
            <a:pPr indent="0" marL="0">
              <a:buNone/>
            </a:pPr>
            <a:r>
              <a:rPr lang="en-US" sz="1200" b="1" spc="400" kern="0" dirty="0">
                <a:solidFill>
                  <a:srgbClr val="7A9471"/>
                </a:solidFill>
                <a:latin typeface="Calibri" pitchFamily="34" charset="0"/>
                <a:ea typeface="Calibri" pitchFamily="34" charset="-122"/>
                <a:cs typeface="Calibri" pitchFamily="34" charset="-120"/>
              </a:rPr>
              <a:t>FÖRRÄTT · SERVERAS KALL</a:t>
            </a:r>
            <a:endParaRPr lang="en-US" sz="1200" dirty="0"/>
          </a:p>
        </p:txBody>
      </p:sp>
      <p:sp>
        <p:nvSpPr>
          <p:cNvPr id="5" name="Text 2"/>
          <p:cNvSpPr/>
          <p:nvPr/>
        </p:nvSpPr>
        <p:spPr>
          <a:xfrm>
            <a:off x="6126480" y="914400"/>
            <a:ext cx="5669280" cy="1280160"/>
          </a:xfrm>
          <a:prstGeom prst="rect">
            <a:avLst/>
          </a:prstGeom>
          <a:noFill/>
          <a:ln/>
        </p:spPr>
        <p:txBody>
          <a:bodyPr wrap="square" lIns="0" tIns="0" rIns="0" bIns="0" rtlCol="0" anchor="ctr"/>
          <a:lstStyle/>
          <a:p>
            <a:pPr indent="0" marL="0">
              <a:buNone/>
            </a:pPr>
            <a:r>
              <a:rPr lang="en-US" sz="3600" b="1" dirty="0">
                <a:solidFill>
                  <a:srgbClr val="1A2E3B"/>
                </a:solidFill>
                <a:latin typeface="Georgia" pitchFamily="34" charset="0"/>
                <a:ea typeface="Georgia" pitchFamily="34" charset="-122"/>
                <a:cs typeface="Georgia" pitchFamily="34" charset="-120"/>
              </a:rPr>
              <a:t>Tomatsallad med burrata</a:t>
            </a:r>
            <a:endParaRPr lang="en-US" sz="3600" dirty="0"/>
          </a:p>
        </p:txBody>
      </p:sp>
      <p:sp>
        <p:nvSpPr>
          <p:cNvPr id="6" name="Text 3"/>
          <p:cNvSpPr/>
          <p:nvPr/>
        </p:nvSpPr>
        <p:spPr>
          <a:xfrm>
            <a:off x="6126480" y="2286000"/>
            <a:ext cx="5669280" cy="1371600"/>
          </a:xfrm>
          <a:prstGeom prst="rect">
            <a:avLst/>
          </a:prstGeom>
          <a:noFill/>
          <a:ln/>
        </p:spPr>
        <p:txBody>
          <a:bodyPr wrap="square" lIns="0" tIns="0" rIns="0" bIns="0" rtlCol="0" anchor="t"/>
          <a:lstStyle/>
          <a:p>
            <a:pPr indent="0" marL="0">
              <a:buNone/>
            </a:pPr>
            <a:r>
              <a:rPr lang="en-US" sz="1400" dirty="0">
                <a:solidFill>
                  <a:srgbClr val="5C6B73"/>
                </a:solidFill>
                <a:latin typeface="Calibri" pitchFamily="34" charset="0"/>
                <a:ea typeface="Calibri" pitchFamily="34" charset="-122"/>
                <a:cs typeface="Calibri" pitchFamily="34" charset="-120"/>
              </a:rPr>
              <a:t>Lokala tomater i juli är fantastiska, det här är säsongens enklaste och mest perfekta förrätt. Halva burrator på fyra tallrikar, runtom skivade tomater i olika färger, basilika, fleur de sel, riktigt god olivolja. Färdig på 5 minuter när det är dags att servera.</a:t>
            </a:r>
            <a:endParaRPr lang="en-US" sz="1400" dirty="0"/>
          </a:p>
        </p:txBody>
      </p:sp>
      <p:sp>
        <p:nvSpPr>
          <p:cNvPr id="7" name="Shape 4"/>
          <p:cNvSpPr/>
          <p:nvPr/>
        </p:nvSpPr>
        <p:spPr>
          <a:xfrm>
            <a:off x="6126480" y="3794760"/>
            <a:ext cx="1783080" cy="777240"/>
          </a:xfrm>
          <a:prstGeom prst="rect">
            <a:avLst/>
          </a:prstGeom>
          <a:solidFill>
            <a:srgbClr val="FFFFFF"/>
          </a:solidFill>
          <a:ln w="12700">
            <a:solidFill>
              <a:srgbClr val="E8DFD0"/>
            </a:solidFill>
            <a:prstDash val="solid"/>
          </a:ln>
        </p:spPr>
      </p:sp>
      <p:pic>
        <p:nvPicPr>
          <p:cNvPr id="8" name="Image 1" descr="preencoded.png">    </p:cNvPr>
          <p:cNvPicPr>
            <a:picLocks noChangeAspect="1"/>
          </p:cNvPicPr>
          <p:nvPr/>
        </p:nvPicPr>
        <p:blipFill>
          <a:blip r:embed="rId2"/>
          <a:stretch>
            <a:fillRect/>
          </a:stretch>
        </p:blipFill>
        <p:spPr>
          <a:xfrm>
            <a:off x="6263640" y="3931920"/>
            <a:ext cx="274320" cy="274320"/>
          </a:xfrm>
          <a:prstGeom prst="rect">
            <a:avLst/>
          </a:prstGeom>
        </p:spPr>
      </p:pic>
      <p:sp>
        <p:nvSpPr>
          <p:cNvPr id="9" name="Text 5"/>
          <p:cNvSpPr/>
          <p:nvPr/>
        </p:nvSpPr>
        <p:spPr>
          <a:xfrm>
            <a:off x="6629400"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FÖRBEREDELSE</a:t>
            </a:r>
            <a:endParaRPr lang="en-US" sz="800" dirty="0"/>
          </a:p>
        </p:txBody>
      </p:sp>
      <p:sp>
        <p:nvSpPr>
          <p:cNvPr id="10" name="Text 6"/>
          <p:cNvSpPr/>
          <p:nvPr/>
        </p:nvSpPr>
        <p:spPr>
          <a:xfrm>
            <a:off x="6629400"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5 min innan servering</a:t>
            </a:r>
            <a:endParaRPr lang="en-US" sz="1100" dirty="0"/>
          </a:p>
        </p:txBody>
      </p:sp>
      <p:sp>
        <p:nvSpPr>
          <p:cNvPr id="11" name="Shape 7"/>
          <p:cNvSpPr/>
          <p:nvPr/>
        </p:nvSpPr>
        <p:spPr>
          <a:xfrm>
            <a:off x="8074152" y="3794760"/>
            <a:ext cx="1783080" cy="777240"/>
          </a:xfrm>
          <a:prstGeom prst="rect">
            <a:avLst/>
          </a:prstGeom>
          <a:solidFill>
            <a:srgbClr val="FFFFFF"/>
          </a:solidFill>
          <a:ln w="12700">
            <a:solidFill>
              <a:srgbClr val="E8DFD0"/>
            </a:solidFill>
            <a:prstDash val="solid"/>
          </a:ln>
        </p:spPr>
      </p:sp>
      <p:pic>
        <p:nvPicPr>
          <p:cNvPr id="12" name="Image 2" descr="preencoded.png">    </p:cNvPr>
          <p:cNvPicPr>
            <a:picLocks noChangeAspect="1"/>
          </p:cNvPicPr>
          <p:nvPr/>
        </p:nvPicPr>
        <p:blipFill>
          <a:blip r:embed="rId3"/>
          <a:stretch>
            <a:fillRect/>
          </a:stretch>
        </p:blipFill>
        <p:spPr>
          <a:xfrm>
            <a:off x="8211312" y="3931920"/>
            <a:ext cx="274320" cy="274320"/>
          </a:xfrm>
          <a:prstGeom prst="rect">
            <a:avLst/>
          </a:prstGeom>
        </p:spPr>
      </p:pic>
      <p:sp>
        <p:nvSpPr>
          <p:cNvPr id="13" name="Text 8"/>
          <p:cNvSpPr/>
          <p:nvPr/>
        </p:nvSpPr>
        <p:spPr>
          <a:xfrm>
            <a:off x="8577072"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INKÖP</a:t>
            </a:r>
            <a:endParaRPr lang="en-US" sz="800" dirty="0"/>
          </a:p>
        </p:txBody>
      </p:sp>
      <p:sp>
        <p:nvSpPr>
          <p:cNvPr id="14" name="Text 9"/>
          <p:cNvSpPr/>
          <p:nvPr/>
        </p:nvSpPr>
        <p:spPr>
          <a:xfrm>
            <a:off x="8577072"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Halles Castellane</a:t>
            </a:r>
            <a:endParaRPr lang="en-US" sz="1100" dirty="0"/>
          </a:p>
        </p:txBody>
      </p:sp>
      <p:sp>
        <p:nvSpPr>
          <p:cNvPr id="15" name="Shape 10"/>
          <p:cNvSpPr/>
          <p:nvPr/>
        </p:nvSpPr>
        <p:spPr>
          <a:xfrm>
            <a:off x="10021824" y="3794760"/>
            <a:ext cx="1783080" cy="777240"/>
          </a:xfrm>
          <a:prstGeom prst="rect">
            <a:avLst/>
          </a:prstGeom>
          <a:solidFill>
            <a:srgbClr val="FFFFFF"/>
          </a:solidFill>
          <a:ln w="12700">
            <a:solidFill>
              <a:srgbClr val="E8DFD0"/>
            </a:solidFill>
            <a:prstDash val="solid"/>
          </a:ln>
        </p:spPr>
      </p:sp>
      <p:pic>
        <p:nvPicPr>
          <p:cNvPr id="16" name="Image 3" descr="preencoded.png">    </p:cNvPr>
          <p:cNvPicPr>
            <a:picLocks noChangeAspect="1"/>
          </p:cNvPicPr>
          <p:nvPr/>
        </p:nvPicPr>
        <p:blipFill>
          <a:blip r:embed="rId4"/>
          <a:stretch>
            <a:fillRect/>
          </a:stretch>
        </p:blipFill>
        <p:spPr>
          <a:xfrm>
            <a:off x="10158984" y="3931920"/>
            <a:ext cx="274320" cy="274320"/>
          </a:xfrm>
          <a:prstGeom prst="rect">
            <a:avLst/>
          </a:prstGeom>
        </p:spPr>
      </p:pic>
      <p:sp>
        <p:nvSpPr>
          <p:cNvPr id="17" name="Text 11"/>
          <p:cNvSpPr/>
          <p:nvPr/>
        </p:nvSpPr>
        <p:spPr>
          <a:xfrm>
            <a:off x="10524744"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DRYCK</a:t>
            </a:r>
            <a:endParaRPr lang="en-US" sz="800" dirty="0"/>
          </a:p>
        </p:txBody>
      </p:sp>
      <p:sp>
        <p:nvSpPr>
          <p:cNvPr id="18" name="Text 12"/>
          <p:cNvSpPr/>
          <p:nvPr/>
        </p:nvSpPr>
        <p:spPr>
          <a:xfrm>
            <a:off x="10524744"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Picpoul de Pinet</a:t>
            </a:r>
            <a:endParaRPr lang="en-US" sz="1100" dirty="0"/>
          </a:p>
        </p:txBody>
      </p:sp>
      <p:sp>
        <p:nvSpPr>
          <p:cNvPr id="19" name="Text 13"/>
          <p:cNvSpPr/>
          <p:nvPr/>
        </p:nvSpPr>
        <p:spPr>
          <a:xfrm>
            <a:off x="6126480" y="4800600"/>
            <a:ext cx="5669280" cy="274320"/>
          </a:xfrm>
          <a:prstGeom prst="rect">
            <a:avLst/>
          </a:prstGeom>
          <a:noFill/>
          <a:ln/>
        </p:spPr>
        <p:txBody>
          <a:bodyPr wrap="square" lIns="0" tIns="0" rIns="0" bIns="0" rtlCol="0" anchor="ctr"/>
          <a:lstStyle/>
          <a:p>
            <a:pPr indent="0" marL="0">
              <a:buNone/>
            </a:pPr>
            <a:r>
              <a:rPr lang="en-US" sz="1000" b="1" spc="400" kern="0" dirty="0">
                <a:solidFill>
                  <a:srgbClr val="7A9471"/>
                </a:solidFill>
                <a:latin typeface="Calibri" pitchFamily="34" charset="0"/>
                <a:ea typeface="Calibri" pitchFamily="34" charset="-122"/>
                <a:cs typeface="Calibri" pitchFamily="34" charset="-120"/>
              </a:rPr>
              <a:t>PRAKTISKA TIPS</a:t>
            </a:r>
            <a:endParaRPr lang="en-US" sz="1000" dirty="0"/>
          </a:p>
        </p:txBody>
      </p:sp>
      <p:sp>
        <p:nvSpPr>
          <p:cNvPr id="20" name="Text 14"/>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Tomater i tre färger, gärna Coeur de Boeuf</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Burrata från en bra ostbutik, inte snålt</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Olivolja från regionen, gärna Pic Saint-Loup</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Basilika och flaksalt på toppen i sista sekund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9C4F35"/>
          </a:solidFill>
          <a:ln w="12700">
            <a:solidFill>
              <a:srgbClr val="9C4F35"/>
            </a:solidFill>
            <a:prstDash val="solid"/>
          </a:ln>
        </p:spPr>
      </p:sp>
      <p:pic>
        <p:nvPicPr>
          <p:cNvPr id="3" name="Image 0" descr="preencoded.png">    </p:cNvPr>
          <p:cNvPicPr>
            <a:picLocks noChangeAspect="1"/>
          </p:cNvPicPr>
          <p:nvPr/>
        </p:nvPicPr>
        <p:blipFill>
          <a:blip r:embed="rId1"/>
          <a:stretch>
            <a:fillRect/>
          </a:stretch>
        </p:blipFill>
        <p:spPr>
          <a:xfrm>
            <a:off x="2194560" y="2103120"/>
            <a:ext cx="1828800" cy="1828800"/>
          </a:xfrm>
          <a:prstGeom prst="rect">
            <a:avLst/>
          </a:prstGeom>
        </p:spPr>
      </p:pic>
      <p:sp>
        <p:nvSpPr>
          <p:cNvPr id="4" name="Text 1"/>
          <p:cNvSpPr/>
          <p:nvPr/>
        </p:nvSpPr>
        <p:spPr>
          <a:xfrm>
            <a:off x="6126480" y="548640"/>
            <a:ext cx="5669280" cy="365760"/>
          </a:xfrm>
          <a:prstGeom prst="rect">
            <a:avLst/>
          </a:prstGeom>
          <a:noFill/>
          <a:ln/>
        </p:spPr>
        <p:txBody>
          <a:bodyPr wrap="square" lIns="0" tIns="0" rIns="0" bIns="0" rtlCol="0" anchor="ctr"/>
          <a:lstStyle/>
          <a:p>
            <a:pPr indent="0" marL="0">
              <a:buNone/>
            </a:pPr>
            <a:r>
              <a:rPr lang="en-US" sz="1200" b="1" spc="400" kern="0" dirty="0">
                <a:solidFill>
                  <a:srgbClr val="9C4F35"/>
                </a:solidFill>
                <a:latin typeface="Calibri" pitchFamily="34" charset="0"/>
                <a:ea typeface="Calibri" pitchFamily="34" charset="-122"/>
                <a:cs typeface="Calibri" pitchFamily="34" charset="-120"/>
              </a:rPr>
              <a:t>HUVUDRÄTT · STÅR I UGNEN</a:t>
            </a:r>
            <a:endParaRPr lang="en-US" sz="1200" dirty="0"/>
          </a:p>
        </p:txBody>
      </p:sp>
      <p:sp>
        <p:nvSpPr>
          <p:cNvPr id="5" name="Text 2"/>
          <p:cNvSpPr/>
          <p:nvPr/>
        </p:nvSpPr>
        <p:spPr>
          <a:xfrm>
            <a:off x="6126480" y="914400"/>
            <a:ext cx="5669280" cy="1280160"/>
          </a:xfrm>
          <a:prstGeom prst="rect">
            <a:avLst/>
          </a:prstGeom>
          <a:noFill/>
          <a:ln/>
        </p:spPr>
        <p:txBody>
          <a:bodyPr wrap="square" lIns="0" tIns="0" rIns="0" bIns="0" rtlCol="0" anchor="ctr"/>
          <a:lstStyle/>
          <a:p>
            <a:pPr indent="0" marL="0">
              <a:buNone/>
            </a:pPr>
            <a:r>
              <a:rPr lang="en-US" sz="3600" b="1" dirty="0">
                <a:solidFill>
                  <a:srgbClr val="1A2E3B"/>
                </a:solidFill>
                <a:latin typeface="Georgia" pitchFamily="34" charset="0"/>
                <a:ea typeface="Georgia" pitchFamily="34" charset="-122"/>
                <a:cs typeface="Georgia" pitchFamily="34" charset="-120"/>
              </a:rPr>
              <a:t>Långkokt lammbog med ratatouille</a:t>
            </a:r>
            <a:endParaRPr lang="en-US" sz="3600" dirty="0"/>
          </a:p>
        </p:txBody>
      </p:sp>
      <p:sp>
        <p:nvSpPr>
          <p:cNvPr id="6" name="Text 3"/>
          <p:cNvSpPr/>
          <p:nvPr/>
        </p:nvSpPr>
        <p:spPr>
          <a:xfrm>
            <a:off x="6126480" y="2286000"/>
            <a:ext cx="5669280" cy="1371600"/>
          </a:xfrm>
          <a:prstGeom prst="rect">
            <a:avLst/>
          </a:prstGeom>
          <a:noFill/>
          <a:ln/>
        </p:spPr>
        <p:txBody>
          <a:bodyPr wrap="square" lIns="0" tIns="0" rIns="0" bIns="0" rtlCol="0" anchor="t"/>
          <a:lstStyle/>
          <a:p>
            <a:pPr indent="0" marL="0">
              <a:buNone/>
            </a:pPr>
            <a:r>
              <a:rPr lang="en-US" sz="1400" dirty="0">
                <a:solidFill>
                  <a:srgbClr val="5C6B73"/>
                </a:solidFill>
                <a:latin typeface="Calibri" pitchFamily="34" charset="0"/>
                <a:ea typeface="Calibri" pitchFamily="34" charset="-122"/>
                <a:cs typeface="Calibri" pitchFamily="34" charset="-120"/>
              </a:rPr>
              <a:t>Sätts in i ugnen senast kl 14, står på låg värme och blir bara bättre. När familjen kommer hem från utflykten är hela huset doftande och köttet faller från benet. Ratatouille kan tillagas dagen innan, smakar ännu bättre dag två. Servera med lokalt bröd för att soppa upp såsen.</a:t>
            </a:r>
            <a:endParaRPr lang="en-US" sz="1400" dirty="0"/>
          </a:p>
        </p:txBody>
      </p:sp>
      <p:sp>
        <p:nvSpPr>
          <p:cNvPr id="7" name="Shape 4"/>
          <p:cNvSpPr/>
          <p:nvPr/>
        </p:nvSpPr>
        <p:spPr>
          <a:xfrm>
            <a:off x="6126480" y="3794760"/>
            <a:ext cx="1783080" cy="777240"/>
          </a:xfrm>
          <a:prstGeom prst="rect">
            <a:avLst/>
          </a:prstGeom>
          <a:solidFill>
            <a:srgbClr val="FFFFFF"/>
          </a:solidFill>
          <a:ln w="12700">
            <a:solidFill>
              <a:srgbClr val="E8DFD0"/>
            </a:solidFill>
            <a:prstDash val="solid"/>
          </a:ln>
        </p:spPr>
      </p:sp>
      <p:pic>
        <p:nvPicPr>
          <p:cNvPr id="8" name="Image 1" descr="preencoded.png">    </p:cNvPr>
          <p:cNvPicPr>
            <a:picLocks noChangeAspect="1"/>
          </p:cNvPicPr>
          <p:nvPr/>
        </p:nvPicPr>
        <p:blipFill>
          <a:blip r:embed="rId2"/>
          <a:stretch>
            <a:fillRect/>
          </a:stretch>
        </p:blipFill>
        <p:spPr>
          <a:xfrm>
            <a:off x="6263640" y="3931920"/>
            <a:ext cx="274320" cy="274320"/>
          </a:xfrm>
          <a:prstGeom prst="rect">
            <a:avLst/>
          </a:prstGeom>
        </p:spPr>
      </p:pic>
      <p:sp>
        <p:nvSpPr>
          <p:cNvPr id="9" name="Text 5"/>
          <p:cNvSpPr/>
          <p:nvPr/>
        </p:nvSpPr>
        <p:spPr>
          <a:xfrm>
            <a:off x="6629400"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I UGNEN</a:t>
            </a:r>
            <a:endParaRPr lang="en-US" sz="800" dirty="0"/>
          </a:p>
        </p:txBody>
      </p:sp>
      <p:sp>
        <p:nvSpPr>
          <p:cNvPr id="10" name="Text 6"/>
          <p:cNvSpPr/>
          <p:nvPr/>
        </p:nvSpPr>
        <p:spPr>
          <a:xfrm>
            <a:off x="6629400"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Från ca 14.00</a:t>
            </a:r>
            <a:endParaRPr lang="en-US" sz="1100" dirty="0"/>
          </a:p>
        </p:txBody>
      </p:sp>
      <p:sp>
        <p:nvSpPr>
          <p:cNvPr id="11" name="Shape 7"/>
          <p:cNvSpPr/>
          <p:nvPr/>
        </p:nvSpPr>
        <p:spPr>
          <a:xfrm>
            <a:off x="8074152" y="3794760"/>
            <a:ext cx="1783080" cy="777240"/>
          </a:xfrm>
          <a:prstGeom prst="rect">
            <a:avLst/>
          </a:prstGeom>
          <a:solidFill>
            <a:srgbClr val="FFFFFF"/>
          </a:solidFill>
          <a:ln w="12700">
            <a:solidFill>
              <a:srgbClr val="E8DFD0"/>
            </a:solidFill>
            <a:prstDash val="solid"/>
          </a:ln>
        </p:spPr>
      </p:sp>
      <p:pic>
        <p:nvPicPr>
          <p:cNvPr id="12" name="Image 2" descr="preencoded.png">    </p:cNvPr>
          <p:cNvPicPr>
            <a:picLocks noChangeAspect="1"/>
          </p:cNvPicPr>
          <p:nvPr/>
        </p:nvPicPr>
        <p:blipFill>
          <a:blip r:embed="rId3"/>
          <a:stretch>
            <a:fillRect/>
          </a:stretch>
        </p:blipFill>
        <p:spPr>
          <a:xfrm>
            <a:off x="8211312" y="3931920"/>
            <a:ext cx="274320" cy="274320"/>
          </a:xfrm>
          <a:prstGeom prst="rect">
            <a:avLst/>
          </a:prstGeom>
        </p:spPr>
      </p:pic>
      <p:sp>
        <p:nvSpPr>
          <p:cNvPr id="13" name="Text 8"/>
          <p:cNvSpPr/>
          <p:nvPr/>
        </p:nvSpPr>
        <p:spPr>
          <a:xfrm>
            <a:off x="8577072"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TILLBEHÖR</a:t>
            </a:r>
            <a:endParaRPr lang="en-US" sz="800" dirty="0"/>
          </a:p>
        </p:txBody>
      </p:sp>
      <p:sp>
        <p:nvSpPr>
          <p:cNvPr id="14" name="Text 9"/>
          <p:cNvSpPr/>
          <p:nvPr/>
        </p:nvSpPr>
        <p:spPr>
          <a:xfrm>
            <a:off x="8577072"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Ratatouille, bröd</a:t>
            </a:r>
            <a:endParaRPr lang="en-US" sz="1100" dirty="0"/>
          </a:p>
        </p:txBody>
      </p:sp>
      <p:sp>
        <p:nvSpPr>
          <p:cNvPr id="15" name="Shape 10"/>
          <p:cNvSpPr/>
          <p:nvPr/>
        </p:nvSpPr>
        <p:spPr>
          <a:xfrm>
            <a:off x="10021824" y="3794760"/>
            <a:ext cx="1783080" cy="777240"/>
          </a:xfrm>
          <a:prstGeom prst="rect">
            <a:avLst/>
          </a:prstGeom>
          <a:solidFill>
            <a:srgbClr val="FFFFFF"/>
          </a:solidFill>
          <a:ln w="12700">
            <a:solidFill>
              <a:srgbClr val="E8DFD0"/>
            </a:solidFill>
            <a:prstDash val="solid"/>
          </a:ln>
        </p:spPr>
      </p:sp>
      <p:pic>
        <p:nvPicPr>
          <p:cNvPr id="16" name="Image 3" descr="preencoded.png">    </p:cNvPr>
          <p:cNvPicPr>
            <a:picLocks noChangeAspect="1"/>
          </p:cNvPicPr>
          <p:nvPr/>
        </p:nvPicPr>
        <p:blipFill>
          <a:blip r:embed="rId4"/>
          <a:stretch>
            <a:fillRect/>
          </a:stretch>
        </p:blipFill>
        <p:spPr>
          <a:xfrm>
            <a:off x="10158984" y="3931920"/>
            <a:ext cx="274320" cy="274320"/>
          </a:xfrm>
          <a:prstGeom prst="rect">
            <a:avLst/>
          </a:prstGeom>
        </p:spPr>
      </p:pic>
      <p:sp>
        <p:nvSpPr>
          <p:cNvPr id="17" name="Text 11"/>
          <p:cNvSpPr/>
          <p:nvPr/>
        </p:nvSpPr>
        <p:spPr>
          <a:xfrm>
            <a:off x="10524744"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DRYCK</a:t>
            </a:r>
            <a:endParaRPr lang="en-US" sz="800" dirty="0"/>
          </a:p>
        </p:txBody>
      </p:sp>
      <p:sp>
        <p:nvSpPr>
          <p:cNvPr id="18" name="Text 12"/>
          <p:cNvSpPr/>
          <p:nvPr/>
        </p:nvSpPr>
        <p:spPr>
          <a:xfrm>
            <a:off x="10524744"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Pic Saint-Loup röd</a:t>
            </a:r>
            <a:endParaRPr lang="en-US" sz="1100" dirty="0"/>
          </a:p>
        </p:txBody>
      </p:sp>
      <p:sp>
        <p:nvSpPr>
          <p:cNvPr id="19" name="Text 13"/>
          <p:cNvSpPr/>
          <p:nvPr/>
        </p:nvSpPr>
        <p:spPr>
          <a:xfrm>
            <a:off x="6126480" y="4800600"/>
            <a:ext cx="5669280" cy="274320"/>
          </a:xfrm>
          <a:prstGeom prst="rect">
            <a:avLst/>
          </a:prstGeom>
          <a:noFill/>
          <a:ln/>
        </p:spPr>
        <p:txBody>
          <a:bodyPr wrap="square" lIns="0" tIns="0" rIns="0" bIns="0" rtlCol="0" anchor="ctr"/>
          <a:lstStyle/>
          <a:p>
            <a:pPr indent="0" marL="0">
              <a:buNone/>
            </a:pPr>
            <a:r>
              <a:rPr lang="en-US" sz="1000" b="1" spc="400" kern="0" dirty="0">
                <a:solidFill>
                  <a:srgbClr val="9C4F35"/>
                </a:solidFill>
                <a:latin typeface="Calibri" pitchFamily="34" charset="0"/>
                <a:ea typeface="Calibri" pitchFamily="34" charset="-122"/>
                <a:cs typeface="Calibri" pitchFamily="34" charset="-120"/>
              </a:rPr>
              <a:t>PRAKTISKA TIPS</a:t>
            </a:r>
            <a:endParaRPr lang="en-US" sz="1000" dirty="0"/>
          </a:p>
        </p:txBody>
      </p:sp>
      <p:sp>
        <p:nvSpPr>
          <p:cNvPr id="20" name="Text 14"/>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Lammbog 1.5-2 kg, krydda kvällen innan med vitlök, rosmarin, timjan</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Ratatouille gör du gärna dagen innan, smakar bättre</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Ugnen 140 grader i 4-5 timmar, glöm bort köttet</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Vinet ska ha öppnat och andat minst en timme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457200" y="457200"/>
            <a:ext cx="5303520" cy="5943600"/>
          </a:xfrm>
          <a:prstGeom prst="rect">
            <a:avLst/>
          </a:prstGeom>
          <a:solidFill>
            <a:srgbClr val="C4738A"/>
          </a:solidFill>
          <a:ln w="12700">
            <a:solidFill>
              <a:srgbClr val="C4738A"/>
            </a:solidFill>
            <a:prstDash val="solid"/>
          </a:ln>
        </p:spPr>
      </p:sp>
      <p:pic>
        <p:nvPicPr>
          <p:cNvPr id="3" name="Image 0" descr="preencoded.png">    </p:cNvPr>
          <p:cNvPicPr>
            <a:picLocks noChangeAspect="1"/>
          </p:cNvPicPr>
          <p:nvPr/>
        </p:nvPicPr>
        <p:blipFill>
          <a:blip r:embed="rId1"/>
          <a:stretch>
            <a:fillRect/>
          </a:stretch>
        </p:blipFill>
        <p:spPr>
          <a:xfrm>
            <a:off x="2194560" y="2103120"/>
            <a:ext cx="1828800" cy="1828800"/>
          </a:xfrm>
          <a:prstGeom prst="rect">
            <a:avLst/>
          </a:prstGeom>
        </p:spPr>
      </p:pic>
      <p:sp>
        <p:nvSpPr>
          <p:cNvPr id="4" name="Text 1"/>
          <p:cNvSpPr/>
          <p:nvPr/>
        </p:nvSpPr>
        <p:spPr>
          <a:xfrm>
            <a:off x="6126480" y="548640"/>
            <a:ext cx="5669280" cy="365760"/>
          </a:xfrm>
          <a:prstGeom prst="rect">
            <a:avLst/>
          </a:prstGeom>
          <a:noFill/>
          <a:ln/>
        </p:spPr>
        <p:txBody>
          <a:bodyPr wrap="square" lIns="0" tIns="0" rIns="0" bIns="0" rtlCol="0" anchor="ctr"/>
          <a:lstStyle/>
          <a:p>
            <a:pPr indent="0" marL="0">
              <a:buNone/>
            </a:pPr>
            <a:r>
              <a:rPr lang="en-US" sz="1200" b="1" spc="400" kern="0" dirty="0">
                <a:solidFill>
                  <a:srgbClr val="C4738A"/>
                </a:solidFill>
                <a:latin typeface="Calibri" pitchFamily="34" charset="0"/>
                <a:ea typeface="Calibri" pitchFamily="34" charset="-122"/>
                <a:cs typeface="Calibri" pitchFamily="34" charset="-120"/>
              </a:rPr>
              <a:t>DESSERT · FRUSEN KLAR I FRYSEN</a:t>
            </a:r>
            <a:endParaRPr lang="en-US" sz="1200" dirty="0"/>
          </a:p>
        </p:txBody>
      </p:sp>
      <p:sp>
        <p:nvSpPr>
          <p:cNvPr id="5" name="Text 2"/>
          <p:cNvSpPr/>
          <p:nvPr/>
        </p:nvSpPr>
        <p:spPr>
          <a:xfrm>
            <a:off x="6126480" y="914400"/>
            <a:ext cx="5669280" cy="1280160"/>
          </a:xfrm>
          <a:prstGeom prst="rect">
            <a:avLst/>
          </a:prstGeom>
          <a:noFill/>
          <a:ln/>
        </p:spPr>
        <p:txBody>
          <a:bodyPr wrap="square" lIns="0" tIns="0" rIns="0" bIns="0" rtlCol="0" anchor="ctr"/>
          <a:lstStyle/>
          <a:p>
            <a:pPr indent="0" marL="0">
              <a:buNone/>
            </a:pPr>
            <a:r>
              <a:rPr lang="en-US" sz="3600" b="1" dirty="0">
                <a:solidFill>
                  <a:srgbClr val="1A2E3B"/>
                </a:solidFill>
                <a:latin typeface="Georgia" pitchFamily="34" charset="0"/>
                <a:ea typeface="Georgia" pitchFamily="34" charset="-122"/>
                <a:cs typeface="Georgia" pitchFamily="34" charset="-120"/>
              </a:rPr>
              <a:t>Vacherin glacé med sommarbär</a:t>
            </a:r>
            <a:endParaRPr lang="en-US" sz="3600" dirty="0"/>
          </a:p>
        </p:txBody>
      </p:sp>
      <p:sp>
        <p:nvSpPr>
          <p:cNvPr id="6" name="Text 3"/>
          <p:cNvSpPr/>
          <p:nvPr/>
        </p:nvSpPr>
        <p:spPr>
          <a:xfrm>
            <a:off x="6126480" y="2286000"/>
            <a:ext cx="5669280" cy="1371600"/>
          </a:xfrm>
          <a:prstGeom prst="rect">
            <a:avLst/>
          </a:prstGeom>
          <a:noFill/>
          <a:ln/>
        </p:spPr>
        <p:txBody>
          <a:bodyPr wrap="square" lIns="0" tIns="0" rIns="0" bIns="0" rtlCol="0" anchor="t"/>
          <a:lstStyle/>
          <a:p>
            <a:pPr indent="0" marL="0">
              <a:buNone/>
            </a:pPr>
            <a:r>
              <a:rPr lang="en-US" sz="1400" dirty="0">
                <a:solidFill>
                  <a:srgbClr val="5C6B73"/>
                </a:solidFill>
                <a:latin typeface="Calibri" pitchFamily="34" charset="0"/>
                <a:ea typeface="Calibri" pitchFamily="34" charset="-122"/>
                <a:cs typeface="Calibri" pitchFamily="34" charset="-120"/>
              </a:rPr>
              <a:t>Klassisk fransk frusen dessert. Glassbomb med marängbotten, vispad grädde och bär. Kan göras helt klar dagen innan, ligger i frysen och behöver bara skäras upp. Kombineras med färska hallon, blåbär eller jordgubbar plus ev. liten klick chantilly. Tändstickor i för 50 ljus, eller fem stora.</a:t>
            </a:r>
            <a:endParaRPr lang="en-US" sz="1400" dirty="0"/>
          </a:p>
        </p:txBody>
      </p:sp>
      <p:sp>
        <p:nvSpPr>
          <p:cNvPr id="7" name="Shape 4"/>
          <p:cNvSpPr/>
          <p:nvPr/>
        </p:nvSpPr>
        <p:spPr>
          <a:xfrm>
            <a:off x="6126480" y="3794760"/>
            <a:ext cx="1783080" cy="777240"/>
          </a:xfrm>
          <a:prstGeom prst="rect">
            <a:avLst/>
          </a:prstGeom>
          <a:solidFill>
            <a:srgbClr val="FFFFFF"/>
          </a:solidFill>
          <a:ln w="12700">
            <a:solidFill>
              <a:srgbClr val="E8DFD0"/>
            </a:solidFill>
            <a:prstDash val="solid"/>
          </a:ln>
        </p:spPr>
      </p:sp>
      <p:pic>
        <p:nvPicPr>
          <p:cNvPr id="8" name="Image 1" descr="preencoded.png">    </p:cNvPr>
          <p:cNvPicPr>
            <a:picLocks noChangeAspect="1"/>
          </p:cNvPicPr>
          <p:nvPr/>
        </p:nvPicPr>
        <p:blipFill>
          <a:blip r:embed="rId2"/>
          <a:stretch>
            <a:fillRect/>
          </a:stretch>
        </p:blipFill>
        <p:spPr>
          <a:xfrm>
            <a:off x="6263640" y="3931920"/>
            <a:ext cx="274320" cy="274320"/>
          </a:xfrm>
          <a:prstGeom prst="rect">
            <a:avLst/>
          </a:prstGeom>
        </p:spPr>
      </p:pic>
      <p:sp>
        <p:nvSpPr>
          <p:cNvPr id="9" name="Text 5"/>
          <p:cNvSpPr/>
          <p:nvPr/>
        </p:nvSpPr>
        <p:spPr>
          <a:xfrm>
            <a:off x="6629400"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FÖRBEREDELSE</a:t>
            </a:r>
            <a:endParaRPr lang="en-US" sz="800" dirty="0"/>
          </a:p>
        </p:txBody>
      </p:sp>
      <p:sp>
        <p:nvSpPr>
          <p:cNvPr id="10" name="Text 6"/>
          <p:cNvSpPr/>
          <p:nvPr/>
        </p:nvSpPr>
        <p:spPr>
          <a:xfrm>
            <a:off x="6629400"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Dagen innan</a:t>
            </a:r>
            <a:endParaRPr lang="en-US" sz="1100" dirty="0"/>
          </a:p>
        </p:txBody>
      </p:sp>
      <p:sp>
        <p:nvSpPr>
          <p:cNvPr id="11" name="Shape 7"/>
          <p:cNvSpPr/>
          <p:nvPr/>
        </p:nvSpPr>
        <p:spPr>
          <a:xfrm>
            <a:off x="8074152" y="3794760"/>
            <a:ext cx="1783080" cy="777240"/>
          </a:xfrm>
          <a:prstGeom prst="rect">
            <a:avLst/>
          </a:prstGeom>
          <a:solidFill>
            <a:srgbClr val="FFFFFF"/>
          </a:solidFill>
          <a:ln w="12700">
            <a:solidFill>
              <a:srgbClr val="E8DFD0"/>
            </a:solidFill>
            <a:prstDash val="solid"/>
          </a:ln>
        </p:spPr>
      </p:sp>
      <p:pic>
        <p:nvPicPr>
          <p:cNvPr id="12" name="Image 2" descr="preencoded.png">    </p:cNvPr>
          <p:cNvPicPr>
            <a:picLocks noChangeAspect="1"/>
          </p:cNvPicPr>
          <p:nvPr/>
        </p:nvPicPr>
        <p:blipFill>
          <a:blip r:embed="rId3"/>
          <a:stretch>
            <a:fillRect/>
          </a:stretch>
        </p:blipFill>
        <p:spPr>
          <a:xfrm>
            <a:off x="8211312" y="3931920"/>
            <a:ext cx="274320" cy="274320"/>
          </a:xfrm>
          <a:prstGeom prst="rect">
            <a:avLst/>
          </a:prstGeom>
        </p:spPr>
      </p:pic>
      <p:sp>
        <p:nvSpPr>
          <p:cNvPr id="13" name="Text 8"/>
          <p:cNvSpPr/>
          <p:nvPr/>
        </p:nvSpPr>
        <p:spPr>
          <a:xfrm>
            <a:off x="8577072"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FRÅN FRYSEN</a:t>
            </a:r>
            <a:endParaRPr lang="en-US" sz="800" dirty="0"/>
          </a:p>
        </p:txBody>
      </p:sp>
      <p:sp>
        <p:nvSpPr>
          <p:cNvPr id="14" name="Text 9"/>
          <p:cNvSpPr/>
          <p:nvPr/>
        </p:nvSpPr>
        <p:spPr>
          <a:xfrm>
            <a:off x="8577072"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Ut 10 min innan</a:t>
            </a:r>
            <a:endParaRPr lang="en-US" sz="1100" dirty="0"/>
          </a:p>
        </p:txBody>
      </p:sp>
      <p:sp>
        <p:nvSpPr>
          <p:cNvPr id="15" name="Shape 10"/>
          <p:cNvSpPr/>
          <p:nvPr/>
        </p:nvSpPr>
        <p:spPr>
          <a:xfrm>
            <a:off x="10021824" y="3794760"/>
            <a:ext cx="1783080" cy="777240"/>
          </a:xfrm>
          <a:prstGeom prst="rect">
            <a:avLst/>
          </a:prstGeom>
          <a:solidFill>
            <a:srgbClr val="FFFFFF"/>
          </a:solidFill>
          <a:ln w="12700">
            <a:solidFill>
              <a:srgbClr val="E8DFD0"/>
            </a:solidFill>
            <a:prstDash val="solid"/>
          </a:ln>
        </p:spPr>
      </p:sp>
      <p:pic>
        <p:nvPicPr>
          <p:cNvPr id="16" name="Image 3" descr="preencoded.png">    </p:cNvPr>
          <p:cNvPicPr>
            <a:picLocks noChangeAspect="1"/>
          </p:cNvPicPr>
          <p:nvPr/>
        </p:nvPicPr>
        <p:blipFill>
          <a:blip r:embed="rId4"/>
          <a:stretch>
            <a:fillRect/>
          </a:stretch>
        </p:blipFill>
        <p:spPr>
          <a:xfrm>
            <a:off x="10158984" y="3931920"/>
            <a:ext cx="274320" cy="274320"/>
          </a:xfrm>
          <a:prstGeom prst="rect">
            <a:avLst/>
          </a:prstGeom>
        </p:spPr>
      </p:pic>
      <p:sp>
        <p:nvSpPr>
          <p:cNvPr id="17" name="Text 11"/>
          <p:cNvSpPr/>
          <p:nvPr/>
        </p:nvSpPr>
        <p:spPr>
          <a:xfrm>
            <a:off x="10524744" y="3886200"/>
            <a:ext cx="1234440" cy="228600"/>
          </a:xfrm>
          <a:prstGeom prst="rect">
            <a:avLst/>
          </a:prstGeom>
          <a:noFill/>
          <a:ln/>
        </p:spPr>
        <p:txBody>
          <a:bodyPr wrap="square" lIns="0" tIns="0" rIns="0" bIns="0" rtlCol="0" anchor="ctr"/>
          <a:lstStyle/>
          <a:p>
            <a:pPr indent="0" marL="0">
              <a:buNone/>
            </a:pPr>
            <a:r>
              <a:rPr lang="en-US" sz="800" b="1" spc="200" kern="0" dirty="0">
                <a:solidFill>
                  <a:srgbClr val="5C6B73"/>
                </a:solidFill>
                <a:latin typeface="Calibri" pitchFamily="34" charset="0"/>
                <a:ea typeface="Calibri" pitchFamily="34" charset="-122"/>
                <a:cs typeface="Calibri" pitchFamily="34" charset="-120"/>
              </a:rPr>
              <a:t>DRYCK</a:t>
            </a:r>
            <a:endParaRPr lang="en-US" sz="800" dirty="0"/>
          </a:p>
        </p:txBody>
      </p:sp>
      <p:sp>
        <p:nvSpPr>
          <p:cNvPr id="18" name="Text 12"/>
          <p:cNvSpPr/>
          <p:nvPr/>
        </p:nvSpPr>
        <p:spPr>
          <a:xfrm>
            <a:off x="10524744" y="4114800"/>
            <a:ext cx="1234440" cy="411480"/>
          </a:xfrm>
          <a:prstGeom prst="rect">
            <a:avLst/>
          </a:prstGeom>
          <a:noFill/>
          <a:ln/>
        </p:spPr>
        <p:txBody>
          <a:bodyPr wrap="square" lIns="0" tIns="0" rIns="0" bIns="0" rtlCol="0" anchor="ctr"/>
          <a:lstStyle/>
          <a:p>
            <a:pPr indent="0" marL="0">
              <a:buNone/>
            </a:pPr>
            <a:r>
              <a:rPr lang="en-US" sz="1100" b="1" dirty="0">
                <a:solidFill>
                  <a:srgbClr val="1A2E3B"/>
                </a:solidFill>
                <a:latin typeface="Calibri" pitchFamily="34" charset="0"/>
                <a:ea typeface="Calibri" pitchFamily="34" charset="-122"/>
                <a:cs typeface="Calibri" pitchFamily="34" charset="-120"/>
              </a:rPr>
              <a:t>Crémant eller dessertvin</a:t>
            </a:r>
            <a:endParaRPr lang="en-US" sz="1100" dirty="0"/>
          </a:p>
        </p:txBody>
      </p:sp>
      <p:sp>
        <p:nvSpPr>
          <p:cNvPr id="19" name="Text 13"/>
          <p:cNvSpPr/>
          <p:nvPr/>
        </p:nvSpPr>
        <p:spPr>
          <a:xfrm>
            <a:off x="6126480" y="4800600"/>
            <a:ext cx="5669280" cy="274320"/>
          </a:xfrm>
          <a:prstGeom prst="rect">
            <a:avLst/>
          </a:prstGeom>
          <a:noFill/>
          <a:ln/>
        </p:spPr>
        <p:txBody>
          <a:bodyPr wrap="square" lIns="0" tIns="0" rIns="0" bIns="0" rtlCol="0" anchor="ctr"/>
          <a:lstStyle/>
          <a:p>
            <a:pPr indent="0" marL="0">
              <a:buNone/>
            </a:pPr>
            <a:r>
              <a:rPr lang="en-US" sz="1000" b="1" spc="400" kern="0" dirty="0">
                <a:solidFill>
                  <a:srgbClr val="C4738A"/>
                </a:solidFill>
                <a:latin typeface="Calibri" pitchFamily="34" charset="0"/>
                <a:ea typeface="Calibri" pitchFamily="34" charset="-122"/>
                <a:cs typeface="Calibri" pitchFamily="34" charset="-120"/>
              </a:rPr>
              <a:t>PRAKTISKA TIPS</a:t>
            </a:r>
            <a:endParaRPr lang="en-US" sz="1000" dirty="0"/>
          </a:p>
        </p:txBody>
      </p:sp>
      <p:sp>
        <p:nvSpPr>
          <p:cNvPr id="20" name="Text 14"/>
          <p:cNvSpPr/>
          <p:nvPr/>
        </p:nvSpPr>
        <p:spPr>
          <a:xfrm>
            <a:off x="6126480" y="5074920"/>
            <a:ext cx="5669280" cy="15544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Köp färdig vacherin från en god bakelsebutik om tid är knapp</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Eller gör hemma, kräver bara grädde, maräng, glass, bär</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Skär med varm kniv, en svep i hett vatten mellan varje bit</a:t>
            </a:r>
            <a:endParaRPr lang="en-US" sz="1200" dirty="0"/>
          </a:p>
          <a:p>
            <a:pPr marL="342900" indent="-342900">
              <a:spcAft>
                <a:spcPts val="400"/>
              </a:spcAft>
              <a:buSzPct val="100000"/>
              <a:buChar char="•"/>
            </a:pPr>
            <a:r>
              <a:rPr lang="en-US" sz="1200" dirty="0">
                <a:solidFill>
                  <a:srgbClr val="1A2E3B"/>
                </a:solidFill>
                <a:latin typeface="Calibri" pitchFamily="34" charset="0"/>
                <a:ea typeface="Calibri" pitchFamily="34" charset="-122"/>
                <a:cs typeface="Calibri" pitchFamily="34" charset="-120"/>
              </a:rPr>
              <a:t>5 stora ljus är roligare än 50 små att blåsa ut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E7793"/>
        </a:solidFill>
      </p:bgPr>
    </p:bg>
    <p:spTree>
      <p:nvGrpSpPr>
        <p:cNvPr id="1" name=""/>
        <p:cNvGrpSpPr/>
        <p:nvPr/>
      </p:nvGrpSpPr>
      <p:grpSpPr>
        <a:xfrm>
          <a:off x="0" y="0"/>
          <a:ext cx="0" cy="0"/>
          <a:chOff x="0" y="0"/>
          <a:chExt cx="0" cy="0"/>
        </a:xfrm>
      </p:grpSpPr>
      <p:sp>
        <p:nvSpPr>
          <p:cNvPr id="2" name="Text 0"/>
          <p:cNvSpPr/>
          <p:nvPr/>
        </p:nvSpPr>
        <p:spPr>
          <a:xfrm>
            <a:off x="640080" y="2286000"/>
            <a:ext cx="10972800" cy="548640"/>
          </a:xfrm>
          <a:prstGeom prst="rect">
            <a:avLst/>
          </a:prstGeom>
          <a:noFill/>
          <a:ln/>
        </p:spPr>
        <p:txBody>
          <a:bodyPr wrap="square" lIns="0" tIns="0" rIns="0" bIns="0" rtlCol="0" anchor="ctr"/>
          <a:lstStyle/>
          <a:p>
            <a:pPr indent="0" marL="0">
              <a:buNone/>
            </a:pPr>
            <a:r>
              <a:rPr lang="en-US" sz="1800" i="1" spc="600" kern="0" dirty="0">
                <a:solidFill>
                  <a:srgbClr val="FFFFFF"/>
                </a:solidFill>
                <a:latin typeface="Georgia" pitchFamily="34" charset="0"/>
                <a:ea typeface="Georgia" pitchFamily="34" charset="-122"/>
                <a:cs typeface="Georgia" pitchFamily="34" charset="-120"/>
              </a:rPr>
              <a:t>Sektion 4</a:t>
            </a:r>
            <a:endParaRPr lang="en-US" sz="1800" dirty="0"/>
          </a:p>
        </p:txBody>
      </p:sp>
      <p:sp>
        <p:nvSpPr>
          <p:cNvPr id="3" name="Text 1"/>
          <p:cNvSpPr/>
          <p:nvPr/>
        </p:nvSpPr>
        <p:spPr>
          <a:xfrm>
            <a:off x="640080" y="2743200"/>
            <a:ext cx="10972800" cy="1371600"/>
          </a:xfrm>
          <a:prstGeom prst="rect">
            <a:avLst/>
          </a:prstGeom>
          <a:noFill/>
          <a:ln/>
        </p:spPr>
        <p:txBody>
          <a:bodyPr wrap="square" lIns="0" tIns="0" rIns="0" bIns="0" rtlCol="0" anchor="ctr"/>
          <a:lstStyle/>
          <a:p>
            <a:pPr indent="0" marL="0">
              <a:buNone/>
            </a:pPr>
            <a:r>
              <a:rPr lang="en-US" sz="6400" b="1" dirty="0">
                <a:solidFill>
                  <a:srgbClr val="FFFFFF"/>
                </a:solidFill>
                <a:latin typeface="Georgia" pitchFamily="34" charset="0"/>
                <a:ea typeface="Georgia" pitchFamily="34" charset="-122"/>
                <a:cs typeface="Georgia" pitchFamily="34" charset="-120"/>
              </a:rPr>
              <a:t>Logistik</a:t>
            </a:r>
            <a:endParaRPr lang="en-US" sz="6400" dirty="0"/>
          </a:p>
        </p:txBody>
      </p:sp>
      <p:sp>
        <p:nvSpPr>
          <p:cNvPr id="4" name="Text 2"/>
          <p:cNvSpPr/>
          <p:nvPr/>
        </p:nvSpPr>
        <p:spPr>
          <a:xfrm>
            <a:off x="640080" y="4023360"/>
            <a:ext cx="10972800" cy="548640"/>
          </a:xfrm>
          <a:prstGeom prst="rect">
            <a:avLst/>
          </a:prstGeom>
          <a:noFill/>
          <a:ln/>
        </p:spPr>
        <p:txBody>
          <a:bodyPr wrap="square" lIns="0" tIns="0" rIns="0" bIns="0" rtlCol="0" anchor="ctr"/>
          <a:lstStyle/>
          <a:p>
            <a:pPr indent="0" marL="0">
              <a:buNone/>
            </a:pPr>
            <a:r>
              <a:rPr lang="en-US" sz="2200" i="1" dirty="0">
                <a:solidFill>
                  <a:srgbClr val="FBF7F0"/>
                </a:solidFill>
                <a:latin typeface="Georgia" pitchFamily="34" charset="0"/>
                <a:ea typeface="Georgia" pitchFamily="34" charset="-122"/>
                <a:cs typeface="Georgia" pitchFamily="34" charset="-120"/>
              </a:rPr>
              <a:t>Hur 7 personer löser bil och tåg</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640080" y="457200"/>
            <a:ext cx="10972800" cy="365760"/>
          </a:xfrm>
          <a:prstGeom prst="rect">
            <a:avLst/>
          </a:prstGeom>
          <a:noFill/>
          <a:ln/>
        </p:spPr>
        <p:txBody>
          <a:bodyPr wrap="square" lIns="0" tIns="0" rIns="0" bIns="0" rtlCol="0" anchor="ctr"/>
          <a:lstStyle/>
          <a:p>
            <a:pPr indent="0" marL="0">
              <a:buNone/>
            </a:pPr>
            <a:r>
              <a:rPr lang="en-US" sz="1200" b="1" spc="400" kern="0" dirty="0">
                <a:solidFill>
                  <a:srgbClr val="2E7793"/>
                </a:solidFill>
                <a:latin typeface="Calibri" pitchFamily="34" charset="0"/>
                <a:ea typeface="Calibri" pitchFamily="34" charset="-122"/>
                <a:cs typeface="Calibri" pitchFamily="34" charset="-120"/>
              </a:rPr>
              <a:t>LOGISTIK 7 PERSONER</a:t>
            </a:r>
            <a:endParaRPr lang="en-US" sz="1200" dirty="0"/>
          </a:p>
        </p:txBody>
      </p:sp>
      <p:sp>
        <p:nvSpPr>
          <p:cNvPr id="3" name="Text 1"/>
          <p:cNvSpPr/>
          <p:nvPr/>
        </p:nvSpPr>
        <p:spPr>
          <a:xfrm>
            <a:off x="640080" y="822960"/>
            <a:ext cx="10972800" cy="914400"/>
          </a:xfrm>
          <a:prstGeom prst="rect">
            <a:avLst/>
          </a:prstGeom>
          <a:noFill/>
          <a:ln/>
        </p:spPr>
        <p:txBody>
          <a:bodyPr wrap="square" lIns="0" tIns="0" rIns="0" bIns="0" rtlCol="0" anchor="ctr"/>
          <a:lstStyle/>
          <a:p>
            <a:pPr indent="0" marL="0">
              <a:buNone/>
            </a:pPr>
            <a:r>
              <a:rPr lang="en-US" sz="4000" b="1" dirty="0">
                <a:solidFill>
                  <a:srgbClr val="1A2E3B"/>
                </a:solidFill>
                <a:latin typeface="Georgia" pitchFamily="34" charset="0"/>
                <a:ea typeface="Georgia" pitchFamily="34" charset="-122"/>
                <a:cs typeface="Georgia" pitchFamily="34" charset="-120"/>
              </a:rPr>
              <a:t>Tre lösningar</a:t>
            </a:r>
            <a:endParaRPr lang="en-US" sz="4000" dirty="0"/>
          </a:p>
        </p:txBody>
      </p:sp>
      <p:sp>
        <p:nvSpPr>
          <p:cNvPr id="4" name="Text 2"/>
          <p:cNvSpPr/>
          <p:nvPr/>
        </p:nvSpPr>
        <p:spPr>
          <a:xfrm>
            <a:off x="640080" y="1737360"/>
            <a:ext cx="10972800" cy="457200"/>
          </a:xfrm>
          <a:prstGeom prst="rect">
            <a:avLst/>
          </a:prstGeom>
          <a:noFill/>
          <a:ln/>
        </p:spPr>
        <p:txBody>
          <a:bodyPr wrap="square" lIns="0" tIns="0" rIns="0" bIns="0" rtlCol="0" anchor="ctr"/>
          <a:lstStyle/>
          <a:p>
            <a:pPr indent="0" marL="0">
              <a:buNone/>
            </a:pPr>
            <a:r>
              <a:rPr lang="en-US" sz="1400" i="1" dirty="0">
                <a:solidFill>
                  <a:srgbClr val="5C6B73"/>
                </a:solidFill>
                <a:latin typeface="Calibri" pitchFamily="34" charset="0"/>
                <a:ea typeface="Calibri" pitchFamily="34" charset="-122"/>
                <a:cs typeface="Calibri" pitchFamily="34" charset="-120"/>
              </a:rPr>
              <a:t>Beroende på vilken utflykt ni väljer, har olika lösningar olika styrkor.</a:t>
            </a:r>
            <a:endParaRPr lang="en-US" sz="1400" dirty="0"/>
          </a:p>
        </p:txBody>
      </p:sp>
      <p:sp>
        <p:nvSpPr>
          <p:cNvPr id="5" name="Shape 3"/>
          <p:cNvSpPr/>
          <p:nvPr/>
        </p:nvSpPr>
        <p:spPr>
          <a:xfrm>
            <a:off x="640080" y="2377440"/>
            <a:ext cx="3657600" cy="4023360"/>
          </a:xfrm>
          <a:prstGeom prst="rect">
            <a:avLst/>
          </a:prstGeom>
          <a:solidFill>
            <a:srgbClr val="FFFFFF"/>
          </a:solidFill>
          <a:ln w="12700">
            <a:solidFill>
              <a:srgbClr val="E8DFD0"/>
            </a:solidFill>
            <a:prstDash val="solid"/>
          </a:ln>
        </p:spPr>
      </p:sp>
      <p:sp>
        <p:nvSpPr>
          <p:cNvPr id="6" name="Shape 4"/>
          <p:cNvSpPr/>
          <p:nvPr/>
        </p:nvSpPr>
        <p:spPr>
          <a:xfrm>
            <a:off x="640080" y="2377440"/>
            <a:ext cx="91440" cy="4023360"/>
          </a:xfrm>
          <a:prstGeom prst="rect">
            <a:avLst/>
          </a:prstGeom>
          <a:solidFill>
            <a:srgbClr val="6D2E46"/>
          </a:solidFill>
          <a:ln w="12700">
            <a:solidFill>
              <a:srgbClr val="6D2E46"/>
            </a:solidFill>
            <a:prstDash val="solid"/>
          </a:ln>
        </p:spPr>
      </p:sp>
      <p:sp>
        <p:nvSpPr>
          <p:cNvPr id="7" name="Text 5"/>
          <p:cNvSpPr/>
          <p:nvPr/>
        </p:nvSpPr>
        <p:spPr>
          <a:xfrm>
            <a:off x="1005840" y="2651760"/>
            <a:ext cx="3108960" cy="274320"/>
          </a:xfrm>
          <a:prstGeom prst="rect">
            <a:avLst/>
          </a:prstGeom>
          <a:noFill/>
          <a:ln/>
        </p:spPr>
        <p:txBody>
          <a:bodyPr wrap="square" lIns="0" tIns="0" rIns="0" bIns="0" rtlCol="0" anchor="ctr"/>
          <a:lstStyle/>
          <a:p>
            <a:pPr indent="0" marL="0">
              <a:buNone/>
            </a:pPr>
            <a:r>
              <a:rPr lang="en-US" sz="1000" b="1" spc="300" kern="0" dirty="0">
                <a:solidFill>
                  <a:srgbClr val="6D2E46"/>
                </a:solidFill>
                <a:latin typeface="Calibri" pitchFamily="34" charset="0"/>
                <a:ea typeface="Calibri" pitchFamily="34" charset="-122"/>
                <a:cs typeface="Calibri" pitchFamily="34" charset="-120"/>
              </a:rPr>
              <a:t>Enklast, alla tillsammans</a:t>
            </a:r>
            <a:endParaRPr lang="en-US" sz="1000" dirty="0"/>
          </a:p>
        </p:txBody>
      </p:sp>
      <p:sp>
        <p:nvSpPr>
          <p:cNvPr id="8" name="Text 6"/>
          <p:cNvSpPr/>
          <p:nvPr/>
        </p:nvSpPr>
        <p:spPr>
          <a:xfrm>
            <a:off x="1005840" y="2926080"/>
            <a:ext cx="3108960" cy="640080"/>
          </a:xfrm>
          <a:prstGeom prst="rect">
            <a:avLst/>
          </a:prstGeom>
          <a:noFill/>
          <a:ln/>
        </p:spPr>
        <p:txBody>
          <a:bodyPr wrap="square" lIns="0" tIns="0" rIns="0" bIns="0" rtlCol="0" anchor="ctr"/>
          <a:lstStyle/>
          <a:p>
            <a:pPr indent="0" marL="0">
              <a:buNone/>
            </a:pPr>
            <a:r>
              <a:rPr lang="en-US" sz="2200" b="1" dirty="0">
                <a:solidFill>
                  <a:srgbClr val="1A2E3B"/>
                </a:solidFill>
                <a:latin typeface="Georgia" pitchFamily="34" charset="0"/>
                <a:ea typeface="Georgia" pitchFamily="34" charset="-122"/>
                <a:cs typeface="Georgia" pitchFamily="34" charset="-120"/>
              </a:rPr>
              <a:t>Hyrbil 7-sitsare</a:t>
            </a:r>
            <a:endParaRPr lang="en-US" sz="2200" dirty="0"/>
          </a:p>
        </p:txBody>
      </p:sp>
      <p:sp>
        <p:nvSpPr>
          <p:cNvPr id="9" name="Text 7"/>
          <p:cNvSpPr/>
          <p:nvPr/>
        </p:nvSpPr>
        <p:spPr>
          <a:xfrm>
            <a:off x="1005840" y="3749040"/>
            <a:ext cx="3108960" cy="246888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5C6B73"/>
                </a:solidFill>
                <a:latin typeface="Calibri" pitchFamily="34" charset="0"/>
                <a:ea typeface="Calibri" pitchFamily="34" charset="-122"/>
                <a:cs typeface="Calibri" pitchFamily="34" charset="-120"/>
              </a:rPr>
              <a:t>Renault Espace eller VW Sharan, 7 platser</a:t>
            </a:r>
            <a:endParaRPr lang="en-US" sz="1100" dirty="0"/>
          </a:p>
          <a:p>
            <a:pPr marL="342900" indent="-342900">
              <a:spcAft>
                <a:spcPts val="600"/>
              </a:spcAft>
              <a:buSzPct val="100000"/>
              <a:buChar char="•"/>
            </a:pPr>
            <a:r>
              <a:rPr lang="en-US" sz="1100" dirty="0">
                <a:solidFill>
                  <a:srgbClr val="5C6B73"/>
                </a:solidFill>
                <a:latin typeface="Calibri" pitchFamily="34" charset="0"/>
                <a:ea typeface="Calibri" pitchFamily="34" charset="-122"/>
                <a:cs typeface="Calibri" pitchFamily="34" charset="-120"/>
              </a:rPr>
              <a:t>Kostar ca 80-130 € per dag på Saint-Roch</a:t>
            </a:r>
            <a:endParaRPr lang="en-US" sz="1100" dirty="0"/>
          </a:p>
          <a:p>
            <a:pPr marL="342900" indent="-342900">
              <a:spcAft>
                <a:spcPts val="600"/>
              </a:spcAft>
              <a:buSzPct val="100000"/>
              <a:buChar char="•"/>
            </a:pPr>
            <a:r>
              <a:rPr lang="en-US" sz="1100" dirty="0">
                <a:solidFill>
                  <a:srgbClr val="5C6B73"/>
                </a:solidFill>
                <a:latin typeface="Calibri" pitchFamily="34" charset="0"/>
                <a:ea typeface="Calibri" pitchFamily="34" charset="-122"/>
                <a:cs typeface="Calibri" pitchFamily="34" charset="-120"/>
              </a:rPr>
              <a:t>Avis, Hertz eller Europcar har stationer i centrum</a:t>
            </a:r>
            <a:endParaRPr lang="en-US" sz="1100" dirty="0"/>
          </a:p>
          <a:p>
            <a:pPr marL="342900" indent="-342900">
              <a:spcAft>
                <a:spcPts val="600"/>
              </a:spcAft>
              <a:buSzPct val="100000"/>
              <a:buChar char="•"/>
            </a:pPr>
            <a:r>
              <a:rPr lang="en-US" sz="1100" dirty="0">
                <a:solidFill>
                  <a:srgbClr val="5C6B73"/>
                </a:solidFill>
                <a:latin typeface="Calibri" pitchFamily="34" charset="0"/>
                <a:ea typeface="Calibri" pitchFamily="34" charset="-122"/>
                <a:cs typeface="Calibri" pitchFamily="34" charset="-120"/>
              </a:rPr>
              <a:t>Boka i förväg, söndagar populära</a:t>
            </a:r>
            <a:endParaRPr lang="en-US" sz="1100" dirty="0"/>
          </a:p>
          <a:p>
            <a:pPr marL="342900" indent="-342900">
              <a:spcAft>
                <a:spcPts val="600"/>
              </a:spcAft>
              <a:buSzPct val="100000"/>
              <a:buChar char="•"/>
            </a:pPr>
            <a:r>
              <a:rPr lang="en-US" sz="1100" dirty="0">
                <a:solidFill>
                  <a:srgbClr val="5C6B73"/>
                </a:solidFill>
                <a:latin typeface="Calibri" pitchFamily="34" charset="0"/>
                <a:ea typeface="Calibri" pitchFamily="34" charset="-122"/>
                <a:cs typeface="Calibri" pitchFamily="34" charset="-120"/>
              </a:rPr>
              <a:t>Bäst för: Saint-Guilhem och Pic Saint-Loup</a:t>
            </a:r>
            <a:endParaRPr lang="en-US" sz="1100" dirty="0"/>
          </a:p>
        </p:txBody>
      </p:sp>
      <p:sp>
        <p:nvSpPr>
          <p:cNvPr id="10" name="Shape 8"/>
          <p:cNvSpPr/>
          <p:nvPr/>
        </p:nvSpPr>
        <p:spPr>
          <a:xfrm>
            <a:off x="4480560" y="2377440"/>
            <a:ext cx="3657600" cy="4023360"/>
          </a:xfrm>
          <a:prstGeom prst="rect">
            <a:avLst/>
          </a:prstGeom>
          <a:solidFill>
            <a:srgbClr val="FFFFFF"/>
          </a:solidFill>
          <a:ln w="12700">
            <a:solidFill>
              <a:srgbClr val="E8DFD0"/>
            </a:solidFill>
            <a:prstDash val="solid"/>
          </a:ln>
        </p:spPr>
      </p:sp>
      <p:sp>
        <p:nvSpPr>
          <p:cNvPr id="11" name="Shape 9"/>
          <p:cNvSpPr/>
          <p:nvPr/>
        </p:nvSpPr>
        <p:spPr>
          <a:xfrm>
            <a:off x="4480560" y="2377440"/>
            <a:ext cx="91440" cy="4023360"/>
          </a:xfrm>
          <a:prstGeom prst="rect">
            <a:avLst/>
          </a:prstGeom>
          <a:solidFill>
            <a:srgbClr val="D4A23A"/>
          </a:solidFill>
          <a:ln w="12700">
            <a:solidFill>
              <a:srgbClr val="D4A23A"/>
            </a:solidFill>
            <a:prstDash val="solid"/>
          </a:ln>
        </p:spPr>
      </p:sp>
      <p:sp>
        <p:nvSpPr>
          <p:cNvPr id="12" name="Text 10"/>
          <p:cNvSpPr/>
          <p:nvPr/>
        </p:nvSpPr>
        <p:spPr>
          <a:xfrm>
            <a:off x="4846320" y="2651760"/>
            <a:ext cx="3108960" cy="274320"/>
          </a:xfrm>
          <a:prstGeom prst="rect">
            <a:avLst/>
          </a:prstGeom>
          <a:noFill/>
          <a:ln/>
        </p:spPr>
        <p:txBody>
          <a:bodyPr wrap="square" lIns="0" tIns="0" rIns="0" bIns="0" rtlCol="0" anchor="ctr"/>
          <a:lstStyle/>
          <a:p>
            <a:pPr indent="0" marL="0">
              <a:buNone/>
            </a:pPr>
            <a:r>
              <a:rPr lang="en-US" sz="1000" b="1" spc="300" kern="0" dirty="0">
                <a:solidFill>
                  <a:srgbClr val="D4A23A"/>
                </a:solidFill>
                <a:latin typeface="Calibri" pitchFamily="34" charset="0"/>
                <a:ea typeface="Calibri" pitchFamily="34" charset="-122"/>
                <a:cs typeface="Calibri" pitchFamily="34" charset="-120"/>
              </a:rPr>
              <a:t>Splittra gruppen, mötas på plats</a:t>
            </a:r>
            <a:endParaRPr lang="en-US" sz="1000" dirty="0"/>
          </a:p>
        </p:txBody>
      </p:sp>
      <p:sp>
        <p:nvSpPr>
          <p:cNvPr id="13" name="Text 11"/>
          <p:cNvSpPr/>
          <p:nvPr/>
        </p:nvSpPr>
        <p:spPr>
          <a:xfrm>
            <a:off x="4846320" y="2926080"/>
            <a:ext cx="3108960" cy="640080"/>
          </a:xfrm>
          <a:prstGeom prst="rect">
            <a:avLst/>
          </a:prstGeom>
          <a:noFill/>
          <a:ln/>
        </p:spPr>
        <p:txBody>
          <a:bodyPr wrap="square" lIns="0" tIns="0" rIns="0" bIns="0" rtlCol="0" anchor="ctr"/>
          <a:lstStyle/>
          <a:p>
            <a:pPr indent="0" marL="0">
              <a:buNone/>
            </a:pPr>
            <a:r>
              <a:rPr lang="en-US" sz="2200" b="1" dirty="0">
                <a:solidFill>
                  <a:srgbClr val="1A2E3B"/>
                </a:solidFill>
                <a:latin typeface="Georgia" pitchFamily="34" charset="0"/>
                <a:ea typeface="Georgia" pitchFamily="34" charset="-122"/>
                <a:cs typeface="Georgia" pitchFamily="34" charset="-120"/>
              </a:rPr>
              <a:t>Bil + tåg/buss</a:t>
            </a:r>
            <a:endParaRPr lang="en-US" sz="2200" dirty="0"/>
          </a:p>
        </p:txBody>
      </p:sp>
      <p:sp>
        <p:nvSpPr>
          <p:cNvPr id="14" name="Text 12"/>
          <p:cNvSpPr/>
          <p:nvPr/>
        </p:nvSpPr>
        <p:spPr>
          <a:xfrm>
            <a:off x="4846320" y="3749040"/>
            <a:ext cx="3108960" cy="246888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5C6B73"/>
                </a:solidFill>
                <a:latin typeface="Calibri" pitchFamily="34" charset="0"/>
                <a:ea typeface="Calibri" pitchFamily="34" charset="-122"/>
                <a:cs typeface="Calibri" pitchFamily="34" charset="-120"/>
              </a:rPr>
              <a:t>Er bil tar 5, två andra tar tåg eller buss</a:t>
            </a:r>
            <a:endParaRPr lang="en-US" sz="1100" dirty="0"/>
          </a:p>
          <a:p>
            <a:pPr marL="342900" indent="-342900">
              <a:spcAft>
                <a:spcPts val="600"/>
              </a:spcAft>
              <a:buSzPct val="100000"/>
              <a:buChar char="•"/>
            </a:pPr>
            <a:r>
              <a:rPr lang="en-US" sz="1100" dirty="0">
                <a:solidFill>
                  <a:srgbClr val="5C6B73"/>
                </a:solidFill>
                <a:latin typeface="Calibri" pitchFamily="34" charset="0"/>
                <a:ea typeface="Calibri" pitchFamily="34" charset="-122"/>
                <a:cs typeface="Calibri" pitchFamily="34" charset="-120"/>
              </a:rPr>
              <a:t>Bra om grupperna ändå har olika tempo</a:t>
            </a:r>
            <a:endParaRPr lang="en-US" sz="1100" dirty="0"/>
          </a:p>
          <a:p>
            <a:pPr marL="342900" indent="-342900">
              <a:spcAft>
                <a:spcPts val="600"/>
              </a:spcAft>
              <a:buSzPct val="100000"/>
              <a:buChar char="•"/>
            </a:pPr>
            <a:r>
              <a:rPr lang="en-US" sz="1100" dirty="0">
                <a:solidFill>
                  <a:srgbClr val="5C6B73"/>
                </a:solidFill>
                <a:latin typeface="Calibri" pitchFamily="34" charset="0"/>
                <a:ea typeface="Calibri" pitchFamily="34" charset="-122"/>
                <a:cs typeface="Calibri" pitchFamily="34" charset="-120"/>
              </a:rPr>
              <a:t>William och Leja kan ta egen rutt</a:t>
            </a:r>
            <a:endParaRPr lang="en-US" sz="1100" dirty="0"/>
          </a:p>
          <a:p>
            <a:pPr marL="342900" indent="-342900">
              <a:spcAft>
                <a:spcPts val="600"/>
              </a:spcAft>
              <a:buSzPct val="100000"/>
              <a:buChar char="•"/>
            </a:pPr>
            <a:r>
              <a:rPr lang="en-US" sz="1100" dirty="0">
                <a:solidFill>
                  <a:srgbClr val="5C6B73"/>
                </a:solidFill>
                <a:latin typeface="Calibri" pitchFamily="34" charset="0"/>
                <a:ea typeface="Calibri" pitchFamily="34" charset="-122"/>
                <a:cs typeface="Calibri" pitchFamily="34" charset="-120"/>
              </a:rPr>
              <a:t>Alla möts på plats vid en bokad lunch</a:t>
            </a:r>
            <a:endParaRPr lang="en-US" sz="1100" dirty="0"/>
          </a:p>
          <a:p>
            <a:pPr marL="342900" indent="-342900">
              <a:spcAft>
                <a:spcPts val="600"/>
              </a:spcAft>
              <a:buSzPct val="100000"/>
              <a:buChar char="•"/>
            </a:pPr>
            <a:r>
              <a:rPr lang="en-US" sz="1100" dirty="0">
                <a:solidFill>
                  <a:srgbClr val="5C6B73"/>
                </a:solidFill>
                <a:latin typeface="Calibri" pitchFamily="34" charset="0"/>
                <a:ea typeface="Calibri" pitchFamily="34" charset="-122"/>
                <a:cs typeface="Calibri" pitchFamily="34" charset="-120"/>
              </a:rPr>
              <a:t>Bäst för: Saint-Guilhem (buss 668)</a:t>
            </a:r>
            <a:endParaRPr lang="en-US" sz="1100" dirty="0"/>
          </a:p>
        </p:txBody>
      </p:sp>
      <p:sp>
        <p:nvSpPr>
          <p:cNvPr id="15" name="Shape 13"/>
          <p:cNvSpPr/>
          <p:nvPr/>
        </p:nvSpPr>
        <p:spPr>
          <a:xfrm>
            <a:off x="8321040" y="2377440"/>
            <a:ext cx="3657600" cy="4023360"/>
          </a:xfrm>
          <a:prstGeom prst="rect">
            <a:avLst/>
          </a:prstGeom>
          <a:solidFill>
            <a:srgbClr val="FFFFFF"/>
          </a:solidFill>
          <a:ln w="12700">
            <a:solidFill>
              <a:srgbClr val="E8DFD0"/>
            </a:solidFill>
            <a:prstDash val="solid"/>
          </a:ln>
        </p:spPr>
      </p:sp>
      <p:sp>
        <p:nvSpPr>
          <p:cNvPr id="16" name="Shape 14"/>
          <p:cNvSpPr/>
          <p:nvPr/>
        </p:nvSpPr>
        <p:spPr>
          <a:xfrm>
            <a:off x="8321040" y="2377440"/>
            <a:ext cx="91440" cy="4023360"/>
          </a:xfrm>
          <a:prstGeom prst="rect">
            <a:avLst/>
          </a:prstGeom>
          <a:solidFill>
            <a:srgbClr val="2E7793"/>
          </a:solidFill>
          <a:ln w="12700">
            <a:solidFill>
              <a:srgbClr val="2E7793"/>
            </a:solidFill>
            <a:prstDash val="solid"/>
          </a:ln>
        </p:spPr>
      </p:sp>
      <p:sp>
        <p:nvSpPr>
          <p:cNvPr id="17" name="Text 15"/>
          <p:cNvSpPr/>
          <p:nvPr/>
        </p:nvSpPr>
        <p:spPr>
          <a:xfrm>
            <a:off x="8686800" y="2651760"/>
            <a:ext cx="3108960" cy="274320"/>
          </a:xfrm>
          <a:prstGeom prst="rect">
            <a:avLst/>
          </a:prstGeom>
          <a:noFill/>
          <a:ln/>
        </p:spPr>
        <p:txBody>
          <a:bodyPr wrap="square" lIns="0" tIns="0" rIns="0" bIns="0" rtlCol="0" anchor="ctr"/>
          <a:lstStyle/>
          <a:p>
            <a:pPr indent="0" marL="0">
              <a:buNone/>
            </a:pPr>
            <a:r>
              <a:rPr lang="en-US" sz="1000" b="1" spc="300" kern="0" dirty="0">
                <a:solidFill>
                  <a:srgbClr val="2E7793"/>
                </a:solidFill>
                <a:latin typeface="Calibri" pitchFamily="34" charset="0"/>
                <a:ea typeface="Calibri" pitchFamily="34" charset="-122"/>
                <a:cs typeface="Calibri" pitchFamily="34" charset="-120"/>
              </a:rPr>
              <a:t>Inga bilar alls</a:t>
            </a:r>
            <a:endParaRPr lang="en-US" sz="1000" dirty="0"/>
          </a:p>
        </p:txBody>
      </p:sp>
      <p:sp>
        <p:nvSpPr>
          <p:cNvPr id="18" name="Text 16"/>
          <p:cNvSpPr/>
          <p:nvPr/>
        </p:nvSpPr>
        <p:spPr>
          <a:xfrm>
            <a:off x="8686800" y="2926080"/>
            <a:ext cx="3108960" cy="640080"/>
          </a:xfrm>
          <a:prstGeom prst="rect">
            <a:avLst/>
          </a:prstGeom>
          <a:noFill/>
          <a:ln/>
        </p:spPr>
        <p:txBody>
          <a:bodyPr wrap="square" lIns="0" tIns="0" rIns="0" bIns="0" rtlCol="0" anchor="ctr"/>
          <a:lstStyle/>
          <a:p>
            <a:pPr indent="0" marL="0">
              <a:buNone/>
            </a:pPr>
            <a:r>
              <a:rPr lang="en-US" sz="2200" b="1" dirty="0">
                <a:solidFill>
                  <a:srgbClr val="1A2E3B"/>
                </a:solidFill>
                <a:latin typeface="Georgia" pitchFamily="34" charset="0"/>
                <a:ea typeface="Georgia" pitchFamily="34" charset="-122"/>
                <a:cs typeface="Georgia" pitchFamily="34" charset="-120"/>
              </a:rPr>
              <a:t>Bara tåg</a:t>
            </a:r>
            <a:endParaRPr lang="en-US" sz="2200" dirty="0"/>
          </a:p>
        </p:txBody>
      </p:sp>
      <p:sp>
        <p:nvSpPr>
          <p:cNvPr id="19" name="Text 17"/>
          <p:cNvSpPr/>
          <p:nvPr/>
        </p:nvSpPr>
        <p:spPr>
          <a:xfrm>
            <a:off x="8686800" y="3749040"/>
            <a:ext cx="3108960" cy="246888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5C6B73"/>
                </a:solidFill>
                <a:latin typeface="Calibri" pitchFamily="34" charset="0"/>
                <a:ea typeface="Calibri" pitchFamily="34" charset="-122"/>
                <a:cs typeface="Calibri" pitchFamily="34" charset="-120"/>
              </a:rPr>
              <a:t>TER-tåg från Saint-Roch, alla i samma vagn</a:t>
            </a:r>
            <a:endParaRPr lang="en-US" sz="1100" dirty="0"/>
          </a:p>
          <a:p>
            <a:pPr marL="342900" indent="-342900">
              <a:spcAft>
                <a:spcPts val="600"/>
              </a:spcAft>
              <a:buSzPct val="100000"/>
              <a:buChar char="•"/>
            </a:pPr>
            <a:r>
              <a:rPr lang="en-US" sz="1100" dirty="0">
                <a:solidFill>
                  <a:srgbClr val="5C6B73"/>
                </a:solidFill>
                <a:latin typeface="Calibri" pitchFamily="34" charset="0"/>
                <a:ea typeface="Calibri" pitchFamily="34" charset="-122"/>
                <a:cs typeface="Calibri" pitchFamily="34" charset="-120"/>
              </a:rPr>
              <a:t>Stress fri, ingen parkering, ingen kö</a:t>
            </a:r>
            <a:endParaRPr lang="en-US" sz="1100" dirty="0"/>
          </a:p>
          <a:p>
            <a:pPr marL="342900" indent="-342900">
              <a:spcAft>
                <a:spcPts val="600"/>
              </a:spcAft>
              <a:buSzPct val="100000"/>
              <a:buChar char="•"/>
            </a:pPr>
            <a:r>
              <a:rPr lang="en-US" sz="1100" dirty="0">
                <a:solidFill>
                  <a:srgbClr val="5C6B73"/>
                </a:solidFill>
                <a:latin typeface="Calibri" pitchFamily="34" charset="0"/>
                <a:ea typeface="Calibri" pitchFamily="34" charset="-122"/>
                <a:cs typeface="Calibri" pitchFamily="34" charset="-120"/>
              </a:rPr>
              <a:t>20 min till Sète, varje halvtimme</a:t>
            </a:r>
            <a:endParaRPr lang="en-US" sz="1100" dirty="0"/>
          </a:p>
          <a:p>
            <a:pPr marL="342900" indent="-342900">
              <a:spcAft>
                <a:spcPts val="600"/>
              </a:spcAft>
              <a:buSzPct val="100000"/>
              <a:buChar char="•"/>
            </a:pPr>
            <a:r>
              <a:rPr lang="en-US" sz="1100" dirty="0">
                <a:solidFill>
                  <a:srgbClr val="5C6B73"/>
                </a:solidFill>
                <a:latin typeface="Calibri" pitchFamily="34" charset="0"/>
                <a:ea typeface="Calibri" pitchFamily="34" charset="-122"/>
                <a:cs typeface="Calibri" pitchFamily="34" charset="-120"/>
              </a:rPr>
              <a:t>Tur och retur ca 12 € per person</a:t>
            </a:r>
            <a:endParaRPr lang="en-US" sz="1100" dirty="0"/>
          </a:p>
          <a:p>
            <a:pPr marL="342900" indent="-342900">
              <a:spcAft>
                <a:spcPts val="600"/>
              </a:spcAft>
              <a:buSzPct val="100000"/>
              <a:buChar char="•"/>
            </a:pPr>
            <a:r>
              <a:rPr lang="en-US" sz="1100" dirty="0">
                <a:solidFill>
                  <a:srgbClr val="5C6B73"/>
                </a:solidFill>
                <a:latin typeface="Calibri" pitchFamily="34" charset="0"/>
                <a:ea typeface="Calibri" pitchFamily="34" charset="-122"/>
                <a:cs typeface="Calibri" pitchFamily="34" charset="-120"/>
              </a:rPr>
              <a:t>Bäst för: Sète specifikt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2E3B"/>
        </a:solidFill>
      </p:bgPr>
    </p:bg>
    <p:spTree>
      <p:nvGrpSpPr>
        <p:cNvPr id="1" name=""/>
        <p:cNvGrpSpPr/>
        <p:nvPr/>
      </p:nvGrpSpPr>
      <p:grpSpPr>
        <a:xfrm>
          <a:off x="0" y="0"/>
          <a:ext cx="0" cy="0"/>
          <a:chOff x="0" y="0"/>
          <a:chExt cx="0" cy="0"/>
        </a:xfrm>
      </p:grpSpPr>
      <p:sp>
        <p:nvSpPr>
          <p:cNvPr id="2" name="Text 0"/>
          <p:cNvSpPr/>
          <p:nvPr/>
        </p:nvSpPr>
        <p:spPr>
          <a:xfrm>
            <a:off x="640080" y="457200"/>
            <a:ext cx="10972800" cy="365760"/>
          </a:xfrm>
          <a:prstGeom prst="rect">
            <a:avLst/>
          </a:prstGeom>
          <a:noFill/>
          <a:ln/>
        </p:spPr>
        <p:txBody>
          <a:bodyPr wrap="square" lIns="0" tIns="0" rIns="0" bIns="0" rtlCol="0" anchor="ctr"/>
          <a:lstStyle/>
          <a:p>
            <a:pPr indent="0" marL="0">
              <a:buNone/>
            </a:pPr>
            <a:r>
              <a:rPr lang="en-US" sz="1200" b="1" spc="400" kern="0" dirty="0">
                <a:solidFill>
                  <a:srgbClr val="D4A23A"/>
                </a:solidFill>
                <a:latin typeface="Calibri" pitchFamily="34" charset="0"/>
                <a:ea typeface="Calibri" pitchFamily="34" charset="-122"/>
                <a:cs typeface="Calibri" pitchFamily="34" charset="-120"/>
              </a:rPr>
              <a:t>CHECKLISTA</a:t>
            </a:r>
            <a:endParaRPr lang="en-US" sz="1200" dirty="0"/>
          </a:p>
        </p:txBody>
      </p:sp>
      <p:sp>
        <p:nvSpPr>
          <p:cNvPr id="3" name="Text 1"/>
          <p:cNvSpPr/>
          <p:nvPr/>
        </p:nvSpPr>
        <p:spPr>
          <a:xfrm>
            <a:off x="640080" y="822960"/>
            <a:ext cx="10972800" cy="91440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Veckan innan</a:t>
            </a:r>
            <a:endParaRPr lang="en-US" sz="4400" dirty="0"/>
          </a:p>
        </p:txBody>
      </p:sp>
      <p:sp>
        <p:nvSpPr>
          <p:cNvPr id="4" name="Shape 2"/>
          <p:cNvSpPr/>
          <p:nvPr/>
        </p:nvSpPr>
        <p:spPr>
          <a:xfrm>
            <a:off x="640080" y="2103120"/>
            <a:ext cx="2743200" cy="4297680"/>
          </a:xfrm>
          <a:prstGeom prst="rect">
            <a:avLst/>
          </a:prstGeom>
          <a:solidFill>
            <a:srgbClr val="2A4150"/>
          </a:solidFill>
          <a:ln w="12700">
            <a:solidFill>
              <a:srgbClr val="2A4150"/>
            </a:solidFill>
            <a:prstDash val="solid"/>
          </a:ln>
        </p:spPr>
      </p:sp>
      <p:sp>
        <p:nvSpPr>
          <p:cNvPr id="5" name="Text 3"/>
          <p:cNvSpPr/>
          <p:nvPr/>
        </p:nvSpPr>
        <p:spPr>
          <a:xfrm>
            <a:off x="822960" y="2377440"/>
            <a:ext cx="2377440" cy="365760"/>
          </a:xfrm>
          <a:prstGeom prst="rect">
            <a:avLst/>
          </a:prstGeom>
          <a:noFill/>
          <a:ln/>
        </p:spPr>
        <p:txBody>
          <a:bodyPr wrap="square" lIns="0" tIns="0" rIns="0" bIns="0" rtlCol="0" anchor="ctr"/>
          <a:lstStyle/>
          <a:p>
            <a:pPr indent="0" marL="0">
              <a:buNone/>
            </a:pPr>
            <a:r>
              <a:rPr lang="en-US" sz="1200" b="1" spc="300" kern="0" dirty="0">
                <a:solidFill>
                  <a:srgbClr val="C4738A"/>
                </a:solidFill>
                <a:latin typeface="Calibri" pitchFamily="34" charset="0"/>
                <a:ea typeface="Calibri" pitchFamily="34" charset="-122"/>
                <a:cs typeface="Calibri" pitchFamily="34" charset="-120"/>
              </a:rPr>
              <a:t>MÅNDAG-ONSDAG</a:t>
            </a:r>
            <a:endParaRPr lang="en-US" sz="1200" dirty="0"/>
          </a:p>
        </p:txBody>
      </p:sp>
      <p:sp>
        <p:nvSpPr>
          <p:cNvPr id="6" name="Text 4"/>
          <p:cNvSpPr/>
          <p:nvPr/>
        </p:nvSpPr>
        <p:spPr>
          <a:xfrm>
            <a:off x="822960" y="2880360"/>
            <a:ext cx="2377440" cy="338328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Bestäm utflykt med familjen</a:t>
            </a:r>
            <a:endParaRPr lang="en-US" sz="1100" dirty="0"/>
          </a:p>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Boka hyrbil eller guidad tur</a:t>
            </a:r>
            <a:endParaRPr lang="en-US" sz="1100" dirty="0"/>
          </a:p>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Boka bord på lunchrestaurangen</a:t>
            </a:r>
            <a:endParaRPr lang="en-US" sz="1100" dirty="0"/>
          </a:p>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Beställ vacherin från bakelsebutik</a:t>
            </a:r>
            <a:endParaRPr lang="en-US" sz="1100" dirty="0"/>
          </a:p>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Ta fram presentidéer</a:t>
            </a:r>
            <a:endParaRPr lang="en-US" sz="1100" dirty="0"/>
          </a:p>
        </p:txBody>
      </p:sp>
      <p:sp>
        <p:nvSpPr>
          <p:cNvPr id="7" name="Shape 5"/>
          <p:cNvSpPr/>
          <p:nvPr/>
        </p:nvSpPr>
        <p:spPr>
          <a:xfrm>
            <a:off x="3520440" y="2103120"/>
            <a:ext cx="2743200" cy="4297680"/>
          </a:xfrm>
          <a:prstGeom prst="rect">
            <a:avLst/>
          </a:prstGeom>
          <a:solidFill>
            <a:srgbClr val="2A4150"/>
          </a:solidFill>
          <a:ln w="12700">
            <a:solidFill>
              <a:srgbClr val="2A4150"/>
            </a:solidFill>
            <a:prstDash val="solid"/>
          </a:ln>
        </p:spPr>
      </p:sp>
      <p:sp>
        <p:nvSpPr>
          <p:cNvPr id="8" name="Text 6"/>
          <p:cNvSpPr/>
          <p:nvPr/>
        </p:nvSpPr>
        <p:spPr>
          <a:xfrm>
            <a:off x="3703320" y="2377440"/>
            <a:ext cx="2377440" cy="365760"/>
          </a:xfrm>
          <a:prstGeom prst="rect">
            <a:avLst/>
          </a:prstGeom>
          <a:noFill/>
          <a:ln/>
        </p:spPr>
        <p:txBody>
          <a:bodyPr wrap="square" lIns="0" tIns="0" rIns="0" bIns="0" rtlCol="0" anchor="ctr"/>
          <a:lstStyle/>
          <a:p>
            <a:pPr indent="0" marL="0">
              <a:buNone/>
            </a:pPr>
            <a:r>
              <a:rPr lang="en-US" sz="1200" b="1" spc="300" kern="0" dirty="0">
                <a:solidFill>
                  <a:srgbClr val="7A9471"/>
                </a:solidFill>
                <a:latin typeface="Calibri" pitchFamily="34" charset="0"/>
                <a:ea typeface="Calibri" pitchFamily="34" charset="-122"/>
                <a:cs typeface="Calibri" pitchFamily="34" charset="-120"/>
              </a:rPr>
              <a:t>TORSDAG-FREDAG</a:t>
            </a:r>
            <a:endParaRPr lang="en-US" sz="1200" dirty="0"/>
          </a:p>
        </p:txBody>
      </p:sp>
      <p:sp>
        <p:nvSpPr>
          <p:cNvPr id="9" name="Text 7"/>
          <p:cNvSpPr/>
          <p:nvPr/>
        </p:nvSpPr>
        <p:spPr>
          <a:xfrm>
            <a:off x="3703320" y="2880360"/>
            <a:ext cx="2377440" cy="338328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Köp lammbog och kryddor</a:t>
            </a:r>
            <a:endParaRPr lang="en-US" sz="1100" dirty="0"/>
          </a:p>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Köp grönsaker till ratatouille</a:t>
            </a:r>
            <a:endParaRPr lang="en-US" sz="1100" dirty="0"/>
          </a:p>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Beställ blommor</a:t>
            </a:r>
            <a:endParaRPr lang="en-US" sz="1100" dirty="0"/>
          </a:p>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Skriv födelsedagskort hemligt</a:t>
            </a:r>
            <a:endParaRPr lang="en-US" sz="1100" dirty="0"/>
          </a:p>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Fixa playlist till middagen</a:t>
            </a:r>
            <a:endParaRPr lang="en-US" sz="1100" dirty="0"/>
          </a:p>
        </p:txBody>
      </p:sp>
      <p:sp>
        <p:nvSpPr>
          <p:cNvPr id="10" name="Shape 8"/>
          <p:cNvSpPr/>
          <p:nvPr/>
        </p:nvSpPr>
        <p:spPr>
          <a:xfrm>
            <a:off x="6400800" y="2103120"/>
            <a:ext cx="2743200" cy="4297680"/>
          </a:xfrm>
          <a:prstGeom prst="rect">
            <a:avLst/>
          </a:prstGeom>
          <a:solidFill>
            <a:srgbClr val="2A4150"/>
          </a:solidFill>
          <a:ln w="12700">
            <a:solidFill>
              <a:srgbClr val="2A4150"/>
            </a:solidFill>
            <a:prstDash val="solid"/>
          </a:ln>
        </p:spPr>
      </p:sp>
      <p:sp>
        <p:nvSpPr>
          <p:cNvPr id="11" name="Text 9"/>
          <p:cNvSpPr/>
          <p:nvPr/>
        </p:nvSpPr>
        <p:spPr>
          <a:xfrm>
            <a:off x="6583680" y="2377440"/>
            <a:ext cx="2377440" cy="365760"/>
          </a:xfrm>
          <a:prstGeom prst="rect">
            <a:avLst/>
          </a:prstGeom>
          <a:noFill/>
          <a:ln/>
        </p:spPr>
        <p:txBody>
          <a:bodyPr wrap="square" lIns="0" tIns="0" rIns="0" bIns="0" rtlCol="0" anchor="ctr"/>
          <a:lstStyle/>
          <a:p>
            <a:pPr indent="0" marL="0">
              <a:buNone/>
            </a:pPr>
            <a:r>
              <a:rPr lang="en-US" sz="1200" b="1" spc="300" kern="0" dirty="0">
                <a:solidFill>
                  <a:srgbClr val="D4A23A"/>
                </a:solidFill>
                <a:latin typeface="Calibri" pitchFamily="34" charset="0"/>
                <a:ea typeface="Calibri" pitchFamily="34" charset="-122"/>
                <a:cs typeface="Calibri" pitchFamily="34" charset="-120"/>
              </a:rPr>
              <a:t>LÖRDAG 11 JULI</a:t>
            </a:r>
            <a:endParaRPr lang="en-US" sz="1200" dirty="0"/>
          </a:p>
        </p:txBody>
      </p:sp>
      <p:sp>
        <p:nvSpPr>
          <p:cNvPr id="12" name="Text 10"/>
          <p:cNvSpPr/>
          <p:nvPr/>
        </p:nvSpPr>
        <p:spPr>
          <a:xfrm>
            <a:off x="6583680" y="2880360"/>
            <a:ext cx="2377440" cy="338328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Köp croissanter och pain au chocolat (ute kvällen)</a:t>
            </a:r>
            <a:endParaRPr lang="en-US" sz="1100" dirty="0"/>
          </a:p>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Köp kaviar, lax, ost, frukt</a:t>
            </a:r>
            <a:endParaRPr lang="en-US" sz="1100" dirty="0"/>
          </a:p>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Krydda lammet, marinera</a:t>
            </a:r>
            <a:endParaRPr lang="en-US" sz="1100" dirty="0"/>
          </a:p>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Gör ratatouille</a:t>
            </a:r>
            <a:endParaRPr lang="en-US" sz="1100" dirty="0"/>
          </a:p>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Frys vacherin</a:t>
            </a:r>
            <a:endParaRPr lang="en-US" sz="1100" dirty="0"/>
          </a:p>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Plocka fram alla presenter</a:t>
            </a:r>
            <a:endParaRPr lang="en-US" sz="1100" dirty="0"/>
          </a:p>
        </p:txBody>
      </p:sp>
      <p:sp>
        <p:nvSpPr>
          <p:cNvPr id="13" name="Shape 11"/>
          <p:cNvSpPr/>
          <p:nvPr/>
        </p:nvSpPr>
        <p:spPr>
          <a:xfrm>
            <a:off x="9281160" y="2103120"/>
            <a:ext cx="2743200" cy="4297680"/>
          </a:xfrm>
          <a:prstGeom prst="rect">
            <a:avLst/>
          </a:prstGeom>
          <a:solidFill>
            <a:srgbClr val="2A4150"/>
          </a:solidFill>
          <a:ln w="12700">
            <a:solidFill>
              <a:srgbClr val="2A4150"/>
            </a:solidFill>
            <a:prstDash val="solid"/>
          </a:ln>
        </p:spPr>
      </p:sp>
      <p:sp>
        <p:nvSpPr>
          <p:cNvPr id="14" name="Text 12"/>
          <p:cNvSpPr/>
          <p:nvPr/>
        </p:nvSpPr>
        <p:spPr>
          <a:xfrm>
            <a:off x="9464040" y="2377440"/>
            <a:ext cx="2377440" cy="365760"/>
          </a:xfrm>
          <a:prstGeom prst="rect">
            <a:avLst/>
          </a:prstGeom>
          <a:noFill/>
          <a:ln/>
        </p:spPr>
        <p:txBody>
          <a:bodyPr wrap="square" lIns="0" tIns="0" rIns="0" bIns="0" rtlCol="0" anchor="ctr"/>
          <a:lstStyle/>
          <a:p>
            <a:pPr indent="0" marL="0">
              <a:buNone/>
            </a:pPr>
            <a:r>
              <a:rPr lang="en-US" sz="1200" b="1" spc="300" kern="0" dirty="0">
                <a:solidFill>
                  <a:srgbClr val="C26B4D"/>
                </a:solidFill>
                <a:latin typeface="Calibri" pitchFamily="34" charset="0"/>
                <a:ea typeface="Calibri" pitchFamily="34" charset="-122"/>
                <a:cs typeface="Calibri" pitchFamily="34" charset="-120"/>
              </a:rPr>
              <a:t>SÖNDAG MORGON</a:t>
            </a:r>
            <a:endParaRPr lang="en-US" sz="1200" dirty="0"/>
          </a:p>
        </p:txBody>
      </p:sp>
      <p:sp>
        <p:nvSpPr>
          <p:cNvPr id="15" name="Text 13"/>
          <p:cNvSpPr/>
          <p:nvPr/>
        </p:nvSpPr>
        <p:spPr>
          <a:xfrm>
            <a:off x="9464040" y="2880360"/>
            <a:ext cx="2377440" cy="338328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08.00 Plocka brickan tyst</a:t>
            </a:r>
            <a:endParaRPr lang="en-US" sz="1100" dirty="0"/>
          </a:p>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08.30 Sjung och servera</a:t>
            </a:r>
            <a:endParaRPr lang="en-US" sz="1100" dirty="0"/>
          </a:p>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10.00 Sätt på lammet i ugnen</a:t>
            </a:r>
            <a:endParaRPr lang="en-US" sz="1100" dirty="0"/>
          </a:p>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10.30 Avgång till utflykt</a:t>
            </a:r>
            <a:endParaRPr lang="en-US" sz="1100" dirty="0"/>
          </a:p>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19.00 Hemma och dukar</a:t>
            </a:r>
            <a:endParaRPr lang="en-US" sz="1100" dirty="0"/>
          </a:p>
          <a:p>
            <a:pPr marL="342900" indent="-342900">
              <a:spcAft>
                <a:spcPts val="600"/>
              </a:spcAft>
              <a:buSzPct val="100000"/>
              <a:buChar char="•"/>
            </a:pPr>
            <a:r>
              <a:rPr lang="en-US" sz="1100" dirty="0">
                <a:solidFill>
                  <a:srgbClr val="E8DFD0"/>
                </a:solidFill>
                <a:latin typeface="Calibri" pitchFamily="34" charset="0"/>
                <a:ea typeface="Calibri" pitchFamily="34" charset="-122"/>
                <a:cs typeface="Calibri" pitchFamily="34" charset="-120"/>
              </a:rPr>
              <a:t>19.30 Middag</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6D2E46"/>
        </a:solidFill>
      </p:bgPr>
    </p:bg>
    <p:spTree>
      <p:nvGrpSpPr>
        <p:cNvPr id="1" name=""/>
        <p:cNvGrpSpPr/>
        <p:nvPr/>
      </p:nvGrpSpPr>
      <p:grpSpPr>
        <a:xfrm>
          <a:off x="0" y="0"/>
          <a:ext cx="0" cy="0"/>
          <a:chOff x="0" y="0"/>
          <a:chExt cx="0" cy="0"/>
        </a:xfrm>
      </p:grpSpPr>
      <p:sp>
        <p:nvSpPr>
          <p:cNvPr id="2" name="Text 0"/>
          <p:cNvSpPr/>
          <p:nvPr/>
        </p:nvSpPr>
        <p:spPr>
          <a:xfrm>
            <a:off x="640080" y="640080"/>
            <a:ext cx="10972800" cy="548640"/>
          </a:xfrm>
          <a:prstGeom prst="rect">
            <a:avLst/>
          </a:prstGeom>
          <a:noFill/>
          <a:ln/>
        </p:spPr>
        <p:txBody>
          <a:bodyPr wrap="square" lIns="0" tIns="0" rIns="0" bIns="0" rtlCol="0" anchor="ctr"/>
          <a:lstStyle/>
          <a:p>
            <a:pPr indent="0" marL="0">
              <a:buNone/>
            </a:pPr>
            <a:r>
              <a:rPr lang="en-US" sz="2200" i="1" spc="400" kern="0" dirty="0">
                <a:solidFill>
                  <a:srgbClr val="FBF7F0"/>
                </a:solidFill>
                <a:latin typeface="Georgia" pitchFamily="34" charset="0"/>
                <a:ea typeface="Georgia" pitchFamily="34" charset="-122"/>
                <a:cs typeface="Georgia" pitchFamily="34" charset="-120"/>
              </a:rPr>
              <a:t>Bottom line</a:t>
            </a:r>
            <a:endParaRPr lang="en-US" sz="2200" dirty="0"/>
          </a:p>
        </p:txBody>
      </p:sp>
      <p:sp>
        <p:nvSpPr>
          <p:cNvPr id="3" name="Text 1"/>
          <p:cNvSpPr/>
          <p:nvPr/>
        </p:nvSpPr>
        <p:spPr>
          <a:xfrm>
            <a:off x="640080" y="1280160"/>
            <a:ext cx="10972800" cy="137160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Mix and match</a:t>
            </a:r>
            <a:endParaRPr lang="en-US" sz="5600" dirty="0"/>
          </a:p>
        </p:txBody>
      </p:sp>
      <p:sp>
        <p:nvSpPr>
          <p:cNvPr id="4" name="Text 2"/>
          <p:cNvSpPr/>
          <p:nvPr/>
        </p:nvSpPr>
        <p:spPr>
          <a:xfrm>
            <a:off x="640080" y="2743200"/>
            <a:ext cx="10972800" cy="1371600"/>
          </a:xfrm>
          <a:prstGeom prst="rect">
            <a:avLst/>
          </a:prstGeom>
          <a:noFill/>
          <a:ln/>
        </p:spPr>
        <p:txBody>
          <a:bodyPr wrap="square" lIns="0" tIns="0" rIns="0" bIns="0" rtlCol="0" anchor="ctr"/>
          <a:lstStyle/>
          <a:p>
            <a:pPr indent="0" marL="0">
              <a:spcAft>
                <a:spcPts val="600"/>
              </a:spcAft>
              <a:buNone/>
            </a:pPr>
            <a:r>
              <a:rPr lang="en-US" sz="1800" b="1" dirty="0">
                <a:solidFill>
                  <a:srgbClr val="FFFFFF"/>
                </a:solidFill>
                <a:latin typeface="Calibri" pitchFamily="34" charset="0"/>
                <a:ea typeface="Calibri" pitchFamily="34" charset="-122"/>
                <a:cs typeface="Calibri" pitchFamily="34" charset="-120"/>
              </a:rPr>
              <a:t>Frukosten är samma oavsett utflykt.</a:t>
            </a:r>
            <a:endParaRPr lang="en-US" sz="1800" dirty="0"/>
          </a:p>
          <a:p>
            <a:pPr indent="0" marL="0">
              <a:spcAft>
                <a:spcPts val="600"/>
              </a:spcAft>
              <a:buNone/>
            </a:pPr>
            <a:r>
              <a:rPr lang="en-US" sz="1800" b="1" dirty="0">
                <a:solidFill>
                  <a:srgbClr val="FFFFFF"/>
                </a:solidFill>
                <a:latin typeface="Calibri" pitchFamily="34" charset="0"/>
                <a:ea typeface="Calibri" pitchFamily="34" charset="-122"/>
                <a:cs typeface="Calibri" pitchFamily="34" charset="-120"/>
              </a:rPr>
              <a:t>Middagen är samma oavsett utflykt.</a:t>
            </a:r>
            <a:endParaRPr lang="en-US" sz="1800" dirty="0"/>
          </a:p>
          <a:p>
            <a:pPr indent="0" marL="0">
              <a:spcAft>
                <a:spcPts val="600"/>
              </a:spcAft>
              <a:buNone/>
            </a:pPr>
            <a:r>
              <a:rPr lang="en-US" sz="1800" i="1" dirty="0">
                <a:solidFill>
                  <a:srgbClr val="FFFFFF"/>
                </a:solidFill>
                <a:latin typeface="Calibri" pitchFamily="34" charset="0"/>
                <a:ea typeface="Calibri" pitchFamily="34" charset="-122"/>
                <a:cs typeface="Calibri" pitchFamily="34" charset="-120"/>
              </a:rPr>
              <a:t>Bara dagsutflykten är där ni väljer.</a:t>
            </a:r>
            <a:endParaRPr lang="en-US" sz="1800" dirty="0"/>
          </a:p>
        </p:txBody>
      </p:sp>
      <p:sp>
        <p:nvSpPr>
          <p:cNvPr id="5" name="Shape 3"/>
          <p:cNvSpPr/>
          <p:nvPr/>
        </p:nvSpPr>
        <p:spPr>
          <a:xfrm>
            <a:off x="640080" y="4297680"/>
            <a:ext cx="4572000" cy="45720"/>
          </a:xfrm>
          <a:prstGeom prst="rect">
            <a:avLst/>
          </a:prstGeom>
          <a:solidFill>
            <a:srgbClr val="FFFFFF"/>
          </a:solidFill>
          <a:ln w="12700">
            <a:solidFill>
              <a:srgbClr val="FFFFFF"/>
            </a:solidFill>
            <a:prstDash val="solid"/>
          </a:ln>
        </p:spPr>
      </p:sp>
      <p:sp>
        <p:nvSpPr>
          <p:cNvPr id="6" name="Text 4"/>
          <p:cNvSpPr/>
          <p:nvPr/>
        </p:nvSpPr>
        <p:spPr>
          <a:xfrm>
            <a:off x="640080" y="4480560"/>
            <a:ext cx="10058400" cy="1645920"/>
          </a:xfrm>
          <a:prstGeom prst="rect">
            <a:avLst/>
          </a:prstGeom>
          <a:noFill/>
          <a:ln/>
        </p:spPr>
        <p:txBody>
          <a:bodyPr wrap="square" lIns="0" tIns="0" rIns="0" bIns="0" rtlCol="0" anchor="ctr"/>
          <a:lstStyle/>
          <a:p>
            <a:pPr indent="0" marL="0">
              <a:spcAft>
                <a:spcPts val="600"/>
              </a:spcAft>
              <a:buNone/>
            </a:pPr>
            <a:r>
              <a:rPr lang="en-US" sz="1600" b="1" dirty="0">
                <a:solidFill>
                  <a:srgbClr val="FBF7F0"/>
                </a:solidFill>
                <a:latin typeface="Calibri" pitchFamily="34" charset="0"/>
                <a:ea typeface="Calibri" pitchFamily="34" charset="-122"/>
                <a:cs typeface="Calibri" pitchFamily="34" charset="-120"/>
              </a:rPr>
              <a:t>Min rekommendation</a:t>
            </a:r>
            <a:endParaRPr lang="en-US" sz="1600" dirty="0"/>
          </a:p>
          <a:p>
            <a:pPr indent="0" marL="0">
              <a:spcAft>
                <a:spcPts val="600"/>
              </a:spcAft>
              <a:buNone/>
            </a:pPr>
            <a:r>
              <a:rPr lang="en-US" sz="1400" i="1" dirty="0">
                <a:solidFill>
                  <a:srgbClr val="FBF7F0"/>
                </a:solidFill>
                <a:latin typeface="Calibri" pitchFamily="34" charset="0"/>
                <a:ea typeface="Calibri" pitchFamily="34" charset="-122"/>
                <a:cs typeface="Calibri" pitchFamily="34" charset="-120"/>
              </a:rPr>
              <a:t>Saint-Guilhem-le-Désert. Det är det med högst minnesvärde-faktor för en 50-årsdag, kombinerar UNESCO-by, dramatisk flod, lunch under en 100-årig platan, och avslutas hemma med långkokt lamm.</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Elin 50 - Söndag 12 juli</dc:title>
  <dc:subject>PptxGenJS Presentation</dc:subject>
  <dc:creator>Andreas</dc:creator>
  <cp:lastModifiedBy>Andreas</cp:lastModifiedBy>
  <cp:revision>1</cp:revision>
  <dcterms:created xsi:type="dcterms:W3CDTF">2026-05-06T14:45:50Z</dcterms:created>
  <dcterms:modified xsi:type="dcterms:W3CDTF">2026-05-06T14:45:50Z</dcterms:modified>
</cp:coreProperties>
</file>